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Heavy" charset="1" panose="00000A00000000000000"/>
      <p:regular r:id="rId16"/>
    </p:embeddedFont>
    <p:embeddedFont>
      <p:font typeface="Open Sauce Bold" charset="1" panose="00000800000000000000"/>
      <p:regular r:id="rId17"/>
    </p:embeddedFont>
    <p:embeddedFont>
      <p:font typeface="Open Sauce" charset="1" panose="00000500000000000000"/>
      <p:regular r:id="rId18"/>
    </p:embeddedFont>
    <p:embeddedFont>
      <p:font typeface="Open Sauce Italics" charset="1" panose="00000500000000000000"/>
      <p:regular r:id="rId19"/>
    </p:embeddedFont>
    <p:embeddedFont>
      <p:font typeface="Allura" charset="1" panose="02000000000000000000"/>
      <p:regular r:id="rId20"/>
    </p:embeddedFont>
    <p:embeddedFont>
      <p:font typeface="Poppins" charset="1" panose="00000500000000000000"/>
      <p:regular r:id="rId21"/>
    </p:embeddedFont>
    <p:embeddedFont>
      <p:font typeface="Poppins Bold"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1.pn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6.png" Type="http://schemas.openxmlformats.org/officeDocument/2006/relationships/image"/><Relationship Id="rId15" Target="../media/image9.png" Type="http://schemas.openxmlformats.org/officeDocument/2006/relationships/image"/><Relationship Id="rId16" Target="../media/image10.svg" Type="http://schemas.openxmlformats.org/officeDocument/2006/relationships/image"/><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1.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11.png" Type="http://schemas.openxmlformats.org/officeDocument/2006/relationships/image"/><Relationship Id="rId13" Target="https://en.antaranews.com/news/295374/rp1537-tln-used-to-fund-heart-disease-stroke-treatment-costs-govt" TargetMode="External" Type="http://schemas.openxmlformats.org/officeDocument/2006/relationships/hyperlink"/><Relationship Id="rId14" Target="https://pmc.ncbi.nlm.nih.gov/articles/PMC12059770/" TargetMode="External" Type="http://schemas.openxmlformats.org/officeDocument/2006/relationships/hyperlink"/><Relationship Id="rId15" Target="https://www.cnbctv18.com/personal-finance/heart-disease-health-insurance-claims-double-five-years-rising-treatment-costs-19497111.htm" TargetMode="External" Type="http://schemas.openxmlformats.org/officeDocument/2006/relationships/hyperlink"/><Relationship Id="rId16" Target="https://ejurnal.seminar-id.com/index.php/josh/article/download/6390/3443/?utm_source=chatgpt.com" TargetMode="External" Type="http://schemas.openxmlformats.org/officeDocument/2006/relationships/hyperlink"/><Relationship Id="rId17" Target="https://ejurnal.seminar-id.com/index.php/josh/article/download/6390/3443/?utm_source=chatgpt.com" TargetMode="External" Type="http://schemas.openxmlformats.org/officeDocument/2006/relationships/hyperlink"/><Relationship Id="rId2" Target="../media/image27.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1.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33.png" Type="http://schemas.openxmlformats.org/officeDocument/2006/relationships/image"/><Relationship Id="rId14" Target="../media/image34.svg" Type="http://schemas.openxmlformats.org/officeDocument/2006/relationships/image"/><Relationship Id="rId15" Target="../media/image30.png" Type="http://schemas.openxmlformats.org/officeDocument/2006/relationships/image"/><Relationship Id="rId16" Target="../media/image31.svg" Type="http://schemas.openxmlformats.org/officeDocument/2006/relationships/image"/><Relationship Id="rId17" Target="https://www.investopedia.com/articles/economics/09/american-investment-group-aig-bailout.asp" TargetMode="External" Type="http://schemas.openxmlformats.org/officeDocument/2006/relationships/hyperlink"/><Relationship Id="rId18" Target="https://www.kompas.id/baca/english/2024/07/12/en-perusahaan-lebih-hati-hati-jalankan-bisnis-asuransi-kesehatan" TargetMode="External" Type="http://schemas.openxmlformats.org/officeDocument/2006/relationships/hyperlink"/><Relationship Id="rId2" Target="../media/image18.png" Type="http://schemas.openxmlformats.org/officeDocument/2006/relationships/image"/><Relationship Id="rId3" Target="../media/image19.svg" Type="http://schemas.openxmlformats.org/officeDocument/2006/relationships/image"/><Relationship Id="rId4" Target="../media/image1.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3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png" Type="http://schemas.openxmlformats.org/officeDocument/2006/relationships/image"/><Relationship Id="rId15" Target="../media/image45.svg" Type="http://schemas.openxmlformats.org/officeDocument/2006/relationships/image"/><Relationship Id="rId16" Target="../media/image46.png" Type="http://schemas.openxmlformats.org/officeDocument/2006/relationships/image"/><Relationship Id="rId17" Target="../media/image47.svg" Type="http://schemas.openxmlformats.org/officeDocument/2006/relationships/image"/><Relationship Id="rId18" Target="../media/image48.png" Type="http://schemas.openxmlformats.org/officeDocument/2006/relationships/image"/><Relationship Id="rId19" Target="../media/image49.svg" Type="http://schemas.openxmlformats.org/officeDocument/2006/relationships/image"/><Relationship Id="rId2" Target="../media/image35.jpeg" Type="http://schemas.openxmlformats.org/officeDocument/2006/relationships/image"/><Relationship Id="rId20" Target="../media/image50.png" Type="http://schemas.openxmlformats.org/officeDocument/2006/relationships/image"/><Relationship Id="rId21" Target="../media/image51.svg" Type="http://schemas.openxmlformats.org/officeDocument/2006/relationships/image"/><Relationship Id="rId3" Target="../media/image1.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2" Target="../media/image1.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62.jpeg" Type="http://schemas.openxmlformats.org/officeDocument/2006/relationships/image"/><Relationship Id="rId12" Target="../media/VAGp9i6zvDI.mp4" Type="http://schemas.openxmlformats.org/officeDocument/2006/relationships/video"/><Relationship Id="rId13" Target="../media/VAGp9i6zvDI.mp4" Type="http://schemas.microsoft.com/office/2007/relationships/media"/><Relationship Id="rId14" Target="../media/image3.png" Type="http://schemas.openxmlformats.org/officeDocument/2006/relationships/image"/><Relationship Id="rId15" Target="../media/image4.svg" Type="http://schemas.openxmlformats.org/officeDocument/2006/relationships/image"/><Relationship Id="rId16" Target="http://10.73.14.192:8501" TargetMode="External" Type="http://schemas.openxmlformats.org/officeDocument/2006/relationships/hyperlink"/><Relationship Id="rId2" Target="../media/image1.pn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35.jpe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63.jpe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7210" y="7536833"/>
            <a:ext cx="7158598" cy="1163272"/>
          </a:xfrm>
          <a:custGeom>
            <a:avLst/>
            <a:gdLst/>
            <a:ahLst/>
            <a:cxnLst/>
            <a:rect r="r" b="b" t="t" l="l"/>
            <a:pathLst>
              <a:path h="1163272" w="7158598">
                <a:moveTo>
                  <a:pt x="0" y="0"/>
                </a:moveTo>
                <a:lnTo>
                  <a:pt x="7158598" y="0"/>
                </a:lnTo>
                <a:lnTo>
                  <a:pt x="7158598" y="1163272"/>
                </a:lnTo>
                <a:lnTo>
                  <a:pt x="0" y="1163272"/>
                </a:lnTo>
                <a:lnTo>
                  <a:pt x="0" y="0"/>
                </a:lnTo>
                <a:close/>
              </a:path>
            </a:pathLst>
          </a:custGeom>
          <a:blipFill>
            <a:blip r:embed="rId2">
              <a:alphaModFix amt="71000"/>
            </a:blip>
            <a:stretch>
              <a:fillRect l="0" t="0" r="0" b="0"/>
            </a:stretch>
          </a:blipFill>
        </p:spPr>
      </p:sp>
      <p:grpSp>
        <p:nvGrpSpPr>
          <p:cNvPr name="Group 3" id="3"/>
          <p:cNvGrpSpPr/>
          <p:nvPr/>
        </p:nvGrpSpPr>
        <p:grpSpPr>
          <a:xfrm rot="0">
            <a:off x="6813470" y="4327000"/>
            <a:ext cx="14734613" cy="9397789"/>
            <a:chOff x="0" y="0"/>
            <a:chExt cx="1009097" cy="643606"/>
          </a:xfrm>
        </p:grpSpPr>
        <p:sp>
          <p:nvSpPr>
            <p:cNvPr name="Freeform 4" id="4"/>
            <p:cNvSpPr/>
            <p:nvPr/>
          </p:nvSpPr>
          <p:spPr>
            <a:xfrm flipH="false" flipV="false" rot="0">
              <a:off x="7423" y="0"/>
              <a:ext cx="994251" cy="643606"/>
            </a:xfrm>
            <a:custGeom>
              <a:avLst/>
              <a:gdLst/>
              <a:ahLst/>
              <a:cxnLst/>
              <a:rect r="r" b="b" t="t" l="l"/>
              <a:pathLst>
                <a:path h="643606" w="994251">
                  <a:moveTo>
                    <a:pt x="982598" y="352013"/>
                  </a:moveTo>
                  <a:lnTo>
                    <a:pt x="817550" y="613395"/>
                  </a:lnTo>
                  <a:cubicBezTo>
                    <a:pt x="805675" y="632202"/>
                    <a:pt x="784987" y="643606"/>
                    <a:pt x="762745" y="643606"/>
                  </a:cubicBezTo>
                  <a:lnTo>
                    <a:pt x="231506" y="643606"/>
                  </a:lnTo>
                  <a:cubicBezTo>
                    <a:pt x="209264" y="643606"/>
                    <a:pt x="188576" y="632202"/>
                    <a:pt x="176701" y="613395"/>
                  </a:cubicBezTo>
                  <a:lnTo>
                    <a:pt x="11653" y="352013"/>
                  </a:lnTo>
                  <a:cubicBezTo>
                    <a:pt x="0" y="333558"/>
                    <a:pt x="0" y="310047"/>
                    <a:pt x="11653" y="291593"/>
                  </a:cubicBezTo>
                  <a:lnTo>
                    <a:pt x="176701" y="30210"/>
                  </a:lnTo>
                  <a:cubicBezTo>
                    <a:pt x="188576" y="11404"/>
                    <a:pt x="209264" y="0"/>
                    <a:pt x="231506" y="0"/>
                  </a:cubicBezTo>
                  <a:lnTo>
                    <a:pt x="762745" y="0"/>
                  </a:lnTo>
                  <a:cubicBezTo>
                    <a:pt x="784987" y="0"/>
                    <a:pt x="805675" y="11404"/>
                    <a:pt x="817550" y="30210"/>
                  </a:cubicBezTo>
                  <a:lnTo>
                    <a:pt x="982598" y="291593"/>
                  </a:lnTo>
                  <a:cubicBezTo>
                    <a:pt x="994251" y="310047"/>
                    <a:pt x="994251" y="333558"/>
                    <a:pt x="982598" y="352013"/>
                  </a:cubicBezTo>
                  <a:close/>
                </a:path>
              </a:pathLst>
            </a:custGeom>
            <a:blipFill>
              <a:blip r:embed="rId3"/>
              <a:stretch>
                <a:fillRect l="-11891" t="-13366" r="157" b="-1031"/>
              </a:stretch>
            </a:blipFill>
          </p:spPr>
        </p:sp>
      </p:grpSp>
      <p:grpSp>
        <p:nvGrpSpPr>
          <p:cNvPr name="Group 5" id="5"/>
          <p:cNvGrpSpPr/>
          <p:nvPr/>
        </p:nvGrpSpPr>
        <p:grpSpPr>
          <a:xfrm rot="0">
            <a:off x="-1064660" y="5865681"/>
            <a:ext cx="10806964" cy="1690202"/>
            <a:chOff x="0" y="0"/>
            <a:chExt cx="3897715" cy="609600"/>
          </a:xfrm>
        </p:grpSpPr>
        <p:sp>
          <p:nvSpPr>
            <p:cNvPr name="Freeform 6" id="6"/>
            <p:cNvSpPr/>
            <p:nvPr/>
          </p:nvSpPr>
          <p:spPr>
            <a:xfrm flipH="false" flipV="false" rot="0">
              <a:off x="4699" y="0"/>
              <a:ext cx="3888316" cy="609600"/>
            </a:xfrm>
            <a:custGeom>
              <a:avLst/>
              <a:gdLst/>
              <a:ahLst/>
              <a:cxnLst/>
              <a:rect r="r" b="b" t="t" l="l"/>
              <a:pathLst>
                <a:path h="609600" w="3888316">
                  <a:moveTo>
                    <a:pt x="217843" y="0"/>
                  </a:moveTo>
                  <a:lnTo>
                    <a:pt x="3873674" y="0"/>
                  </a:lnTo>
                  <a:cubicBezTo>
                    <a:pt x="3878155" y="0"/>
                    <a:pt x="3882363" y="2154"/>
                    <a:pt x="3884983" y="5790"/>
                  </a:cubicBezTo>
                  <a:cubicBezTo>
                    <a:pt x="3887603" y="9425"/>
                    <a:pt x="3888316" y="14098"/>
                    <a:pt x="3886899" y="18350"/>
                  </a:cubicBezTo>
                  <a:lnTo>
                    <a:pt x="3695932" y="591250"/>
                  </a:lnTo>
                  <a:cubicBezTo>
                    <a:pt x="3692280" y="602209"/>
                    <a:pt x="3682024" y="609600"/>
                    <a:pt x="3670474" y="609600"/>
                  </a:cubicBezTo>
                  <a:lnTo>
                    <a:pt x="14643" y="609600"/>
                  </a:lnTo>
                  <a:cubicBezTo>
                    <a:pt x="10162" y="609600"/>
                    <a:pt x="5954" y="607446"/>
                    <a:pt x="3334" y="603810"/>
                  </a:cubicBezTo>
                  <a:cubicBezTo>
                    <a:pt x="713" y="600175"/>
                    <a:pt x="0" y="595502"/>
                    <a:pt x="1418" y="591250"/>
                  </a:cubicBezTo>
                  <a:lnTo>
                    <a:pt x="192384" y="18350"/>
                  </a:lnTo>
                  <a:cubicBezTo>
                    <a:pt x="196037" y="7391"/>
                    <a:pt x="206292" y="0"/>
                    <a:pt x="217843" y="0"/>
                  </a:cubicBezTo>
                  <a:close/>
                </a:path>
              </a:pathLst>
            </a:custGeom>
            <a:solidFill>
              <a:srgbClr val="2855BF"/>
            </a:solidFill>
          </p:spPr>
        </p:sp>
        <p:sp>
          <p:nvSpPr>
            <p:cNvPr name="TextBox 7" id="7"/>
            <p:cNvSpPr txBox="true"/>
            <p:nvPr/>
          </p:nvSpPr>
          <p:spPr>
            <a:xfrm>
              <a:off x="101600" y="-47625"/>
              <a:ext cx="3694515" cy="657225"/>
            </a:xfrm>
            <a:prstGeom prst="rect">
              <a:avLst/>
            </a:prstGeom>
          </p:spPr>
          <p:txBody>
            <a:bodyPr anchor="ctr" rtlCol="false" tIns="50800" lIns="50800" bIns="50800" rIns="50800"/>
            <a:lstStyle/>
            <a:p>
              <a:pPr algn="ctr">
                <a:lnSpc>
                  <a:spcPts val="3303"/>
                </a:lnSpc>
              </a:pPr>
            </a:p>
          </p:txBody>
        </p:sp>
      </p:grpSp>
      <p:sp>
        <p:nvSpPr>
          <p:cNvPr name="Freeform 8" id="8"/>
          <p:cNvSpPr/>
          <p:nvPr/>
        </p:nvSpPr>
        <p:spPr>
          <a:xfrm flipH="false" flipV="false" rot="0">
            <a:off x="8887698" y="857250"/>
            <a:ext cx="3709219" cy="602748"/>
          </a:xfrm>
          <a:custGeom>
            <a:avLst/>
            <a:gdLst/>
            <a:ahLst/>
            <a:cxnLst/>
            <a:rect r="r" b="b" t="t" l="l"/>
            <a:pathLst>
              <a:path h="602748" w="3709219">
                <a:moveTo>
                  <a:pt x="0" y="0"/>
                </a:moveTo>
                <a:lnTo>
                  <a:pt x="3709220" y="0"/>
                </a:lnTo>
                <a:lnTo>
                  <a:pt x="3709220" y="602748"/>
                </a:lnTo>
                <a:lnTo>
                  <a:pt x="0" y="602748"/>
                </a:lnTo>
                <a:lnTo>
                  <a:pt x="0" y="0"/>
                </a:lnTo>
                <a:close/>
              </a:path>
            </a:pathLst>
          </a:custGeom>
          <a:blipFill>
            <a:blip r:embed="rId2">
              <a:alphaModFix amt="71000"/>
            </a:blip>
            <a:stretch>
              <a:fillRect l="0" t="0" r="0" b="0"/>
            </a:stretch>
          </a:blipFill>
        </p:spPr>
      </p:sp>
      <p:sp>
        <p:nvSpPr>
          <p:cNvPr name="Freeform 9" id="9"/>
          <p:cNvSpPr/>
          <p:nvPr/>
        </p:nvSpPr>
        <p:spPr>
          <a:xfrm flipH="true" flipV="false" rot="0">
            <a:off x="-740476" y="-371437"/>
            <a:ext cx="14042134" cy="1228687"/>
          </a:xfrm>
          <a:custGeom>
            <a:avLst/>
            <a:gdLst/>
            <a:ahLst/>
            <a:cxnLst/>
            <a:rect r="r" b="b" t="t" l="l"/>
            <a:pathLst>
              <a:path h="1228687" w="14042134">
                <a:moveTo>
                  <a:pt x="14042134" y="0"/>
                </a:moveTo>
                <a:lnTo>
                  <a:pt x="0" y="0"/>
                </a:lnTo>
                <a:lnTo>
                  <a:pt x="0" y="1228687"/>
                </a:lnTo>
                <a:lnTo>
                  <a:pt x="14042134" y="1228687"/>
                </a:lnTo>
                <a:lnTo>
                  <a:pt x="140421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0">
            <a:off x="-768633" y="9474859"/>
            <a:ext cx="19825265" cy="1734711"/>
          </a:xfrm>
          <a:custGeom>
            <a:avLst/>
            <a:gdLst/>
            <a:ahLst/>
            <a:cxnLst/>
            <a:rect r="r" b="b" t="t" l="l"/>
            <a:pathLst>
              <a:path h="1734711" w="19825265">
                <a:moveTo>
                  <a:pt x="19825266" y="0"/>
                </a:moveTo>
                <a:lnTo>
                  <a:pt x="0" y="0"/>
                </a:lnTo>
                <a:lnTo>
                  <a:pt x="0" y="1734711"/>
                </a:lnTo>
                <a:lnTo>
                  <a:pt x="19825266" y="1734711"/>
                </a:lnTo>
                <a:lnTo>
                  <a:pt x="1982526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12917431" y="570551"/>
            <a:ext cx="1139647" cy="343849"/>
          </a:xfrm>
          <a:custGeom>
            <a:avLst/>
            <a:gdLst/>
            <a:ahLst/>
            <a:cxnLst/>
            <a:rect r="r" b="b" t="t" l="l"/>
            <a:pathLst>
              <a:path h="343849" w="1139647">
                <a:moveTo>
                  <a:pt x="1139647" y="0"/>
                </a:moveTo>
                <a:lnTo>
                  <a:pt x="0" y="0"/>
                </a:lnTo>
                <a:lnTo>
                  <a:pt x="0" y="343849"/>
                </a:lnTo>
                <a:lnTo>
                  <a:pt x="1139647" y="343849"/>
                </a:lnTo>
                <a:lnTo>
                  <a:pt x="1139647" y="0"/>
                </a:lnTo>
                <a:close/>
              </a:path>
            </a:pathLst>
          </a:custGeom>
          <a:blipFill>
            <a:blip r:embed="rId8">
              <a:extLst>
                <a:ext uri="{96DAC541-7B7A-43D3-8B79-37D633B846F1}">
                  <asvg:svgBlip xmlns:asvg="http://schemas.microsoft.com/office/drawing/2016/SVG/main" r:embed="rId9"/>
                </a:ext>
              </a:extLst>
            </a:blip>
            <a:stretch>
              <a:fillRect l="0" t="0" r="-104552" b="0"/>
            </a:stretch>
          </a:blipFill>
        </p:spPr>
      </p:sp>
      <p:sp>
        <p:nvSpPr>
          <p:cNvPr name="Freeform 12" id="12"/>
          <p:cNvSpPr/>
          <p:nvPr/>
        </p:nvSpPr>
        <p:spPr>
          <a:xfrm flipH="true" flipV="false" rot="0">
            <a:off x="989375" y="8915557"/>
            <a:ext cx="1139647" cy="343849"/>
          </a:xfrm>
          <a:custGeom>
            <a:avLst/>
            <a:gdLst/>
            <a:ahLst/>
            <a:cxnLst/>
            <a:rect r="r" b="b" t="t" l="l"/>
            <a:pathLst>
              <a:path h="343849" w="1139647">
                <a:moveTo>
                  <a:pt x="1139647" y="0"/>
                </a:moveTo>
                <a:lnTo>
                  <a:pt x="0" y="0"/>
                </a:lnTo>
                <a:lnTo>
                  <a:pt x="0" y="343849"/>
                </a:lnTo>
                <a:lnTo>
                  <a:pt x="1139647" y="343849"/>
                </a:lnTo>
                <a:lnTo>
                  <a:pt x="1139647" y="0"/>
                </a:lnTo>
                <a:close/>
              </a:path>
            </a:pathLst>
          </a:custGeom>
          <a:blipFill>
            <a:blip r:embed="rId10">
              <a:extLst>
                <a:ext uri="{96DAC541-7B7A-43D3-8B79-37D633B846F1}">
                  <asvg:svgBlip xmlns:asvg="http://schemas.microsoft.com/office/drawing/2016/SVG/main" r:embed="rId11"/>
                </a:ext>
              </a:extLst>
            </a:blip>
            <a:stretch>
              <a:fillRect l="0" t="0" r="-104552" b="0"/>
            </a:stretch>
          </a:blipFill>
        </p:spPr>
      </p:sp>
      <p:sp>
        <p:nvSpPr>
          <p:cNvPr name="TextBox 13" id="13"/>
          <p:cNvSpPr txBox="true"/>
          <p:nvPr/>
        </p:nvSpPr>
        <p:spPr>
          <a:xfrm rot="0">
            <a:off x="712676" y="1752264"/>
            <a:ext cx="5787906" cy="1776499"/>
          </a:xfrm>
          <a:prstGeom prst="rect">
            <a:avLst/>
          </a:prstGeom>
        </p:spPr>
        <p:txBody>
          <a:bodyPr anchor="t" rtlCol="false" tIns="0" lIns="0" bIns="0" rIns="0">
            <a:spAutoFit/>
          </a:bodyPr>
          <a:lstStyle/>
          <a:p>
            <a:pPr algn="r">
              <a:lnSpc>
                <a:spcPts val="14545"/>
              </a:lnSpc>
            </a:pPr>
            <a:r>
              <a:rPr lang="en-US" b="true" sz="10389" spc="-342">
                <a:solidFill>
                  <a:srgbClr val="03045A"/>
                </a:solidFill>
                <a:latin typeface="Open Sauce Heavy"/>
                <a:ea typeface="Open Sauce Heavy"/>
                <a:cs typeface="Open Sauce Heavy"/>
                <a:sym typeface="Open Sauce Heavy"/>
              </a:rPr>
              <a:t>Prediksa</a:t>
            </a:r>
          </a:p>
        </p:txBody>
      </p:sp>
      <p:sp>
        <p:nvSpPr>
          <p:cNvPr name="TextBox 14" id="14"/>
          <p:cNvSpPr txBox="true"/>
          <p:nvPr/>
        </p:nvSpPr>
        <p:spPr>
          <a:xfrm rot="0">
            <a:off x="989375" y="3208264"/>
            <a:ext cx="5511206" cy="1309387"/>
          </a:xfrm>
          <a:prstGeom prst="rect">
            <a:avLst/>
          </a:prstGeom>
        </p:spPr>
        <p:txBody>
          <a:bodyPr anchor="t" rtlCol="false" tIns="0" lIns="0" bIns="0" rIns="0">
            <a:spAutoFit/>
          </a:bodyPr>
          <a:lstStyle/>
          <a:p>
            <a:pPr algn="r">
              <a:lnSpc>
                <a:spcPts val="10780"/>
              </a:lnSpc>
            </a:pPr>
            <a:r>
              <a:rPr lang="en-US" b="true" sz="7700" spc="-254">
                <a:solidFill>
                  <a:srgbClr val="2855BF"/>
                </a:solidFill>
                <a:latin typeface="Open Sauce Bold"/>
                <a:ea typeface="Open Sauce Bold"/>
                <a:cs typeface="Open Sauce Bold"/>
                <a:sym typeface="Open Sauce Bold"/>
              </a:rPr>
              <a:t>Company</a:t>
            </a:r>
          </a:p>
        </p:txBody>
      </p:sp>
      <p:sp>
        <p:nvSpPr>
          <p:cNvPr name="TextBox 15" id="15"/>
          <p:cNvSpPr txBox="true"/>
          <p:nvPr/>
        </p:nvSpPr>
        <p:spPr>
          <a:xfrm rot="0">
            <a:off x="14656444" y="2133652"/>
            <a:ext cx="3036516" cy="429306"/>
          </a:xfrm>
          <a:prstGeom prst="rect">
            <a:avLst/>
          </a:prstGeom>
        </p:spPr>
        <p:txBody>
          <a:bodyPr anchor="t" rtlCol="false" tIns="0" lIns="0" bIns="0" rIns="0">
            <a:spAutoFit/>
          </a:bodyPr>
          <a:lstStyle/>
          <a:p>
            <a:pPr algn="r">
              <a:lnSpc>
                <a:spcPts val="3511"/>
              </a:lnSpc>
            </a:pPr>
            <a:r>
              <a:rPr lang="en-US" sz="2507">
                <a:solidFill>
                  <a:srgbClr val="2855BF"/>
                </a:solidFill>
                <a:latin typeface="Open Sauce"/>
                <a:ea typeface="Open Sauce"/>
                <a:cs typeface="Open Sauce"/>
                <a:sym typeface="Open Sauce"/>
              </a:rPr>
              <a:t>Presented By</a:t>
            </a:r>
          </a:p>
        </p:txBody>
      </p:sp>
      <p:sp>
        <p:nvSpPr>
          <p:cNvPr name="TextBox 16" id="16"/>
          <p:cNvSpPr txBox="true"/>
          <p:nvPr/>
        </p:nvSpPr>
        <p:spPr>
          <a:xfrm rot="0">
            <a:off x="13735317" y="2495413"/>
            <a:ext cx="3957642" cy="564709"/>
          </a:xfrm>
          <a:prstGeom prst="rect">
            <a:avLst/>
          </a:prstGeom>
        </p:spPr>
        <p:txBody>
          <a:bodyPr anchor="t" rtlCol="false" tIns="0" lIns="0" bIns="0" rIns="0">
            <a:spAutoFit/>
          </a:bodyPr>
          <a:lstStyle/>
          <a:p>
            <a:pPr algn="r">
              <a:lnSpc>
                <a:spcPts val="4576"/>
              </a:lnSpc>
            </a:pPr>
            <a:r>
              <a:rPr lang="en-US" sz="3268" b="true">
                <a:solidFill>
                  <a:srgbClr val="03045A"/>
                </a:solidFill>
                <a:latin typeface="Open Sauce Heavy"/>
                <a:ea typeface="Open Sauce Heavy"/>
                <a:cs typeface="Open Sauce Heavy"/>
                <a:sym typeface="Open Sauce Heavy"/>
              </a:rPr>
              <a:t>Group 13</a:t>
            </a:r>
          </a:p>
        </p:txBody>
      </p:sp>
      <p:sp>
        <p:nvSpPr>
          <p:cNvPr name="TextBox 17" id="17"/>
          <p:cNvSpPr txBox="true"/>
          <p:nvPr/>
        </p:nvSpPr>
        <p:spPr>
          <a:xfrm rot="0">
            <a:off x="1492289" y="6112542"/>
            <a:ext cx="6620244" cy="1127790"/>
          </a:xfrm>
          <a:prstGeom prst="rect">
            <a:avLst/>
          </a:prstGeom>
        </p:spPr>
        <p:txBody>
          <a:bodyPr anchor="t" rtlCol="false" tIns="0" lIns="0" bIns="0" rIns="0">
            <a:spAutoFit/>
          </a:bodyPr>
          <a:lstStyle/>
          <a:p>
            <a:pPr algn="l">
              <a:lnSpc>
                <a:spcPts val="4513"/>
              </a:lnSpc>
            </a:pPr>
            <a:r>
              <a:rPr lang="en-US" sz="3223" i="true">
                <a:solidFill>
                  <a:srgbClr val="FFFFFF"/>
                </a:solidFill>
                <a:latin typeface="Open Sauce Italics"/>
                <a:ea typeface="Open Sauce Italics"/>
                <a:cs typeface="Open Sauce Italics"/>
                <a:sym typeface="Open Sauce Italics"/>
              </a:rPr>
              <a:t>Heart Disease Classification</a:t>
            </a:r>
          </a:p>
          <a:p>
            <a:pPr algn="l">
              <a:lnSpc>
                <a:spcPts val="4513"/>
              </a:lnSpc>
            </a:pPr>
            <a:r>
              <a:rPr lang="en-US" sz="3223" i="true">
                <a:solidFill>
                  <a:srgbClr val="FFFFFF"/>
                </a:solidFill>
                <a:latin typeface="Open Sauce Italics"/>
                <a:ea typeface="Open Sauce Italics"/>
                <a:cs typeface="Open Sauce Italics"/>
                <a:sym typeface="Open Sauce Italics"/>
              </a:rPr>
              <a:t>for Insurance</a:t>
            </a:r>
          </a:p>
        </p:txBody>
      </p:sp>
      <p:sp>
        <p:nvSpPr>
          <p:cNvPr name="Freeform 18" id="18"/>
          <p:cNvSpPr/>
          <p:nvPr/>
        </p:nvSpPr>
        <p:spPr>
          <a:xfrm flipH="false" flipV="false" rot="0">
            <a:off x="6157233" y="1558429"/>
            <a:ext cx="3585071" cy="3585071"/>
          </a:xfrm>
          <a:custGeom>
            <a:avLst/>
            <a:gdLst/>
            <a:ahLst/>
            <a:cxnLst/>
            <a:rect r="r" b="b" t="t" l="l"/>
            <a:pathLst>
              <a:path h="3585071" w="3585071">
                <a:moveTo>
                  <a:pt x="0" y="0"/>
                </a:moveTo>
                <a:lnTo>
                  <a:pt x="3585071" y="0"/>
                </a:lnTo>
                <a:lnTo>
                  <a:pt x="3585071" y="3585071"/>
                </a:lnTo>
                <a:lnTo>
                  <a:pt x="0" y="3585071"/>
                </a:lnTo>
                <a:lnTo>
                  <a:pt x="0" y="0"/>
                </a:lnTo>
                <a:close/>
              </a:path>
            </a:pathLst>
          </a:custGeom>
          <a:blipFill>
            <a:blip r:embed="rId1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2499" y="4173932"/>
            <a:ext cx="18382881" cy="19050"/>
          </a:xfrm>
          <a:prstGeom prst="line">
            <a:avLst/>
          </a:prstGeom>
          <a:ln cap="flat" w="38100">
            <a:solidFill>
              <a:srgbClr val="03045A"/>
            </a:solidFill>
            <a:prstDash val="solid"/>
            <a:headEnd type="none" len="sm" w="sm"/>
            <a:tailEnd type="none" len="sm" w="sm"/>
          </a:ln>
        </p:spPr>
      </p:sp>
      <p:sp>
        <p:nvSpPr>
          <p:cNvPr name="Freeform 3" id="3"/>
          <p:cNvSpPr/>
          <p:nvPr/>
        </p:nvSpPr>
        <p:spPr>
          <a:xfrm flipH="false" flipV="false" rot="4774883">
            <a:off x="8911543" y="713804"/>
            <a:ext cx="7158598" cy="1163272"/>
          </a:xfrm>
          <a:custGeom>
            <a:avLst/>
            <a:gdLst/>
            <a:ahLst/>
            <a:cxnLst/>
            <a:rect r="r" b="b" t="t" l="l"/>
            <a:pathLst>
              <a:path h="1163272" w="7158598">
                <a:moveTo>
                  <a:pt x="0" y="0"/>
                </a:moveTo>
                <a:lnTo>
                  <a:pt x="7158598" y="0"/>
                </a:lnTo>
                <a:lnTo>
                  <a:pt x="7158598" y="1163272"/>
                </a:lnTo>
                <a:lnTo>
                  <a:pt x="0" y="1163272"/>
                </a:lnTo>
                <a:lnTo>
                  <a:pt x="0" y="0"/>
                </a:lnTo>
                <a:close/>
              </a:path>
            </a:pathLst>
          </a:custGeom>
          <a:blipFill>
            <a:blip r:embed="rId2">
              <a:alphaModFix amt="71000"/>
            </a:blip>
            <a:stretch>
              <a:fillRect l="0" t="0" r="0" b="0"/>
            </a:stretch>
          </a:blipFill>
        </p:spPr>
      </p:sp>
      <p:sp>
        <p:nvSpPr>
          <p:cNvPr name="Freeform 4" id="4"/>
          <p:cNvSpPr/>
          <p:nvPr/>
        </p:nvSpPr>
        <p:spPr>
          <a:xfrm flipH="true" flipV="false" rot="0">
            <a:off x="12394665" y="-2089354"/>
            <a:ext cx="9594066" cy="15568464"/>
          </a:xfrm>
          <a:custGeom>
            <a:avLst/>
            <a:gdLst/>
            <a:ahLst/>
            <a:cxnLst/>
            <a:rect r="r" b="b" t="t" l="l"/>
            <a:pathLst>
              <a:path h="15568464" w="9594066">
                <a:moveTo>
                  <a:pt x="9594066" y="0"/>
                </a:moveTo>
                <a:lnTo>
                  <a:pt x="0" y="0"/>
                </a:lnTo>
                <a:lnTo>
                  <a:pt x="0" y="15568464"/>
                </a:lnTo>
                <a:lnTo>
                  <a:pt x="9594066" y="15568464"/>
                </a:lnTo>
                <a:lnTo>
                  <a:pt x="959406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03276" y="9740414"/>
            <a:ext cx="4934047" cy="956821"/>
          </a:xfrm>
          <a:custGeom>
            <a:avLst/>
            <a:gdLst/>
            <a:ahLst/>
            <a:cxnLst/>
            <a:rect r="r" b="b" t="t" l="l"/>
            <a:pathLst>
              <a:path h="956821" w="4934047">
                <a:moveTo>
                  <a:pt x="0" y="0"/>
                </a:moveTo>
                <a:lnTo>
                  <a:pt x="4934047" y="0"/>
                </a:lnTo>
                <a:lnTo>
                  <a:pt x="4934047" y="956822"/>
                </a:lnTo>
                <a:lnTo>
                  <a:pt x="0" y="956822"/>
                </a:lnTo>
                <a:lnTo>
                  <a:pt x="0" y="0"/>
                </a:lnTo>
                <a:close/>
              </a:path>
            </a:pathLst>
          </a:custGeom>
          <a:blipFill>
            <a:blip r:embed="rId2">
              <a:alphaModFix amt="71000"/>
            </a:blip>
            <a:stretch>
              <a:fillRect l="0" t="0" r="-19336" b="0"/>
            </a:stretch>
          </a:blipFill>
        </p:spPr>
      </p:sp>
      <p:grpSp>
        <p:nvGrpSpPr>
          <p:cNvPr name="Group 6" id="6"/>
          <p:cNvGrpSpPr/>
          <p:nvPr/>
        </p:nvGrpSpPr>
        <p:grpSpPr>
          <a:xfrm rot="0">
            <a:off x="12925990" y="8311374"/>
            <a:ext cx="6176053" cy="1429040"/>
            <a:chOff x="0" y="0"/>
            <a:chExt cx="2634581" cy="609600"/>
          </a:xfrm>
        </p:grpSpPr>
        <p:sp>
          <p:nvSpPr>
            <p:cNvPr name="Freeform 7" id="7"/>
            <p:cNvSpPr/>
            <p:nvPr/>
          </p:nvSpPr>
          <p:spPr>
            <a:xfrm flipH="false" flipV="false" rot="0">
              <a:off x="8223" y="0"/>
              <a:ext cx="2618134" cy="609600"/>
            </a:xfrm>
            <a:custGeom>
              <a:avLst/>
              <a:gdLst/>
              <a:ahLst/>
              <a:cxnLst/>
              <a:rect r="r" b="b" t="t" l="l"/>
              <a:pathLst>
                <a:path h="609600" w="2618134">
                  <a:moveTo>
                    <a:pt x="228823" y="0"/>
                  </a:moveTo>
                  <a:lnTo>
                    <a:pt x="2592512" y="0"/>
                  </a:lnTo>
                  <a:cubicBezTo>
                    <a:pt x="2600354" y="0"/>
                    <a:pt x="2607717" y="3769"/>
                    <a:pt x="2612302" y="10131"/>
                  </a:cubicBezTo>
                  <a:cubicBezTo>
                    <a:pt x="2616887" y="16492"/>
                    <a:pt x="2618135" y="24670"/>
                    <a:pt x="2615655" y="32109"/>
                  </a:cubicBezTo>
                  <a:lnTo>
                    <a:pt x="2433861" y="577491"/>
                  </a:lnTo>
                  <a:cubicBezTo>
                    <a:pt x="2427469" y="596666"/>
                    <a:pt x="2409525" y="609600"/>
                    <a:pt x="2389312" y="609600"/>
                  </a:cubicBezTo>
                  <a:lnTo>
                    <a:pt x="25623" y="609600"/>
                  </a:lnTo>
                  <a:cubicBezTo>
                    <a:pt x="17781" y="609600"/>
                    <a:pt x="10418" y="605831"/>
                    <a:pt x="5833" y="599469"/>
                  </a:cubicBezTo>
                  <a:cubicBezTo>
                    <a:pt x="1248" y="593108"/>
                    <a:pt x="0" y="584930"/>
                    <a:pt x="2480" y="577491"/>
                  </a:cubicBezTo>
                  <a:lnTo>
                    <a:pt x="184274" y="32109"/>
                  </a:lnTo>
                  <a:cubicBezTo>
                    <a:pt x="190666" y="12934"/>
                    <a:pt x="208610" y="0"/>
                    <a:pt x="228823" y="0"/>
                  </a:cubicBezTo>
                  <a:close/>
                </a:path>
              </a:pathLst>
            </a:custGeom>
            <a:solidFill>
              <a:srgbClr val="2855BF"/>
            </a:solidFill>
          </p:spPr>
        </p:sp>
        <p:sp>
          <p:nvSpPr>
            <p:cNvPr name="TextBox 8" id="8"/>
            <p:cNvSpPr txBox="true"/>
            <p:nvPr/>
          </p:nvSpPr>
          <p:spPr>
            <a:xfrm>
              <a:off x="101600" y="-47625"/>
              <a:ext cx="2431381" cy="657225"/>
            </a:xfrm>
            <a:prstGeom prst="rect">
              <a:avLst/>
            </a:prstGeom>
          </p:spPr>
          <p:txBody>
            <a:bodyPr anchor="ctr" rtlCol="false" tIns="50800" lIns="50800" bIns="50800" rIns="50800"/>
            <a:lstStyle/>
            <a:p>
              <a:pPr algn="ctr">
                <a:lnSpc>
                  <a:spcPts val="3303"/>
                </a:lnSpc>
              </a:pPr>
            </a:p>
          </p:txBody>
        </p:sp>
      </p:grpSp>
      <p:sp>
        <p:nvSpPr>
          <p:cNvPr name="Freeform 9" id="9"/>
          <p:cNvSpPr/>
          <p:nvPr/>
        </p:nvSpPr>
        <p:spPr>
          <a:xfrm flipH="true" flipV="false" rot="0">
            <a:off x="9144000" y="1587305"/>
            <a:ext cx="1139647" cy="343849"/>
          </a:xfrm>
          <a:custGeom>
            <a:avLst/>
            <a:gdLst/>
            <a:ahLst/>
            <a:cxnLst/>
            <a:rect r="r" b="b" t="t" l="l"/>
            <a:pathLst>
              <a:path h="343849" w="1139647">
                <a:moveTo>
                  <a:pt x="1139647" y="0"/>
                </a:moveTo>
                <a:lnTo>
                  <a:pt x="0" y="0"/>
                </a:lnTo>
                <a:lnTo>
                  <a:pt x="0" y="343848"/>
                </a:lnTo>
                <a:lnTo>
                  <a:pt x="1139647" y="343848"/>
                </a:lnTo>
                <a:lnTo>
                  <a:pt x="1139647" y="0"/>
                </a:lnTo>
                <a:close/>
              </a:path>
            </a:pathLst>
          </a:custGeom>
          <a:blipFill>
            <a:blip r:embed="rId5">
              <a:extLst>
                <a:ext uri="{96DAC541-7B7A-43D3-8B79-37D633B846F1}">
                  <asvg:svgBlip xmlns:asvg="http://schemas.microsoft.com/office/drawing/2016/SVG/main" r:embed="rId6"/>
                </a:ext>
              </a:extLst>
            </a:blip>
            <a:stretch>
              <a:fillRect l="0" t="0" r="-104552" b="0"/>
            </a:stretch>
          </a:blipFill>
        </p:spPr>
      </p:sp>
      <p:grpSp>
        <p:nvGrpSpPr>
          <p:cNvPr name="Group 10" id="10"/>
          <p:cNvGrpSpPr/>
          <p:nvPr/>
        </p:nvGrpSpPr>
        <p:grpSpPr>
          <a:xfrm rot="0">
            <a:off x="13448586" y="880581"/>
            <a:ext cx="3810714" cy="1175610"/>
            <a:chOff x="0" y="0"/>
            <a:chExt cx="5080951" cy="1567480"/>
          </a:xfrm>
        </p:grpSpPr>
        <p:sp>
          <p:nvSpPr>
            <p:cNvPr name="TextBox 11" id="11"/>
            <p:cNvSpPr txBox="true"/>
            <p:nvPr/>
          </p:nvSpPr>
          <p:spPr>
            <a:xfrm rot="0">
              <a:off x="0" y="209112"/>
              <a:ext cx="3513472" cy="777982"/>
            </a:xfrm>
            <a:prstGeom prst="rect">
              <a:avLst/>
            </a:prstGeom>
          </p:spPr>
          <p:txBody>
            <a:bodyPr anchor="t" rtlCol="false" tIns="0" lIns="0" bIns="0" rIns="0">
              <a:spAutoFit/>
            </a:bodyPr>
            <a:lstStyle/>
            <a:p>
              <a:pPr algn="r">
                <a:lnSpc>
                  <a:spcPts val="4973"/>
                </a:lnSpc>
              </a:pPr>
              <a:r>
                <a:rPr lang="en-US" b="true" sz="3552" spc="-117">
                  <a:solidFill>
                    <a:srgbClr val="FFFFFF"/>
                  </a:solidFill>
                  <a:latin typeface="Open Sauce Heavy"/>
                  <a:ea typeface="Open Sauce Heavy"/>
                  <a:cs typeface="Open Sauce Heavy"/>
                  <a:sym typeface="Open Sauce Heavy"/>
                </a:rPr>
                <a:t>Prediksa</a:t>
              </a:r>
            </a:p>
          </p:txBody>
        </p:sp>
        <p:sp>
          <p:nvSpPr>
            <p:cNvPr name="TextBox 12" id="12"/>
            <p:cNvSpPr txBox="true"/>
            <p:nvPr/>
          </p:nvSpPr>
          <p:spPr>
            <a:xfrm rot="0">
              <a:off x="1335717" y="910310"/>
              <a:ext cx="2177754" cy="472258"/>
            </a:xfrm>
            <a:prstGeom prst="rect">
              <a:avLst/>
            </a:prstGeom>
          </p:spPr>
          <p:txBody>
            <a:bodyPr anchor="t" rtlCol="false" tIns="0" lIns="0" bIns="0" rIns="0">
              <a:spAutoFit/>
            </a:bodyPr>
            <a:lstStyle/>
            <a:p>
              <a:pPr algn="r">
                <a:lnSpc>
                  <a:spcPts val="3082"/>
                </a:lnSpc>
              </a:pPr>
              <a:r>
                <a:rPr lang="en-US" sz="2202" spc="61">
                  <a:solidFill>
                    <a:srgbClr val="FFFFFF"/>
                  </a:solidFill>
                  <a:latin typeface="Open Sauce"/>
                  <a:ea typeface="Open Sauce"/>
                  <a:cs typeface="Open Sauce"/>
                  <a:sym typeface="Open Sauce"/>
                </a:rPr>
                <a:t>Company</a:t>
              </a:r>
            </a:p>
          </p:txBody>
        </p:sp>
        <p:sp>
          <p:nvSpPr>
            <p:cNvPr name="Freeform 13" id="13"/>
            <p:cNvSpPr/>
            <p:nvPr/>
          </p:nvSpPr>
          <p:spPr>
            <a:xfrm flipH="false" flipV="false" rot="0">
              <a:off x="3513472" y="0"/>
              <a:ext cx="1567480" cy="1567480"/>
            </a:xfrm>
            <a:custGeom>
              <a:avLst/>
              <a:gdLst/>
              <a:ahLst/>
              <a:cxnLst/>
              <a:rect r="r" b="b" t="t" l="l"/>
              <a:pathLst>
                <a:path h="1567480" w="1567480">
                  <a:moveTo>
                    <a:pt x="0" y="0"/>
                  </a:moveTo>
                  <a:lnTo>
                    <a:pt x="1567479" y="0"/>
                  </a:lnTo>
                  <a:lnTo>
                    <a:pt x="1567479" y="1567480"/>
                  </a:lnTo>
                  <a:lnTo>
                    <a:pt x="0" y="1567480"/>
                  </a:lnTo>
                  <a:lnTo>
                    <a:pt x="0" y="0"/>
                  </a:lnTo>
                  <a:close/>
                </a:path>
              </a:pathLst>
            </a:custGeom>
            <a:blipFill>
              <a:blip r:embed="rId7"/>
              <a:stretch>
                <a:fillRect l="0" t="0" r="0" b="0"/>
              </a:stretch>
            </a:blipFill>
          </p:spPr>
        </p:sp>
      </p:grpSp>
      <p:grpSp>
        <p:nvGrpSpPr>
          <p:cNvPr name="Group 14" id="14"/>
          <p:cNvGrpSpPr/>
          <p:nvPr/>
        </p:nvGrpSpPr>
        <p:grpSpPr>
          <a:xfrm rot="0">
            <a:off x="273718" y="3939059"/>
            <a:ext cx="2195076" cy="1531218"/>
            <a:chOff x="0" y="0"/>
            <a:chExt cx="2926767" cy="2041625"/>
          </a:xfrm>
        </p:grpSpPr>
        <p:sp>
          <p:nvSpPr>
            <p:cNvPr name="Freeform 15" id="15"/>
            <p:cNvSpPr/>
            <p:nvPr/>
          </p:nvSpPr>
          <p:spPr>
            <a:xfrm flipH="false" flipV="false" rot="0">
              <a:off x="1104054" y="0"/>
              <a:ext cx="626327" cy="626327"/>
            </a:xfrm>
            <a:custGeom>
              <a:avLst/>
              <a:gdLst/>
              <a:ahLst/>
              <a:cxnLst/>
              <a:rect r="r" b="b" t="t" l="l"/>
              <a:pathLst>
                <a:path h="626327" w="626327">
                  <a:moveTo>
                    <a:pt x="0" y="0"/>
                  </a:moveTo>
                  <a:lnTo>
                    <a:pt x="626328" y="0"/>
                  </a:lnTo>
                  <a:lnTo>
                    <a:pt x="626328" y="626327"/>
                  </a:lnTo>
                  <a:lnTo>
                    <a:pt x="0" y="6263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0" y="1203425"/>
              <a:ext cx="2834436" cy="838200"/>
            </a:xfrm>
            <a:prstGeom prst="rect">
              <a:avLst/>
            </a:prstGeom>
          </p:spPr>
          <p:txBody>
            <a:bodyPr anchor="t" rtlCol="false" tIns="0" lIns="0" bIns="0" rIns="0">
              <a:spAutoFit/>
            </a:bodyPr>
            <a:lstStyle/>
            <a:p>
              <a:pPr algn="ctr">
                <a:lnSpc>
                  <a:spcPts val="2475"/>
                </a:lnSpc>
              </a:pPr>
              <a:r>
                <a:rPr lang="en-US" sz="2063">
                  <a:solidFill>
                    <a:srgbClr val="03045A"/>
                  </a:solidFill>
                  <a:latin typeface="Open Sauce"/>
                  <a:ea typeface="Open Sauce"/>
                  <a:cs typeface="Open Sauce"/>
                  <a:sym typeface="Open Sauce"/>
                </a:rPr>
                <a:t>Idea Formation--RnD Process</a:t>
              </a:r>
            </a:p>
          </p:txBody>
        </p:sp>
        <p:sp>
          <p:nvSpPr>
            <p:cNvPr name="TextBox 17" id="17"/>
            <p:cNvSpPr txBox="true"/>
            <p:nvPr/>
          </p:nvSpPr>
          <p:spPr>
            <a:xfrm rot="0">
              <a:off x="92331" y="730726"/>
              <a:ext cx="2834436" cy="419100"/>
            </a:xfrm>
            <a:prstGeom prst="rect">
              <a:avLst/>
            </a:prstGeom>
          </p:spPr>
          <p:txBody>
            <a:bodyPr anchor="t" rtlCol="false" tIns="0" lIns="0" bIns="0" rIns="0">
              <a:spAutoFit/>
            </a:bodyPr>
            <a:lstStyle/>
            <a:p>
              <a:pPr algn="ctr">
                <a:lnSpc>
                  <a:spcPts val="2475"/>
                </a:lnSpc>
              </a:pPr>
              <a:r>
                <a:rPr lang="en-US" sz="2063" b="true">
                  <a:solidFill>
                    <a:srgbClr val="03045A"/>
                  </a:solidFill>
                  <a:latin typeface="Open Sauce Bold"/>
                  <a:ea typeface="Open Sauce Bold"/>
                  <a:cs typeface="Open Sauce Bold"/>
                  <a:sym typeface="Open Sauce Bold"/>
                </a:rPr>
                <a:t>Mar-May 2025</a:t>
              </a:r>
            </a:p>
          </p:txBody>
        </p:sp>
      </p:grpSp>
      <p:grpSp>
        <p:nvGrpSpPr>
          <p:cNvPr name="Group 18" id="18"/>
          <p:cNvGrpSpPr/>
          <p:nvPr/>
        </p:nvGrpSpPr>
        <p:grpSpPr>
          <a:xfrm rot="0">
            <a:off x="6830920" y="3958109"/>
            <a:ext cx="4206564" cy="1197843"/>
            <a:chOff x="0" y="0"/>
            <a:chExt cx="5608751" cy="1597125"/>
          </a:xfrm>
        </p:grpSpPr>
        <p:sp>
          <p:nvSpPr>
            <p:cNvPr name="Freeform 19" id="19"/>
            <p:cNvSpPr/>
            <p:nvPr/>
          </p:nvSpPr>
          <p:spPr>
            <a:xfrm flipH="false" flipV="false" rot="0">
              <a:off x="1116754" y="0"/>
              <a:ext cx="626327" cy="626327"/>
            </a:xfrm>
            <a:custGeom>
              <a:avLst/>
              <a:gdLst/>
              <a:ahLst/>
              <a:cxnLst/>
              <a:rect r="r" b="b" t="t" l="l"/>
              <a:pathLst>
                <a:path h="626327" w="626327">
                  <a:moveTo>
                    <a:pt x="0" y="0"/>
                  </a:moveTo>
                  <a:lnTo>
                    <a:pt x="626328" y="0"/>
                  </a:lnTo>
                  <a:lnTo>
                    <a:pt x="626328" y="626327"/>
                  </a:lnTo>
                  <a:lnTo>
                    <a:pt x="0" y="6263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3878370" y="0"/>
              <a:ext cx="626327" cy="626327"/>
            </a:xfrm>
            <a:custGeom>
              <a:avLst/>
              <a:gdLst/>
              <a:ahLst/>
              <a:cxnLst/>
              <a:rect r="r" b="b" t="t" l="l"/>
              <a:pathLst>
                <a:path h="626327" w="626327">
                  <a:moveTo>
                    <a:pt x="0" y="0"/>
                  </a:moveTo>
                  <a:lnTo>
                    <a:pt x="626327" y="0"/>
                  </a:lnTo>
                  <a:lnTo>
                    <a:pt x="626327" y="626327"/>
                  </a:lnTo>
                  <a:lnTo>
                    <a:pt x="0" y="6263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0">
              <a:off x="12700" y="1178025"/>
              <a:ext cx="2834436" cy="419100"/>
            </a:xfrm>
            <a:prstGeom prst="rect">
              <a:avLst/>
            </a:prstGeom>
          </p:spPr>
          <p:txBody>
            <a:bodyPr anchor="t" rtlCol="false" tIns="0" lIns="0" bIns="0" rIns="0">
              <a:spAutoFit/>
            </a:bodyPr>
            <a:lstStyle/>
            <a:p>
              <a:pPr algn="ctr">
                <a:lnSpc>
                  <a:spcPts val="2475"/>
                </a:lnSpc>
              </a:pPr>
              <a:r>
                <a:rPr lang="en-US" sz="2063">
                  <a:solidFill>
                    <a:srgbClr val="03045A"/>
                  </a:solidFill>
                  <a:latin typeface="Open Sauce"/>
                  <a:ea typeface="Open Sauce"/>
                  <a:cs typeface="Open Sauce"/>
                  <a:sym typeface="Open Sauce"/>
                </a:rPr>
                <a:t>MVP Launch</a:t>
              </a:r>
            </a:p>
          </p:txBody>
        </p:sp>
        <p:sp>
          <p:nvSpPr>
            <p:cNvPr name="TextBox 22" id="22"/>
            <p:cNvSpPr txBox="true"/>
            <p:nvPr/>
          </p:nvSpPr>
          <p:spPr>
            <a:xfrm rot="0">
              <a:off x="2774315" y="1178025"/>
              <a:ext cx="2834436" cy="419100"/>
            </a:xfrm>
            <a:prstGeom prst="rect">
              <a:avLst/>
            </a:prstGeom>
          </p:spPr>
          <p:txBody>
            <a:bodyPr anchor="t" rtlCol="false" tIns="0" lIns="0" bIns="0" rIns="0">
              <a:spAutoFit/>
            </a:bodyPr>
            <a:lstStyle/>
            <a:p>
              <a:pPr algn="ctr">
                <a:lnSpc>
                  <a:spcPts val="2475"/>
                </a:lnSpc>
              </a:pPr>
              <a:r>
                <a:rPr lang="en-US" sz="2063">
                  <a:solidFill>
                    <a:srgbClr val="03045A"/>
                  </a:solidFill>
                  <a:latin typeface="Open Sauce"/>
                  <a:ea typeface="Open Sauce"/>
                  <a:cs typeface="Open Sauce"/>
                  <a:sym typeface="Open Sauce"/>
                </a:rPr>
                <a:t>Pilot Testing</a:t>
              </a:r>
            </a:p>
          </p:txBody>
        </p:sp>
        <p:sp>
          <p:nvSpPr>
            <p:cNvPr name="TextBox 23" id="23"/>
            <p:cNvSpPr txBox="true"/>
            <p:nvPr/>
          </p:nvSpPr>
          <p:spPr>
            <a:xfrm rot="0">
              <a:off x="0" y="705326"/>
              <a:ext cx="2834436" cy="419100"/>
            </a:xfrm>
            <a:prstGeom prst="rect">
              <a:avLst/>
            </a:prstGeom>
          </p:spPr>
          <p:txBody>
            <a:bodyPr anchor="t" rtlCol="false" tIns="0" lIns="0" bIns="0" rIns="0">
              <a:spAutoFit/>
            </a:bodyPr>
            <a:lstStyle/>
            <a:p>
              <a:pPr algn="ctr">
                <a:lnSpc>
                  <a:spcPts val="2475"/>
                </a:lnSpc>
              </a:pPr>
              <a:r>
                <a:rPr lang="en-US" sz="2063" b="true">
                  <a:solidFill>
                    <a:srgbClr val="03045A"/>
                  </a:solidFill>
                  <a:latin typeface="Open Sauce Bold"/>
                  <a:ea typeface="Open Sauce Bold"/>
                  <a:cs typeface="Open Sauce Bold"/>
                  <a:sym typeface="Open Sauce Bold"/>
                </a:rPr>
                <a:t>June 2025</a:t>
              </a:r>
            </a:p>
          </p:txBody>
        </p:sp>
        <p:sp>
          <p:nvSpPr>
            <p:cNvPr name="TextBox 24" id="24"/>
            <p:cNvSpPr txBox="true"/>
            <p:nvPr/>
          </p:nvSpPr>
          <p:spPr>
            <a:xfrm rot="0">
              <a:off x="2774315" y="705326"/>
              <a:ext cx="2834436" cy="419100"/>
            </a:xfrm>
            <a:prstGeom prst="rect">
              <a:avLst/>
            </a:prstGeom>
          </p:spPr>
          <p:txBody>
            <a:bodyPr anchor="t" rtlCol="false" tIns="0" lIns="0" bIns="0" rIns="0">
              <a:spAutoFit/>
            </a:bodyPr>
            <a:lstStyle/>
            <a:p>
              <a:pPr algn="ctr">
                <a:lnSpc>
                  <a:spcPts val="2475"/>
                </a:lnSpc>
              </a:pPr>
              <a:r>
                <a:rPr lang="en-US" sz="2063" b="true">
                  <a:solidFill>
                    <a:srgbClr val="03045A"/>
                  </a:solidFill>
                  <a:latin typeface="Open Sauce Bold"/>
                  <a:ea typeface="Open Sauce Bold"/>
                  <a:cs typeface="Open Sauce Bold"/>
                  <a:sym typeface="Open Sauce Bold"/>
                </a:rPr>
                <a:t>June 2025</a:t>
              </a:r>
            </a:p>
          </p:txBody>
        </p:sp>
      </p:grpSp>
      <p:grpSp>
        <p:nvGrpSpPr>
          <p:cNvPr name="Group 25" id="25"/>
          <p:cNvGrpSpPr/>
          <p:nvPr/>
        </p:nvGrpSpPr>
        <p:grpSpPr>
          <a:xfrm rot="0">
            <a:off x="4550119" y="3958109"/>
            <a:ext cx="2195076" cy="1531218"/>
            <a:chOff x="0" y="0"/>
            <a:chExt cx="2926767" cy="2041625"/>
          </a:xfrm>
        </p:grpSpPr>
        <p:sp>
          <p:nvSpPr>
            <p:cNvPr name="Freeform 26" id="26"/>
            <p:cNvSpPr/>
            <p:nvPr/>
          </p:nvSpPr>
          <p:spPr>
            <a:xfrm flipH="false" flipV="false" rot="0">
              <a:off x="1104054" y="0"/>
              <a:ext cx="626327" cy="626327"/>
            </a:xfrm>
            <a:custGeom>
              <a:avLst/>
              <a:gdLst/>
              <a:ahLst/>
              <a:cxnLst/>
              <a:rect r="r" b="b" t="t" l="l"/>
              <a:pathLst>
                <a:path h="626327" w="626327">
                  <a:moveTo>
                    <a:pt x="0" y="0"/>
                  </a:moveTo>
                  <a:lnTo>
                    <a:pt x="626328" y="0"/>
                  </a:lnTo>
                  <a:lnTo>
                    <a:pt x="626328" y="626327"/>
                  </a:lnTo>
                  <a:lnTo>
                    <a:pt x="0" y="6263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7" id="27"/>
            <p:cNvSpPr txBox="true"/>
            <p:nvPr/>
          </p:nvSpPr>
          <p:spPr>
            <a:xfrm rot="0">
              <a:off x="0" y="1203425"/>
              <a:ext cx="2834436" cy="838200"/>
            </a:xfrm>
            <a:prstGeom prst="rect">
              <a:avLst/>
            </a:prstGeom>
          </p:spPr>
          <p:txBody>
            <a:bodyPr anchor="t" rtlCol="false" tIns="0" lIns="0" bIns="0" rIns="0">
              <a:spAutoFit/>
            </a:bodyPr>
            <a:lstStyle/>
            <a:p>
              <a:pPr algn="ctr">
                <a:lnSpc>
                  <a:spcPts val="2475"/>
                </a:lnSpc>
              </a:pPr>
              <a:r>
                <a:rPr lang="en-US" sz="2063">
                  <a:solidFill>
                    <a:srgbClr val="03045A"/>
                  </a:solidFill>
                  <a:latin typeface="Open Sauce"/>
                  <a:ea typeface="Open Sauce"/>
                  <a:cs typeface="Open Sauce"/>
                  <a:sym typeface="Open Sauce"/>
                </a:rPr>
                <a:t>Prototype Development</a:t>
              </a:r>
            </a:p>
          </p:txBody>
        </p:sp>
        <p:sp>
          <p:nvSpPr>
            <p:cNvPr name="TextBox 28" id="28"/>
            <p:cNvSpPr txBox="true"/>
            <p:nvPr/>
          </p:nvSpPr>
          <p:spPr>
            <a:xfrm rot="0">
              <a:off x="92331" y="730726"/>
              <a:ext cx="2834436" cy="419100"/>
            </a:xfrm>
            <a:prstGeom prst="rect">
              <a:avLst/>
            </a:prstGeom>
          </p:spPr>
          <p:txBody>
            <a:bodyPr anchor="t" rtlCol="false" tIns="0" lIns="0" bIns="0" rIns="0">
              <a:spAutoFit/>
            </a:bodyPr>
            <a:lstStyle/>
            <a:p>
              <a:pPr algn="ctr">
                <a:lnSpc>
                  <a:spcPts val="2475"/>
                </a:lnSpc>
              </a:pPr>
              <a:r>
                <a:rPr lang="en-US" sz="2063" b="true">
                  <a:solidFill>
                    <a:srgbClr val="03045A"/>
                  </a:solidFill>
                  <a:latin typeface="Open Sauce Bold"/>
                  <a:ea typeface="Open Sauce Bold"/>
                  <a:cs typeface="Open Sauce Bold"/>
                  <a:sym typeface="Open Sauce Bold"/>
                </a:rPr>
                <a:t>May 2025</a:t>
              </a:r>
            </a:p>
          </p:txBody>
        </p:sp>
      </p:grpSp>
      <p:sp>
        <p:nvSpPr>
          <p:cNvPr name="Freeform 29" id="29"/>
          <p:cNvSpPr/>
          <p:nvPr/>
        </p:nvSpPr>
        <p:spPr>
          <a:xfrm flipH="false" flipV="false" rot="0">
            <a:off x="538036" y="5822703"/>
            <a:ext cx="7315200" cy="3657600"/>
          </a:xfrm>
          <a:custGeom>
            <a:avLst/>
            <a:gdLst/>
            <a:ahLst/>
            <a:cxnLst/>
            <a:rect r="r" b="b" t="t" l="l"/>
            <a:pathLst>
              <a:path h="3657600" w="7315200">
                <a:moveTo>
                  <a:pt x="0" y="0"/>
                </a:moveTo>
                <a:lnTo>
                  <a:pt x="7315200" y="0"/>
                </a:lnTo>
                <a:lnTo>
                  <a:pt x="7315200" y="3657600"/>
                </a:lnTo>
                <a:lnTo>
                  <a:pt x="0" y="36576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947587" y="985356"/>
            <a:ext cx="4305950" cy="963913"/>
          </a:xfrm>
          <a:prstGeom prst="rect">
            <a:avLst/>
          </a:prstGeom>
        </p:spPr>
        <p:txBody>
          <a:bodyPr anchor="t" rtlCol="false" tIns="0" lIns="0" bIns="0" rIns="0">
            <a:spAutoFit/>
          </a:bodyPr>
          <a:lstStyle/>
          <a:p>
            <a:pPr algn="l">
              <a:lnSpc>
                <a:spcPts val="6960"/>
              </a:lnSpc>
            </a:pPr>
            <a:r>
              <a:rPr lang="en-US" sz="8000" spc="-264" b="true">
                <a:solidFill>
                  <a:srgbClr val="03045A"/>
                </a:solidFill>
                <a:latin typeface="Open Sauce Bold"/>
                <a:ea typeface="Open Sauce Bold"/>
                <a:cs typeface="Open Sauce Bold"/>
                <a:sym typeface="Open Sauce Bold"/>
              </a:rPr>
              <a:t>Our Path </a:t>
            </a:r>
          </a:p>
        </p:txBody>
      </p:sp>
      <p:sp>
        <p:nvSpPr>
          <p:cNvPr name="TextBox 31" id="31"/>
          <p:cNvSpPr txBox="true"/>
          <p:nvPr/>
        </p:nvSpPr>
        <p:spPr>
          <a:xfrm rot="0">
            <a:off x="1194355" y="7019488"/>
            <a:ext cx="11296487" cy="2460556"/>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Prediksa was developed between March and June 2025 as a capstone project for Mathematical Machine Learning course. The project began with identifying the urgent need for early detection of cardiovascular risk in Indonesia. The team designed the system architecture, collected relevant datasets, and built a machine learning-based prototype using ensemble methods. A functional  Minimum Viable Product (MVP) dashboard was also created to visualize individual risk predictions. While still in its early academic phase, Prediksa shows strong potential for real-world application and future collaboration with healthcare and insurance sectors in the future.</a:t>
            </a:r>
          </a:p>
        </p:txBody>
      </p:sp>
      <p:sp>
        <p:nvSpPr>
          <p:cNvPr name="TextBox 32" id="32"/>
          <p:cNvSpPr txBox="true"/>
          <p:nvPr/>
        </p:nvSpPr>
        <p:spPr>
          <a:xfrm rot="0">
            <a:off x="1708300" y="2502653"/>
            <a:ext cx="8640337" cy="845856"/>
          </a:xfrm>
          <a:prstGeom prst="rect">
            <a:avLst/>
          </a:prstGeom>
        </p:spPr>
        <p:txBody>
          <a:bodyPr anchor="t" rtlCol="false" tIns="0" lIns="0" bIns="0" rIns="0">
            <a:spAutoFit/>
          </a:bodyPr>
          <a:lstStyle/>
          <a:p>
            <a:pPr algn="l">
              <a:lnSpc>
                <a:spcPts val="6089"/>
              </a:lnSpc>
            </a:pPr>
            <a:r>
              <a:rPr lang="en-US" sz="6999" spc="-230" b="true">
                <a:solidFill>
                  <a:srgbClr val="2855BF"/>
                </a:solidFill>
                <a:latin typeface="Open Sauce Bold"/>
                <a:ea typeface="Open Sauce Bold"/>
                <a:cs typeface="Open Sauce Bold"/>
                <a:sym typeface="Open Sauce Bold"/>
              </a:rPr>
              <a:t>The Story Behind It</a:t>
            </a:r>
          </a:p>
        </p:txBody>
      </p:sp>
      <p:sp>
        <p:nvSpPr>
          <p:cNvPr name="TextBox 33" id="33"/>
          <p:cNvSpPr txBox="true"/>
          <p:nvPr/>
        </p:nvSpPr>
        <p:spPr>
          <a:xfrm rot="0">
            <a:off x="5253537" y="1583117"/>
            <a:ext cx="1638604" cy="1232926"/>
          </a:xfrm>
          <a:prstGeom prst="rect">
            <a:avLst/>
          </a:prstGeom>
        </p:spPr>
        <p:txBody>
          <a:bodyPr anchor="t" rtlCol="false" tIns="0" lIns="0" bIns="0" rIns="0">
            <a:spAutoFit/>
          </a:bodyPr>
          <a:lstStyle/>
          <a:p>
            <a:pPr algn="l">
              <a:lnSpc>
                <a:spcPts val="8943"/>
              </a:lnSpc>
            </a:pPr>
            <a:r>
              <a:rPr lang="en-US" sz="10279" spc="-339">
                <a:solidFill>
                  <a:srgbClr val="00ADB5"/>
                </a:solidFill>
                <a:latin typeface="Allura"/>
                <a:ea typeface="Allura"/>
                <a:cs typeface="Allura"/>
                <a:sym typeface="Allura"/>
              </a:rPr>
              <a:t>&amp;</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3187611" y="4374193"/>
            <a:ext cx="18382881" cy="19050"/>
          </a:xfrm>
          <a:prstGeom prst="line">
            <a:avLst/>
          </a:prstGeom>
          <a:ln cap="flat" w="38100">
            <a:solidFill>
              <a:srgbClr val="03045A"/>
            </a:solidFill>
            <a:prstDash val="solid"/>
            <a:headEnd type="none" len="sm" w="sm"/>
            <a:tailEnd type="none" len="sm" w="sm"/>
          </a:ln>
        </p:spPr>
      </p:sp>
      <p:sp>
        <p:nvSpPr>
          <p:cNvPr name="Freeform 3" id="3"/>
          <p:cNvSpPr/>
          <p:nvPr/>
        </p:nvSpPr>
        <p:spPr>
          <a:xfrm flipH="false" flipV="false" rot="4774883">
            <a:off x="-3422370" y="1063384"/>
            <a:ext cx="7158598" cy="1163272"/>
          </a:xfrm>
          <a:custGeom>
            <a:avLst/>
            <a:gdLst/>
            <a:ahLst/>
            <a:cxnLst/>
            <a:rect r="r" b="b" t="t" l="l"/>
            <a:pathLst>
              <a:path h="1163272" w="7158598">
                <a:moveTo>
                  <a:pt x="0" y="0"/>
                </a:moveTo>
                <a:lnTo>
                  <a:pt x="7158598" y="0"/>
                </a:lnTo>
                <a:lnTo>
                  <a:pt x="7158598" y="1163272"/>
                </a:lnTo>
                <a:lnTo>
                  <a:pt x="0" y="1163272"/>
                </a:lnTo>
                <a:lnTo>
                  <a:pt x="0" y="0"/>
                </a:lnTo>
                <a:close/>
              </a:path>
            </a:pathLst>
          </a:custGeom>
          <a:blipFill>
            <a:blip r:embed="rId2">
              <a:alphaModFix amt="71000"/>
            </a:blip>
            <a:stretch>
              <a:fillRect l="0" t="0" r="0" b="0"/>
            </a:stretch>
          </a:blipFill>
        </p:spPr>
      </p:sp>
      <p:sp>
        <p:nvSpPr>
          <p:cNvPr name="Freeform 4" id="4"/>
          <p:cNvSpPr/>
          <p:nvPr/>
        </p:nvSpPr>
        <p:spPr>
          <a:xfrm flipH="true" flipV="false" rot="0">
            <a:off x="-4500091" y="-135935"/>
            <a:ext cx="9594066" cy="15568464"/>
          </a:xfrm>
          <a:custGeom>
            <a:avLst/>
            <a:gdLst/>
            <a:ahLst/>
            <a:cxnLst/>
            <a:rect r="r" b="b" t="t" l="l"/>
            <a:pathLst>
              <a:path h="15568464" w="9594066">
                <a:moveTo>
                  <a:pt x="9594066" y="0"/>
                </a:moveTo>
                <a:lnTo>
                  <a:pt x="0" y="0"/>
                </a:lnTo>
                <a:lnTo>
                  <a:pt x="0" y="15568465"/>
                </a:lnTo>
                <a:lnTo>
                  <a:pt x="9594066" y="15568465"/>
                </a:lnTo>
                <a:lnTo>
                  <a:pt x="959406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827184" y="962025"/>
            <a:ext cx="2635104" cy="600155"/>
          </a:xfrm>
          <a:prstGeom prst="rect">
            <a:avLst/>
          </a:prstGeom>
        </p:spPr>
        <p:txBody>
          <a:bodyPr anchor="t" rtlCol="false" tIns="0" lIns="0" bIns="0" rIns="0">
            <a:spAutoFit/>
          </a:bodyPr>
          <a:lstStyle/>
          <a:p>
            <a:pPr algn="r">
              <a:lnSpc>
                <a:spcPts val="4973"/>
              </a:lnSpc>
            </a:pPr>
            <a:r>
              <a:rPr lang="en-US" b="true" sz="3552" spc="-117">
                <a:solidFill>
                  <a:srgbClr val="03045A"/>
                </a:solidFill>
                <a:latin typeface="Open Sauce Heavy"/>
                <a:ea typeface="Open Sauce Heavy"/>
                <a:cs typeface="Open Sauce Heavy"/>
                <a:sym typeface="Open Sauce Heavy"/>
              </a:rPr>
              <a:t>Prediksa</a:t>
            </a:r>
          </a:p>
        </p:txBody>
      </p:sp>
      <p:sp>
        <p:nvSpPr>
          <p:cNvPr name="TextBox 6" id="6"/>
          <p:cNvSpPr txBox="true"/>
          <p:nvPr/>
        </p:nvSpPr>
        <p:spPr>
          <a:xfrm rot="0">
            <a:off x="14828972" y="1497448"/>
            <a:ext cx="1633316" cy="361337"/>
          </a:xfrm>
          <a:prstGeom prst="rect">
            <a:avLst/>
          </a:prstGeom>
        </p:spPr>
        <p:txBody>
          <a:bodyPr anchor="t" rtlCol="false" tIns="0" lIns="0" bIns="0" rIns="0">
            <a:spAutoFit/>
          </a:bodyPr>
          <a:lstStyle/>
          <a:p>
            <a:pPr algn="r">
              <a:lnSpc>
                <a:spcPts val="3082"/>
              </a:lnSpc>
            </a:pPr>
            <a:r>
              <a:rPr lang="en-US" sz="2202" spc="61">
                <a:solidFill>
                  <a:srgbClr val="03045A"/>
                </a:solidFill>
                <a:latin typeface="Open Sauce"/>
                <a:ea typeface="Open Sauce"/>
                <a:cs typeface="Open Sauce"/>
                <a:sym typeface="Open Sauce"/>
              </a:rPr>
              <a:t>Company</a:t>
            </a:r>
          </a:p>
        </p:txBody>
      </p:sp>
      <p:sp>
        <p:nvSpPr>
          <p:cNvPr name="Freeform 7" id="7"/>
          <p:cNvSpPr/>
          <p:nvPr/>
        </p:nvSpPr>
        <p:spPr>
          <a:xfrm flipH="false" flipV="false" rot="0">
            <a:off x="16462288" y="821859"/>
            <a:ext cx="1175610" cy="1175610"/>
          </a:xfrm>
          <a:custGeom>
            <a:avLst/>
            <a:gdLst/>
            <a:ahLst/>
            <a:cxnLst/>
            <a:rect r="r" b="b" t="t" l="l"/>
            <a:pathLst>
              <a:path h="1175610" w="1175610">
                <a:moveTo>
                  <a:pt x="0" y="0"/>
                </a:moveTo>
                <a:lnTo>
                  <a:pt x="1175610" y="0"/>
                </a:lnTo>
                <a:lnTo>
                  <a:pt x="1175610" y="1175610"/>
                </a:lnTo>
                <a:lnTo>
                  <a:pt x="0" y="1175610"/>
                </a:lnTo>
                <a:lnTo>
                  <a:pt x="0" y="0"/>
                </a:lnTo>
                <a:close/>
              </a:path>
            </a:pathLst>
          </a:custGeom>
          <a:blipFill>
            <a:blip r:embed="rId5"/>
            <a:stretch>
              <a:fillRect l="0" t="0" r="0" b="0"/>
            </a:stretch>
          </a:blipFill>
        </p:spPr>
      </p:sp>
      <p:sp>
        <p:nvSpPr>
          <p:cNvPr name="TextBox 8" id="8"/>
          <p:cNvSpPr txBox="true"/>
          <p:nvPr/>
        </p:nvSpPr>
        <p:spPr>
          <a:xfrm rot="0">
            <a:off x="2220690" y="899795"/>
            <a:ext cx="3087335" cy="904490"/>
          </a:xfrm>
          <a:prstGeom prst="rect">
            <a:avLst/>
          </a:prstGeom>
        </p:spPr>
        <p:txBody>
          <a:bodyPr anchor="t" rtlCol="false" tIns="0" lIns="0" bIns="0" rIns="0">
            <a:spAutoFit/>
          </a:bodyPr>
          <a:lstStyle/>
          <a:p>
            <a:pPr algn="l">
              <a:lnSpc>
                <a:spcPts val="6516"/>
              </a:lnSpc>
            </a:pPr>
            <a:r>
              <a:rPr lang="en-US" sz="7489" spc="-247" b="true">
                <a:solidFill>
                  <a:srgbClr val="03045A"/>
                </a:solidFill>
                <a:latin typeface="Open Sauce Bold"/>
                <a:ea typeface="Open Sauce Bold"/>
                <a:cs typeface="Open Sauce Bold"/>
                <a:sym typeface="Open Sauce Bold"/>
              </a:rPr>
              <a:t>Team</a:t>
            </a:r>
          </a:p>
        </p:txBody>
      </p:sp>
      <p:sp>
        <p:nvSpPr>
          <p:cNvPr name="TextBox 9" id="9"/>
          <p:cNvSpPr txBox="true"/>
          <p:nvPr/>
        </p:nvSpPr>
        <p:spPr>
          <a:xfrm rot="0">
            <a:off x="2899579" y="1873620"/>
            <a:ext cx="4388791" cy="904490"/>
          </a:xfrm>
          <a:prstGeom prst="rect">
            <a:avLst/>
          </a:prstGeom>
        </p:spPr>
        <p:txBody>
          <a:bodyPr anchor="t" rtlCol="false" tIns="0" lIns="0" bIns="0" rIns="0">
            <a:spAutoFit/>
          </a:bodyPr>
          <a:lstStyle/>
          <a:p>
            <a:pPr algn="l">
              <a:lnSpc>
                <a:spcPts val="6516"/>
              </a:lnSpc>
            </a:pPr>
            <a:r>
              <a:rPr lang="en-US" sz="7489" spc="-247" b="true">
                <a:solidFill>
                  <a:srgbClr val="2956BF"/>
                </a:solidFill>
                <a:latin typeface="Open Sauce Bold"/>
                <a:ea typeface="Open Sauce Bold"/>
                <a:cs typeface="Open Sauce Bold"/>
                <a:sym typeface="Open Sauce Bold"/>
              </a:rPr>
              <a:t>Members</a:t>
            </a:r>
          </a:p>
        </p:txBody>
      </p:sp>
      <p:grpSp>
        <p:nvGrpSpPr>
          <p:cNvPr name="Group 10" id="10"/>
          <p:cNvGrpSpPr/>
          <p:nvPr/>
        </p:nvGrpSpPr>
        <p:grpSpPr>
          <a:xfrm rot="-229267">
            <a:off x="16741875" y="-1007339"/>
            <a:ext cx="4373544" cy="11595469"/>
            <a:chOff x="0" y="0"/>
            <a:chExt cx="408168" cy="1082166"/>
          </a:xfrm>
        </p:grpSpPr>
        <p:sp>
          <p:nvSpPr>
            <p:cNvPr name="Freeform 11" id="11"/>
            <p:cNvSpPr/>
            <p:nvPr/>
          </p:nvSpPr>
          <p:spPr>
            <a:xfrm flipH="false" flipV="false" rot="0">
              <a:off x="0" y="0"/>
              <a:ext cx="408168" cy="1082166"/>
            </a:xfrm>
            <a:custGeom>
              <a:avLst/>
              <a:gdLst/>
              <a:ahLst/>
              <a:cxnLst/>
              <a:rect r="r" b="b" t="t" l="l"/>
              <a:pathLst>
                <a:path h="1082166" w="408168">
                  <a:moveTo>
                    <a:pt x="203200" y="0"/>
                  </a:moveTo>
                  <a:lnTo>
                    <a:pt x="408168" y="0"/>
                  </a:lnTo>
                  <a:lnTo>
                    <a:pt x="204968" y="1082166"/>
                  </a:lnTo>
                  <a:lnTo>
                    <a:pt x="0" y="1082166"/>
                  </a:lnTo>
                  <a:lnTo>
                    <a:pt x="203200" y="0"/>
                  </a:lnTo>
                  <a:close/>
                </a:path>
              </a:pathLst>
            </a:custGeom>
            <a:solidFill>
              <a:srgbClr val="416BD0"/>
            </a:solidFill>
          </p:spPr>
        </p:sp>
        <p:sp>
          <p:nvSpPr>
            <p:cNvPr name="TextBox 12" id="12"/>
            <p:cNvSpPr txBox="true"/>
            <p:nvPr/>
          </p:nvSpPr>
          <p:spPr>
            <a:xfrm>
              <a:off x="101600" y="-47625"/>
              <a:ext cx="204968" cy="1129791"/>
            </a:xfrm>
            <a:prstGeom prst="rect">
              <a:avLst/>
            </a:prstGeom>
          </p:spPr>
          <p:txBody>
            <a:bodyPr anchor="ctr" rtlCol="false" tIns="50800" lIns="50800" bIns="50800" rIns="50800"/>
            <a:lstStyle/>
            <a:p>
              <a:pPr algn="ctr">
                <a:lnSpc>
                  <a:spcPts val="3303"/>
                </a:lnSpc>
              </a:pPr>
            </a:p>
          </p:txBody>
        </p:sp>
      </p:grpSp>
      <p:sp>
        <p:nvSpPr>
          <p:cNvPr name="Freeform 13" id="13"/>
          <p:cNvSpPr/>
          <p:nvPr/>
        </p:nvSpPr>
        <p:spPr>
          <a:xfrm flipH="false" flipV="false" rot="0">
            <a:off x="15914373" y="7648297"/>
            <a:ext cx="2157139" cy="5277405"/>
          </a:xfrm>
          <a:custGeom>
            <a:avLst/>
            <a:gdLst/>
            <a:ahLst/>
            <a:cxnLst/>
            <a:rect r="r" b="b" t="t" l="l"/>
            <a:pathLst>
              <a:path h="5277405" w="2157139">
                <a:moveTo>
                  <a:pt x="0" y="0"/>
                </a:moveTo>
                <a:lnTo>
                  <a:pt x="2157139" y="0"/>
                </a:lnTo>
                <a:lnTo>
                  <a:pt x="2157139" y="5277406"/>
                </a:lnTo>
                <a:lnTo>
                  <a:pt x="0" y="5277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3699765" y="544158"/>
            <a:ext cx="13350327" cy="7991702"/>
            <a:chOff x="0" y="0"/>
            <a:chExt cx="17800436" cy="10655603"/>
          </a:xfrm>
        </p:grpSpPr>
        <p:sp>
          <p:nvSpPr>
            <p:cNvPr name="Freeform 15" id="15"/>
            <p:cNvSpPr/>
            <p:nvPr/>
          </p:nvSpPr>
          <p:spPr>
            <a:xfrm flipH="false" flipV="false" rot="0">
              <a:off x="2107361" y="4406624"/>
              <a:ext cx="14261683" cy="2477967"/>
            </a:xfrm>
            <a:custGeom>
              <a:avLst/>
              <a:gdLst/>
              <a:ahLst/>
              <a:cxnLst/>
              <a:rect r="r" b="b" t="t" l="l"/>
              <a:pathLst>
                <a:path h="2477967" w="14261683">
                  <a:moveTo>
                    <a:pt x="0" y="0"/>
                  </a:moveTo>
                  <a:lnTo>
                    <a:pt x="14261683" y="0"/>
                  </a:lnTo>
                  <a:lnTo>
                    <a:pt x="14261683" y="2477967"/>
                  </a:lnTo>
                  <a:lnTo>
                    <a:pt x="0" y="24779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7994882" y="1232291"/>
              <a:ext cx="3125706" cy="3116159"/>
              <a:chOff x="0" y="0"/>
              <a:chExt cx="6369454" cy="6350000"/>
            </a:xfrm>
          </p:grpSpPr>
          <p:sp>
            <p:nvSpPr>
              <p:cNvPr name="Freeform 17" id="17"/>
              <p:cNvSpPr/>
              <p:nvPr/>
            </p:nvSpPr>
            <p:spPr>
              <a:xfrm flipH="false" flipV="false" rot="0">
                <a:off x="283410" y="0"/>
                <a:ext cx="5799514" cy="6350000"/>
              </a:xfrm>
              <a:custGeom>
                <a:avLst/>
                <a:gdLst/>
                <a:ahLst/>
                <a:cxnLst/>
                <a:rect r="r" b="b" t="t" l="l"/>
                <a:pathLst>
                  <a:path h="6350000" w="5799514">
                    <a:moveTo>
                      <a:pt x="5714520" y="1029311"/>
                    </a:moveTo>
                    <a:lnTo>
                      <a:pt x="4165571" y="5320689"/>
                    </a:lnTo>
                    <a:cubicBezTo>
                      <a:pt x="3942627" y="5938360"/>
                      <a:pt x="3356413" y="6350000"/>
                      <a:pt x="2699739" y="6350000"/>
                    </a:cubicBezTo>
                    <a:lnTo>
                      <a:pt x="810899" y="6350000"/>
                    </a:lnTo>
                    <a:cubicBezTo>
                      <a:pt x="560067" y="6350000"/>
                      <a:pt x="324893" y="6228054"/>
                      <a:pt x="180365" y="6023046"/>
                    </a:cubicBezTo>
                    <a:cubicBezTo>
                      <a:pt x="35837" y="5818037"/>
                      <a:pt x="0" y="5555562"/>
                      <a:pt x="84280" y="5319313"/>
                    </a:cubicBezTo>
                    <a:lnTo>
                      <a:pt x="1614217" y="1030687"/>
                    </a:lnTo>
                    <a:cubicBezTo>
                      <a:pt x="1834702" y="412636"/>
                      <a:pt x="2420014" y="0"/>
                      <a:pt x="3076216" y="0"/>
                    </a:cubicBezTo>
                    <a:lnTo>
                      <a:pt x="4991735" y="0"/>
                    </a:lnTo>
                    <a:cubicBezTo>
                      <a:pt x="5242083" y="0"/>
                      <a:pt x="5476736" y="121953"/>
                      <a:pt x="5620603" y="326834"/>
                    </a:cubicBezTo>
                    <a:cubicBezTo>
                      <a:pt x="5764470" y="531714"/>
                      <a:pt x="5799514" y="793833"/>
                      <a:pt x="5714520" y="1029311"/>
                    </a:cubicBezTo>
                    <a:close/>
                  </a:path>
                </a:pathLst>
              </a:custGeom>
              <a:solidFill>
                <a:srgbClr val="2956BF"/>
              </a:solidFill>
              <a:ln w="12700">
                <a:solidFill>
                  <a:srgbClr val="000000"/>
                </a:solidFill>
              </a:ln>
            </p:spPr>
          </p:sp>
        </p:grpSp>
        <p:sp>
          <p:nvSpPr>
            <p:cNvPr name="Freeform 18" id="18"/>
            <p:cNvSpPr/>
            <p:nvPr/>
          </p:nvSpPr>
          <p:spPr>
            <a:xfrm flipH="false" flipV="false" rot="180000">
              <a:off x="10224837" y="6761969"/>
              <a:ext cx="2211149" cy="2620414"/>
            </a:xfrm>
            <a:custGeom>
              <a:avLst/>
              <a:gdLst/>
              <a:ahLst/>
              <a:cxnLst/>
              <a:rect r="r" b="b" t="t" l="l"/>
              <a:pathLst>
                <a:path h="2620414" w="2211149">
                  <a:moveTo>
                    <a:pt x="0" y="108984"/>
                  </a:moveTo>
                  <a:lnTo>
                    <a:pt x="2079531" y="0"/>
                  </a:lnTo>
                  <a:lnTo>
                    <a:pt x="2211150" y="2511431"/>
                  </a:lnTo>
                  <a:lnTo>
                    <a:pt x="131619" y="2620414"/>
                  </a:lnTo>
                  <a:lnTo>
                    <a:pt x="0" y="108984"/>
                  </a:lnTo>
                  <a:close/>
                </a:path>
              </a:pathLst>
            </a:custGeom>
            <a:blipFill>
              <a:blip r:embed="rId10"/>
              <a:stretch>
                <a:fillRect l="-49559" t="-134759" r="-57120" b="-75285"/>
              </a:stretch>
            </a:blipFill>
          </p:spPr>
        </p:sp>
        <p:grpSp>
          <p:nvGrpSpPr>
            <p:cNvPr name="Group 19" id="19"/>
            <p:cNvGrpSpPr/>
            <p:nvPr/>
          </p:nvGrpSpPr>
          <p:grpSpPr>
            <a:xfrm rot="0">
              <a:off x="895950" y="6306507"/>
              <a:ext cx="3125706" cy="3116159"/>
              <a:chOff x="0" y="0"/>
              <a:chExt cx="6369454" cy="6350000"/>
            </a:xfrm>
          </p:grpSpPr>
          <p:sp>
            <p:nvSpPr>
              <p:cNvPr name="Freeform 20" id="20"/>
              <p:cNvSpPr/>
              <p:nvPr/>
            </p:nvSpPr>
            <p:spPr>
              <a:xfrm flipH="false" flipV="false" rot="0">
                <a:off x="283410" y="0"/>
                <a:ext cx="5799514" cy="6350000"/>
              </a:xfrm>
              <a:custGeom>
                <a:avLst/>
                <a:gdLst/>
                <a:ahLst/>
                <a:cxnLst/>
                <a:rect r="r" b="b" t="t" l="l"/>
                <a:pathLst>
                  <a:path h="6350000" w="5799514">
                    <a:moveTo>
                      <a:pt x="5714520" y="1029311"/>
                    </a:moveTo>
                    <a:lnTo>
                      <a:pt x="4165571" y="5320689"/>
                    </a:lnTo>
                    <a:cubicBezTo>
                      <a:pt x="3942627" y="5938360"/>
                      <a:pt x="3356413" y="6350000"/>
                      <a:pt x="2699739" y="6350000"/>
                    </a:cubicBezTo>
                    <a:lnTo>
                      <a:pt x="810899" y="6350000"/>
                    </a:lnTo>
                    <a:cubicBezTo>
                      <a:pt x="560067" y="6350000"/>
                      <a:pt x="324893" y="6228054"/>
                      <a:pt x="180365" y="6023046"/>
                    </a:cubicBezTo>
                    <a:cubicBezTo>
                      <a:pt x="35837" y="5818037"/>
                      <a:pt x="0" y="5555562"/>
                      <a:pt x="84280" y="5319313"/>
                    </a:cubicBezTo>
                    <a:lnTo>
                      <a:pt x="1614217" y="1030687"/>
                    </a:lnTo>
                    <a:cubicBezTo>
                      <a:pt x="1834702" y="412636"/>
                      <a:pt x="2420014" y="0"/>
                      <a:pt x="3076216" y="0"/>
                    </a:cubicBezTo>
                    <a:lnTo>
                      <a:pt x="4991735" y="0"/>
                    </a:lnTo>
                    <a:cubicBezTo>
                      <a:pt x="5242083" y="0"/>
                      <a:pt x="5476736" y="121953"/>
                      <a:pt x="5620603" y="326834"/>
                    </a:cubicBezTo>
                    <a:cubicBezTo>
                      <a:pt x="5764470" y="531714"/>
                      <a:pt x="5799514" y="793833"/>
                      <a:pt x="5714520" y="1029311"/>
                    </a:cubicBezTo>
                    <a:close/>
                  </a:path>
                </a:pathLst>
              </a:custGeom>
              <a:solidFill>
                <a:srgbClr val="2956BF"/>
              </a:solidFill>
              <a:ln w="12700">
                <a:solidFill>
                  <a:srgbClr val="000000"/>
                </a:solidFill>
              </a:ln>
            </p:spPr>
          </p:sp>
        </p:grpSp>
        <p:grpSp>
          <p:nvGrpSpPr>
            <p:cNvPr name="Group 21" id="21"/>
            <p:cNvGrpSpPr/>
            <p:nvPr/>
          </p:nvGrpSpPr>
          <p:grpSpPr>
            <a:xfrm rot="0">
              <a:off x="76200" y="5074217"/>
              <a:ext cx="4405541" cy="4392085"/>
              <a:chOff x="0" y="0"/>
              <a:chExt cx="6369454" cy="6350000"/>
            </a:xfrm>
          </p:grpSpPr>
          <p:sp>
            <p:nvSpPr>
              <p:cNvPr name="Freeform 22" id="22"/>
              <p:cNvSpPr/>
              <p:nvPr/>
            </p:nvSpPr>
            <p:spPr>
              <a:xfrm flipH="false" flipV="false" rot="240000">
                <a:off x="390502" y="-172727"/>
                <a:ext cx="5586207" cy="6695328"/>
              </a:xfrm>
              <a:custGeom>
                <a:avLst/>
                <a:gdLst/>
                <a:ahLst/>
                <a:cxnLst/>
                <a:rect r="r" b="b" t="t" l="l"/>
                <a:pathLst>
                  <a:path h="6695328" w="5586207">
                    <a:moveTo>
                      <a:pt x="5537705" y="705129"/>
                    </a:moveTo>
                    <a:lnTo>
                      <a:pt x="4118264" y="5705745"/>
                    </a:lnTo>
                    <a:cubicBezTo>
                      <a:pt x="3991041" y="6153945"/>
                      <a:pt x="3596512" y="6474303"/>
                      <a:pt x="3131740" y="6506803"/>
                    </a:cubicBezTo>
                    <a:lnTo>
                      <a:pt x="613244" y="6682914"/>
                    </a:lnTo>
                    <a:cubicBezTo>
                      <a:pt x="435714" y="6695328"/>
                      <a:pt x="263231" y="6620658"/>
                      <a:pt x="150793" y="6482713"/>
                    </a:cubicBezTo>
                    <a:cubicBezTo>
                      <a:pt x="38355" y="6344767"/>
                      <a:pt x="0" y="6160770"/>
                      <a:pt x="47958" y="5989390"/>
                    </a:cubicBezTo>
                    <a:lnTo>
                      <a:pt x="1446347" y="992203"/>
                    </a:lnTo>
                    <a:cubicBezTo>
                      <a:pt x="1571811" y="543856"/>
                      <a:pt x="1965652" y="222838"/>
                      <a:pt x="2430090" y="190361"/>
                    </a:cubicBezTo>
                    <a:lnTo>
                      <a:pt x="4975200" y="12390"/>
                    </a:lnTo>
                    <a:cubicBezTo>
                      <a:pt x="5152387" y="0"/>
                      <a:pt x="5324503" y="74701"/>
                      <a:pt x="5436467" y="212588"/>
                    </a:cubicBezTo>
                    <a:cubicBezTo>
                      <a:pt x="5548431" y="350475"/>
                      <a:pt x="5586207" y="534260"/>
                      <a:pt x="5537705" y="705129"/>
                    </a:cubicBezTo>
                    <a:close/>
                  </a:path>
                </a:pathLst>
              </a:custGeom>
              <a:blipFill>
                <a:blip r:embed="rId11"/>
                <a:stretch>
                  <a:fillRect l="-71715" t="-67657" r="-78523" b="-108871"/>
                </a:stretch>
              </a:blipFill>
            </p:spPr>
          </p:sp>
        </p:grpSp>
        <p:grpSp>
          <p:nvGrpSpPr>
            <p:cNvPr name="Group 23" id="23"/>
            <p:cNvGrpSpPr/>
            <p:nvPr/>
          </p:nvGrpSpPr>
          <p:grpSpPr>
            <a:xfrm rot="0">
              <a:off x="0" y="8811267"/>
              <a:ext cx="4076754" cy="866848"/>
              <a:chOff x="0" y="0"/>
              <a:chExt cx="3068733" cy="652511"/>
            </a:xfrm>
          </p:grpSpPr>
          <p:sp>
            <p:nvSpPr>
              <p:cNvPr name="Freeform 24" id="24"/>
              <p:cNvSpPr/>
              <p:nvPr/>
            </p:nvSpPr>
            <p:spPr>
              <a:xfrm flipH="false" flipV="false" rot="0">
                <a:off x="12687" y="0"/>
                <a:ext cx="3043358" cy="652511"/>
              </a:xfrm>
              <a:custGeom>
                <a:avLst/>
                <a:gdLst/>
                <a:ahLst/>
                <a:cxnLst/>
                <a:rect r="r" b="b" t="t" l="l"/>
                <a:pathLst>
                  <a:path h="652511" w="3043358">
                    <a:moveTo>
                      <a:pt x="246218" y="0"/>
                    </a:moveTo>
                    <a:lnTo>
                      <a:pt x="3000340" y="0"/>
                    </a:lnTo>
                    <a:cubicBezTo>
                      <a:pt x="3013375" y="0"/>
                      <a:pt x="3025633" y="6198"/>
                      <a:pt x="3033359" y="16696"/>
                    </a:cubicBezTo>
                    <a:cubicBezTo>
                      <a:pt x="3041085" y="27194"/>
                      <a:pt x="3043358" y="40741"/>
                      <a:pt x="3039483" y="53186"/>
                    </a:cubicBezTo>
                    <a:lnTo>
                      <a:pt x="2869408" y="599325"/>
                    </a:lnTo>
                    <a:cubicBezTo>
                      <a:pt x="2859557" y="630960"/>
                      <a:pt x="2830274" y="652511"/>
                      <a:pt x="2797140" y="652511"/>
                    </a:cubicBezTo>
                    <a:lnTo>
                      <a:pt x="43018" y="652511"/>
                    </a:lnTo>
                    <a:cubicBezTo>
                      <a:pt x="29984" y="652511"/>
                      <a:pt x="17726" y="646312"/>
                      <a:pt x="10000" y="635814"/>
                    </a:cubicBezTo>
                    <a:cubicBezTo>
                      <a:pt x="2274" y="625316"/>
                      <a:pt x="0" y="611770"/>
                      <a:pt x="3876" y="599325"/>
                    </a:cubicBezTo>
                    <a:lnTo>
                      <a:pt x="173950" y="53186"/>
                    </a:lnTo>
                    <a:cubicBezTo>
                      <a:pt x="183802" y="21551"/>
                      <a:pt x="213084" y="0"/>
                      <a:pt x="246218" y="0"/>
                    </a:cubicBezTo>
                    <a:close/>
                  </a:path>
                </a:pathLst>
              </a:custGeom>
              <a:solidFill>
                <a:srgbClr val="2956BF"/>
              </a:solidFill>
              <a:ln cap="rnd">
                <a:noFill/>
                <a:prstDash val="solid"/>
                <a:round/>
              </a:ln>
            </p:spPr>
          </p:sp>
          <p:sp>
            <p:nvSpPr>
              <p:cNvPr name="TextBox 25" id="25"/>
              <p:cNvSpPr txBox="true"/>
              <p:nvPr/>
            </p:nvSpPr>
            <p:spPr>
              <a:xfrm>
                <a:off x="101600" y="-47625"/>
                <a:ext cx="2865533" cy="700136"/>
              </a:xfrm>
              <a:prstGeom prst="rect">
                <a:avLst/>
              </a:prstGeom>
            </p:spPr>
            <p:txBody>
              <a:bodyPr anchor="ctr" rtlCol="false" tIns="50800" lIns="50800" bIns="50800" rIns="50800"/>
              <a:lstStyle/>
              <a:p>
                <a:pPr algn="ctr">
                  <a:lnSpc>
                    <a:spcPts val="3432"/>
                  </a:lnSpc>
                </a:pPr>
              </a:p>
            </p:txBody>
          </p:sp>
        </p:grpSp>
        <p:grpSp>
          <p:nvGrpSpPr>
            <p:cNvPr name="Group 26" id="26"/>
            <p:cNvGrpSpPr/>
            <p:nvPr/>
          </p:nvGrpSpPr>
          <p:grpSpPr>
            <a:xfrm rot="0">
              <a:off x="5249751" y="6306507"/>
              <a:ext cx="3125706" cy="3116159"/>
              <a:chOff x="0" y="0"/>
              <a:chExt cx="6369454" cy="6350000"/>
            </a:xfrm>
          </p:grpSpPr>
          <p:sp>
            <p:nvSpPr>
              <p:cNvPr name="Freeform 27" id="27"/>
              <p:cNvSpPr/>
              <p:nvPr/>
            </p:nvSpPr>
            <p:spPr>
              <a:xfrm flipH="false" flipV="false" rot="0">
                <a:off x="283410" y="0"/>
                <a:ext cx="5799514" cy="6350000"/>
              </a:xfrm>
              <a:custGeom>
                <a:avLst/>
                <a:gdLst/>
                <a:ahLst/>
                <a:cxnLst/>
                <a:rect r="r" b="b" t="t" l="l"/>
                <a:pathLst>
                  <a:path h="6350000" w="5799514">
                    <a:moveTo>
                      <a:pt x="5714520" y="1029311"/>
                    </a:moveTo>
                    <a:lnTo>
                      <a:pt x="4165571" y="5320689"/>
                    </a:lnTo>
                    <a:cubicBezTo>
                      <a:pt x="3942627" y="5938360"/>
                      <a:pt x="3356413" y="6350000"/>
                      <a:pt x="2699739" y="6350000"/>
                    </a:cubicBezTo>
                    <a:lnTo>
                      <a:pt x="810899" y="6350000"/>
                    </a:lnTo>
                    <a:cubicBezTo>
                      <a:pt x="560067" y="6350000"/>
                      <a:pt x="324893" y="6228054"/>
                      <a:pt x="180365" y="6023046"/>
                    </a:cubicBezTo>
                    <a:cubicBezTo>
                      <a:pt x="35837" y="5818037"/>
                      <a:pt x="0" y="5555562"/>
                      <a:pt x="84280" y="5319313"/>
                    </a:cubicBezTo>
                    <a:lnTo>
                      <a:pt x="1614217" y="1030687"/>
                    </a:lnTo>
                    <a:cubicBezTo>
                      <a:pt x="1834702" y="412636"/>
                      <a:pt x="2420014" y="0"/>
                      <a:pt x="3076216" y="0"/>
                    </a:cubicBezTo>
                    <a:lnTo>
                      <a:pt x="4991735" y="0"/>
                    </a:lnTo>
                    <a:cubicBezTo>
                      <a:pt x="5242083" y="0"/>
                      <a:pt x="5476736" y="121953"/>
                      <a:pt x="5620603" y="326834"/>
                    </a:cubicBezTo>
                    <a:cubicBezTo>
                      <a:pt x="5764470" y="531714"/>
                      <a:pt x="5799514" y="793833"/>
                      <a:pt x="5714520" y="1029311"/>
                    </a:cubicBezTo>
                    <a:close/>
                  </a:path>
                </a:pathLst>
              </a:custGeom>
              <a:solidFill>
                <a:srgbClr val="2956BF"/>
              </a:solidFill>
              <a:ln w="12700">
                <a:solidFill>
                  <a:srgbClr val="000000"/>
                </a:solidFill>
              </a:ln>
            </p:spPr>
          </p:sp>
        </p:grpSp>
        <p:grpSp>
          <p:nvGrpSpPr>
            <p:cNvPr name="Group 28" id="28"/>
            <p:cNvGrpSpPr/>
            <p:nvPr/>
          </p:nvGrpSpPr>
          <p:grpSpPr>
            <a:xfrm rot="0">
              <a:off x="4366501" y="5074217"/>
              <a:ext cx="4405541" cy="4392085"/>
              <a:chOff x="0" y="0"/>
              <a:chExt cx="6369454" cy="6350000"/>
            </a:xfrm>
          </p:grpSpPr>
          <p:sp>
            <p:nvSpPr>
              <p:cNvPr name="Freeform 29" id="29"/>
              <p:cNvSpPr/>
              <p:nvPr/>
            </p:nvSpPr>
            <p:spPr>
              <a:xfrm flipH="false" flipV="false" rot="300000">
                <a:off x="440022" y="-213392"/>
                <a:ext cx="5487160" cy="6776626"/>
              </a:xfrm>
              <a:custGeom>
                <a:avLst/>
                <a:gdLst/>
                <a:ahLst/>
                <a:cxnLst/>
                <a:rect r="r" b="b" t="t" l="l"/>
                <a:pathLst>
                  <a:path h="6776626" w="5487160">
                    <a:moveTo>
                      <a:pt x="5441647" y="698298"/>
                    </a:moveTo>
                    <a:lnTo>
                      <a:pt x="4109696" y="5722924"/>
                    </a:lnTo>
                    <a:cubicBezTo>
                      <a:pt x="3990314" y="6173277"/>
                      <a:pt x="3601436" y="6500471"/>
                      <a:pt x="3137302" y="6541078"/>
                    </a:cubicBezTo>
                    <a:lnTo>
                      <a:pt x="622263" y="6761115"/>
                    </a:lnTo>
                    <a:cubicBezTo>
                      <a:pt x="444977" y="6776626"/>
                      <a:pt x="271217" y="6704977"/>
                      <a:pt x="156388" y="6569015"/>
                    </a:cubicBezTo>
                    <a:cubicBezTo>
                      <a:pt x="41560" y="6433054"/>
                      <a:pt x="0" y="6249754"/>
                      <a:pt x="44960" y="6077563"/>
                    </a:cubicBezTo>
                    <a:lnTo>
                      <a:pt x="1355923" y="1056732"/>
                    </a:lnTo>
                    <a:cubicBezTo>
                      <a:pt x="1473542" y="606263"/>
                      <a:pt x="1861722" y="278421"/>
                      <a:pt x="2325521" y="237843"/>
                    </a:cubicBezTo>
                    <a:lnTo>
                      <a:pt x="4867138" y="15481"/>
                    </a:lnTo>
                    <a:cubicBezTo>
                      <a:pt x="5044082" y="0"/>
                      <a:pt x="5217475" y="71686"/>
                      <a:pt x="5331829" y="207598"/>
                    </a:cubicBezTo>
                    <a:cubicBezTo>
                      <a:pt x="5446182" y="343510"/>
                      <a:pt x="5487160" y="526608"/>
                      <a:pt x="5441647" y="698298"/>
                    </a:cubicBezTo>
                    <a:close/>
                  </a:path>
                </a:pathLst>
              </a:custGeom>
              <a:blipFill>
                <a:blip r:embed="rId12"/>
                <a:stretch>
                  <a:fillRect l="-54099" t="-5362" r="-59967" b="-9428"/>
                </a:stretch>
              </a:blipFill>
            </p:spPr>
          </p:sp>
        </p:grpSp>
        <p:grpSp>
          <p:nvGrpSpPr>
            <p:cNvPr name="Group 30" id="30"/>
            <p:cNvGrpSpPr/>
            <p:nvPr/>
          </p:nvGrpSpPr>
          <p:grpSpPr>
            <a:xfrm rot="0">
              <a:off x="4366501" y="8811267"/>
              <a:ext cx="4076754" cy="904948"/>
              <a:chOff x="0" y="0"/>
              <a:chExt cx="3068733" cy="681190"/>
            </a:xfrm>
          </p:grpSpPr>
          <p:sp>
            <p:nvSpPr>
              <p:cNvPr name="Freeform 31" id="31"/>
              <p:cNvSpPr/>
              <p:nvPr/>
            </p:nvSpPr>
            <p:spPr>
              <a:xfrm flipH="false" flipV="false" rot="0">
                <a:off x="12176" y="0"/>
                <a:ext cx="3044381" cy="681190"/>
              </a:xfrm>
              <a:custGeom>
                <a:avLst/>
                <a:gdLst/>
                <a:ahLst/>
                <a:cxnLst/>
                <a:rect r="r" b="b" t="t" l="l"/>
                <a:pathLst>
                  <a:path h="681190" w="3044381">
                    <a:moveTo>
                      <a:pt x="246729" y="0"/>
                    </a:moveTo>
                    <a:lnTo>
                      <a:pt x="3000851" y="0"/>
                    </a:lnTo>
                    <a:cubicBezTo>
                      <a:pt x="3013963" y="0"/>
                      <a:pt x="3026303" y="6194"/>
                      <a:pt x="3034138" y="16707"/>
                    </a:cubicBezTo>
                    <a:cubicBezTo>
                      <a:pt x="3041973" y="27220"/>
                      <a:pt x="3044381" y="40816"/>
                      <a:pt x="3040633" y="53381"/>
                    </a:cubicBezTo>
                    <a:lnTo>
                      <a:pt x="2869280" y="627809"/>
                    </a:lnTo>
                    <a:cubicBezTo>
                      <a:pt x="2859832" y="659482"/>
                      <a:pt x="2830704" y="681190"/>
                      <a:pt x="2797651" y="681190"/>
                    </a:cubicBezTo>
                    <a:lnTo>
                      <a:pt x="43529" y="681190"/>
                    </a:lnTo>
                    <a:cubicBezTo>
                      <a:pt x="30418" y="681190"/>
                      <a:pt x="18077" y="674996"/>
                      <a:pt x="10242" y="664483"/>
                    </a:cubicBezTo>
                    <a:cubicBezTo>
                      <a:pt x="2407" y="653970"/>
                      <a:pt x="0" y="640373"/>
                      <a:pt x="3748" y="627809"/>
                    </a:cubicBezTo>
                    <a:lnTo>
                      <a:pt x="175100" y="53381"/>
                    </a:lnTo>
                    <a:cubicBezTo>
                      <a:pt x="184549" y="21708"/>
                      <a:pt x="213677" y="0"/>
                      <a:pt x="246729" y="0"/>
                    </a:cubicBezTo>
                    <a:close/>
                  </a:path>
                </a:pathLst>
              </a:custGeom>
              <a:solidFill>
                <a:srgbClr val="2956BF"/>
              </a:solidFill>
              <a:ln cap="rnd">
                <a:noFill/>
                <a:prstDash val="solid"/>
                <a:round/>
              </a:ln>
            </p:spPr>
          </p:sp>
          <p:sp>
            <p:nvSpPr>
              <p:cNvPr name="TextBox 32" id="32"/>
              <p:cNvSpPr txBox="true"/>
              <p:nvPr/>
            </p:nvSpPr>
            <p:spPr>
              <a:xfrm>
                <a:off x="101600" y="-47625"/>
                <a:ext cx="2865533" cy="728815"/>
              </a:xfrm>
              <a:prstGeom prst="rect">
                <a:avLst/>
              </a:prstGeom>
            </p:spPr>
            <p:txBody>
              <a:bodyPr anchor="ctr" rtlCol="false" tIns="50800" lIns="50800" bIns="50800" rIns="50800"/>
              <a:lstStyle/>
              <a:p>
                <a:pPr algn="ctr">
                  <a:lnSpc>
                    <a:spcPts val="3432"/>
                  </a:lnSpc>
                </a:pPr>
              </a:p>
            </p:txBody>
          </p:sp>
        </p:grpSp>
        <p:grpSp>
          <p:nvGrpSpPr>
            <p:cNvPr name="Group 33" id="33"/>
            <p:cNvGrpSpPr/>
            <p:nvPr/>
          </p:nvGrpSpPr>
          <p:grpSpPr>
            <a:xfrm rot="0">
              <a:off x="9878769" y="6350142"/>
              <a:ext cx="3125706" cy="3116159"/>
              <a:chOff x="0" y="0"/>
              <a:chExt cx="6369454" cy="6350000"/>
            </a:xfrm>
          </p:grpSpPr>
          <p:sp>
            <p:nvSpPr>
              <p:cNvPr name="Freeform 34" id="34"/>
              <p:cNvSpPr/>
              <p:nvPr/>
            </p:nvSpPr>
            <p:spPr>
              <a:xfrm flipH="false" flipV="false" rot="0">
                <a:off x="283410" y="0"/>
                <a:ext cx="5799514" cy="6350000"/>
              </a:xfrm>
              <a:custGeom>
                <a:avLst/>
                <a:gdLst/>
                <a:ahLst/>
                <a:cxnLst/>
                <a:rect r="r" b="b" t="t" l="l"/>
                <a:pathLst>
                  <a:path h="6350000" w="5799514">
                    <a:moveTo>
                      <a:pt x="5714520" y="1029311"/>
                    </a:moveTo>
                    <a:lnTo>
                      <a:pt x="4165571" y="5320689"/>
                    </a:lnTo>
                    <a:cubicBezTo>
                      <a:pt x="3942627" y="5938360"/>
                      <a:pt x="3356413" y="6350000"/>
                      <a:pt x="2699739" y="6350000"/>
                    </a:cubicBezTo>
                    <a:lnTo>
                      <a:pt x="810899" y="6350000"/>
                    </a:lnTo>
                    <a:cubicBezTo>
                      <a:pt x="560067" y="6350000"/>
                      <a:pt x="324893" y="6228054"/>
                      <a:pt x="180365" y="6023046"/>
                    </a:cubicBezTo>
                    <a:cubicBezTo>
                      <a:pt x="35837" y="5818037"/>
                      <a:pt x="0" y="5555562"/>
                      <a:pt x="84280" y="5319313"/>
                    </a:cubicBezTo>
                    <a:lnTo>
                      <a:pt x="1614217" y="1030687"/>
                    </a:lnTo>
                    <a:cubicBezTo>
                      <a:pt x="1834702" y="412636"/>
                      <a:pt x="2420014" y="0"/>
                      <a:pt x="3076216" y="0"/>
                    </a:cubicBezTo>
                    <a:lnTo>
                      <a:pt x="4991735" y="0"/>
                    </a:lnTo>
                    <a:cubicBezTo>
                      <a:pt x="5242083" y="0"/>
                      <a:pt x="5476736" y="121953"/>
                      <a:pt x="5620603" y="326834"/>
                    </a:cubicBezTo>
                    <a:cubicBezTo>
                      <a:pt x="5764470" y="531714"/>
                      <a:pt x="5799514" y="793833"/>
                      <a:pt x="5714520" y="1029311"/>
                    </a:cubicBezTo>
                    <a:close/>
                  </a:path>
                </a:pathLst>
              </a:custGeom>
              <a:solidFill>
                <a:srgbClr val="2956BF"/>
              </a:solidFill>
              <a:ln w="12700">
                <a:solidFill>
                  <a:srgbClr val="000000"/>
                </a:solidFill>
              </a:ln>
            </p:spPr>
          </p:sp>
        </p:grpSp>
        <p:grpSp>
          <p:nvGrpSpPr>
            <p:cNvPr name="Group 35" id="35"/>
            <p:cNvGrpSpPr/>
            <p:nvPr/>
          </p:nvGrpSpPr>
          <p:grpSpPr>
            <a:xfrm rot="0">
              <a:off x="9127642" y="4908698"/>
              <a:ext cx="4405541" cy="4433617"/>
              <a:chOff x="0" y="0"/>
              <a:chExt cx="6369454" cy="6410046"/>
            </a:xfrm>
          </p:grpSpPr>
          <p:sp>
            <p:nvSpPr>
              <p:cNvPr name="Freeform 36" id="36"/>
              <p:cNvSpPr/>
              <p:nvPr/>
            </p:nvSpPr>
            <p:spPr>
              <a:xfrm flipH="false" flipV="false" rot="180000">
                <a:off x="341624" y="-131016"/>
                <a:ext cx="5683986" cy="6671983"/>
              </a:xfrm>
              <a:custGeom>
                <a:avLst/>
                <a:gdLst/>
                <a:ahLst/>
                <a:cxnLst/>
                <a:rect r="r" b="b" t="t" l="l"/>
                <a:pathLst>
                  <a:path h="6671983" w="5683986">
                    <a:moveTo>
                      <a:pt x="5632940" y="712432"/>
                    </a:moveTo>
                    <a:lnTo>
                      <a:pt x="4125133" y="5746136"/>
                    </a:lnTo>
                    <a:cubicBezTo>
                      <a:pt x="3991520" y="6192191"/>
                      <a:pt x="3592004" y="6506155"/>
                      <a:pt x="3127005" y="6530525"/>
                    </a:cubicBezTo>
                    <a:lnTo>
                      <a:pt x="605819" y="6662655"/>
                    </a:lnTo>
                    <a:cubicBezTo>
                      <a:pt x="427825" y="6671983"/>
                      <a:pt x="256379" y="6594335"/>
                      <a:pt x="145988" y="6454396"/>
                    </a:cubicBezTo>
                    <a:cubicBezTo>
                      <a:pt x="35598" y="6314459"/>
                      <a:pt x="0" y="6129645"/>
                      <a:pt x="50513" y="5958715"/>
                    </a:cubicBezTo>
                    <a:lnTo>
                      <a:pt x="1537177" y="928044"/>
                    </a:lnTo>
                    <a:cubicBezTo>
                      <a:pt x="1669046" y="481818"/>
                      <a:pt x="2067890" y="167188"/>
                      <a:pt x="2532555" y="142836"/>
                    </a:cubicBezTo>
                    <a:lnTo>
                      <a:pt x="5080384" y="9310"/>
                    </a:lnTo>
                    <a:cubicBezTo>
                      <a:pt x="5258037" y="0"/>
                      <a:pt x="5429119" y="77674"/>
                      <a:pt x="5539040" y="217547"/>
                    </a:cubicBezTo>
                    <a:cubicBezTo>
                      <a:pt x="5648961" y="357421"/>
                      <a:pt x="5683986" y="542016"/>
                      <a:pt x="5632940" y="712432"/>
                    </a:cubicBezTo>
                    <a:close/>
                  </a:path>
                </a:pathLst>
              </a:custGeom>
              <a:blipFill>
                <a:blip r:embed="rId10"/>
                <a:stretch>
                  <a:fillRect l="-48891" t="-109280" r="-49968" b="-89695"/>
                </a:stretch>
              </a:blipFill>
            </p:spPr>
          </p:sp>
        </p:grpSp>
        <p:grpSp>
          <p:nvGrpSpPr>
            <p:cNvPr name="Group 37" id="37"/>
            <p:cNvGrpSpPr/>
            <p:nvPr/>
          </p:nvGrpSpPr>
          <p:grpSpPr>
            <a:xfrm rot="0">
              <a:off x="9148971" y="8811267"/>
              <a:ext cx="4076754" cy="904948"/>
              <a:chOff x="0" y="0"/>
              <a:chExt cx="3068733" cy="681190"/>
            </a:xfrm>
          </p:grpSpPr>
          <p:sp>
            <p:nvSpPr>
              <p:cNvPr name="Freeform 38" id="38"/>
              <p:cNvSpPr/>
              <p:nvPr/>
            </p:nvSpPr>
            <p:spPr>
              <a:xfrm flipH="false" flipV="false" rot="0">
                <a:off x="12176" y="0"/>
                <a:ext cx="3044381" cy="681190"/>
              </a:xfrm>
              <a:custGeom>
                <a:avLst/>
                <a:gdLst/>
                <a:ahLst/>
                <a:cxnLst/>
                <a:rect r="r" b="b" t="t" l="l"/>
                <a:pathLst>
                  <a:path h="681190" w="3044381">
                    <a:moveTo>
                      <a:pt x="246729" y="0"/>
                    </a:moveTo>
                    <a:lnTo>
                      <a:pt x="3000851" y="0"/>
                    </a:lnTo>
                    <a:cubicBezTo>
                      <a:pt x="3013963" y="0"/>
                      <a:pt x="3026303" y="6194"/>
                      <a:pt x="3034138" y="16707"/>
                    </a:cubicBezTo>
                    <a:cubicBezTo>
                      <a:pt x="3041973" y="27220"/>
                      <a:pt x="3044381" y="40816"/>
                      <a:pt x="3040633" y="53381"/>
                    </a:cubicBezTo>
                    <a:lnTo>
                      <a:pt x="2869280" y="627809"/>
                    </a:lnTo>
                    <a:cubicBezTo>
                      <a:pt x="2859832" y="659482"/>
                      <a:pt x="2830704" y="681190"/>
                      <a:pt x="2797651" y="681190"/>
                    </a:cubicBezTo>
                    <a:lnTo>
                      <a:pt x="43529" y="681190"/>
                    </a:lnTo>
                    <a:cubicBezTo>
                      <a:pt x="30418" y="681190"/>
                      <a:pt x="18077" y="674996"/>
                      <a:pt x="10242" y="664483"/>
                    </a:cubicBezTo>
                    <a:cubicBezTo>
                      <a:pt x="2407" y="653970"/>
                      <a:pt x="0" y="640373"/>
                      <a:pt x="3748" y="627809"/>
                    </a:cubicBezTo>
                    <a:lnTo>
                      <a:pt x="175100" y="53381"/>
                    </a:lnTo>
                    <a:cubicBezTo>
                      <a:pt x="184549" y="21708"/>
                      <a:pt x="213677" y="0"/>
                      <a:pt x="246729" y="0"/>
                    </a:cubicBezTo>
                    <a:close/>
                  </a:path>
                </a:pathLst>
              </a:custGeom>
              <a:solidFill>
                <a:srgbClr val="2956BF"/>
              </a:solidFill>
              <a:ln cap="rnd">
                <a:noFill/>
                <a:prstDash val="solid"/>
                <a:round/>
              </a:ln>
            </p:spPr>
          </p:sp>
          <p:sp>
            <p:nvSpPr>
              <p:cNvPr name="TextBox 39" id="39"/>
              <p:cNvSpPr txBox="true"/>
              <p:nvPr/>
            </p:nvSpPr>
            <p:spPr>
              <a:xfrm>
                <a:off x="101600" y="-47625"/>
                <a:ext cx="2865533" cy="728815"/>
              </a:xfrm>
              <a:prstGeom prst="rect">
                <a:avLst/>
              </a:prstGeom>
            </p:spPr>
            <p:txBody>
              <a:bodyPr anchor="ctr" rtlCol="false" tIns="50800" lIns="50800" bIns="50800" rIns="50800"/>
              <a:lstStyle/>
              <a:p>
                <a:pPr algn="ctr">
                  <a:lnSpc>
                    <a:spcPts val="3432"/>
                  </a:lnSpc>
                </a:pPr>
              </a:p>
            </p:txBody>
          </p:sp>
        </p:grpSp>
        <p:grpSp>
          <p:nvGrpSpPr>
            <p:cNvPr name="Group 40" id="40"/>
            <p:cNvGrpSpPr/>
            <p:nvPr/>
          </p:nvGrpSpPr>
          <p:grpSpPr>
            <a:xfrm rot="0">
              <a:off x="7175132" y="0"/>
              <a:ext cx="4405541" cy="4392085"/>
              <a:chOff x="0" y="0"/>
              <a:chExt cx="6369454" cy="6350000"/>
            </a:xfrm>
          </p:grpSpPr>
          <p:sp>
            <p:nvSpPr>
              <p:cNvPr name="Freeform 41" id="41"/>
              <p:cNvSpPr/>
              <p:nvPr/>
            </p:nvSpPr>
            <p:spPr>
              <a:xfrm flipH="true" flipV="false" rot="0">
                <a:off x="201131" y="0"/>
                <a:ext cx="5965085" cy="6350000"/>
              </a:xfrm>
              <a:custGeom>
                <a:avLst/>
                <a:gdLst/>
                <a:ahLst/>
                <a:cxnLst/>
                <a:rect r="r" b="b" t="t" l="l"/>
                <a:pathLst>
                  <a:path h="6350000" w="5965085">
                    <a:moveTo>
                      <a:pt x="60303" y="730290"/>
                    </a:moveTo>
                    <a:lnTo>
                      <a:pt x="1825111" y="5619710"/>
                    </a:lnTo>
                    <a:cubicBezTo>
                      <a:pt x="1983289" y="6057943"/>
                      <a:pt x="2399204" y="6350000"/>
                      <a:pt x="2865111" y="6350000"/>
                    </a:cubicBezTo>
                    <a:lnTo>
                      <a:pt x="5389757" y="6350000"/>
                    </a:lnTo>
                    <a:cubicBezTo>
                      <a:pt x="5567721" y="6350000"/>
                      <a:pt x="5734575" y="6263480"/>
                      <a:pt x="5837117" y="6118028"/>
                    </a:cubicBezTo>
                    <a:cubicBezTo>
                      <a:pt x="5939658" y="5972575"/>
                      <a:pt x="5965085" y="5786351"/>
                      <a:pt x="5905288" y="5618734"/>
                    </a:cubicBezTo>
                    <a:lnTo>
                      <a:pt x="4161720" y="731266"/>
                    </a:lnTo>
                    <a:cubicBezTo>
                      <a:pt x="4005287" y="292763"/>
                      <a:pt x="3590011" y="0"/>
                      <a:pt x="3124440" y="0"/>
                    </a:cubicBezTo>
                    <a:lnTo>
                      <a:pt x="573114" y="0"/>
                    </a:lnTo>
                    <a:cubicBezTo>
                      <a:pt x="395495" y="0"/>
                      <a:pt x="229009" y="86525"/>
                      <a:pt x="126936" y="231887"/>
                    </a:cubicBezTo>
                    <a:cubicBezTo>
                      <a:pt x="24863" y="377248"/>
                      <a:pt x="0" y="563220"/>
                      <a:pt x="60303" y="730290"/>
                    </a:cubicBezTo>
                    <a:close/>
                  </a:path>
                </a:pathLst>
              </a:custGeom>
              <a:blipFill>
                <a:blip r:embed="rId13"/>
                <a:stretch>
                  <a:fillRect l="-7708" t="-6246" r="-10570" b="-21950"/>
                </a:stretch>
              </a:blipFill>
            </p:spPr>
          </p:sp>
        </p:grpSp>
        <p:grpSp>
          <p:nvGrpSpPr>
            <p:cNvPr name="Group 42" id="42"/>
            <p:cNvGrpSpPr/>
            <p:nvPr/>
          </p:nvGrpSpPr>
          <p:grpSpPr>
            <a:xfrm rot="0">
              <a:off x="7111632" y="3762450"/>
              <a:ext cx="4076754" cy="866848"/>
              <a:chOff x="0" y="0"/>
              <a:chExt cx="3068733" cy="652511"/>
            </a:xfrm>
          </p:grpSpPr>
          <p:sp>
            <p:nvSpPr>
              <p:cNvPr name="Freeform 43" id="43"/>
              <p:cNvSpPr/>
              <p:nvPr/>
            </p:nvSpPr>
            <p:spPr>
              <a:xfrm flipH="false" flipV="false" rot="0">
                <a:off x="12687" y="0"/>
                <a:ext cx="3043358" cy="652511"/>
              </a:xfrm>
              <a:custGeom>
                <a:avLst/>
                <a:gdLst/>
                <a:ahLst/>
                <a:cxnLst/>
                <a:rect r="r" b="b" t="t" l="l"/>
                <a:pathLst>
                  <a:path h="652511" w="3043358">
                    <a:moveTo>
                      <a:pt x="246218" y="0"/>
                    </a:moveTo>
                    <a:lnTo>
                      <a:pt x="3000340" y="0"/>
                    </a:lnTo>
                    <a:cubicBezTo>
                      <a:pt x="3013375" y="0"/>
                      <a:pt x="3025633" y="6198"/>
                      <a:pt x="3033359" y="16696"/>
                    </a:cubicBezTo>
                    <a:cubicBezTo>
                      <a:pt x="3041085" y="27194"/>
                      <a:pt x="3043358" y="40741"/>
                      <a:pt x="3039483" y="53186"/>
                    </a:cubicBezTo>
                    <a:lnTo>
                      <a:pt x="2869408" y="599325"/>
                    </a:lnTo>
                    <a:cubicBezTo>
                      <a:pt x="2859557" y="630960"/>
                      <a:pt x="2830274" y="652511"/>
                      <a:pt x="2797140" y="652511"/>
                    </a:cubicBezTo>
                    <a:lnTo>
                      <a:pt x="43018" y="652511"/>
                    </a:lnTo>
                    <a:cubicBezTo>
                      <a:pt x="29984" y="652511"/>
                      <a:pt x="17726" y="646312"/>
                      <a:pt x="10000" y="635814"/>
                    </a:cubicBezTo>
                    <a:cubicBezTo>
                      <a:pt x="2274" y="625316"/>
                      <a:pt x="0" y="611770"/>
                      <a:pt x="3876" y="599325"/>
                    </a:cubicBezTo>
                    <a:lnTo>
                      <a:pt x="173950" y="53186"/>
                    </a:lnTo>
                    <a:cubicBezTo>
                      <a:pt x="183802" y="21551"/>
                      <a:pt x="213084" y="0"/>
                      <a:pt x="246218" y="0"/>
                    </a:cubicBezTo>
                    <a:close/>
                  </a:path>
                </a:pathLst>
              </a:custGeom>
              <a:solidFill>
                <a:srgbClr val="2956BF"/>
              </a:solidFill>
              <a:ln cap="rnd">
                <a:noFill/>
                <a:prstDash val="solid"/>
                <a:round/>
              </a:ln>
            </p:spPr>
          </p:sp>
          <p:sp>
            <p:nvSpPr>
              <p:cNvPr name="TextBox 44" id="44"/>
              <p:cNvSpPr txBox="true"/>
              <p:nvPr/>
            </p:nvSpPr>
            <p:spPr>
              <a:xfrm>
                <a:off x="101600" y="-47625"/>
                <a:ext cx="2865533" cy="700136"/>
              </a:xfrm>
              <a:prstGeom prst="rect">
                <a:avLst/>
              </a:prstGeom>
            </p:spPr>
            <p:txBody>
              <a:bodyPr anchor="ctr" rtlCol="false" tIns="50800" lIns="50800" bIns="50800" rIns="50800"/>
              <a:lstStyle/>
              <a:p>
                <a:pPr algn="ctr">
                  <a:lnSpc>
                    <a:spcPts val="3432"/>
                  </a:lnSpc>
                </a:pPr>
              </a:p>
            </p:txBody>
          </p:sp>
        </p:grpSp>
        <p:sp>
          <p:nvSpPr>
            <p:cNvPr name="Freeform 45" id="45"/>
            <p:cNvSpPr/>
            <p:nvPr/>
          </p:nvSpPr>
          <p:spPr>
            <a:xfrm flipH="false" flipV="false" rot="180000">
              <a:off x="14786849" y="6745171"/>
              <a:ext cx="2211149" cy="2620414"/>
            </a:xfrm>
            <a:custGeom>
              <a:avLst/>
              <a:gdLst/>
              <a:ahLst/>
              <a:cxnLst/>
              <a:rect r="r" b="b" t="t" l="l"/>
              <a:pathLst>
                <a:path h="2620414" w="2211149">
                  <a:moveTo>
                    <a:pt x="0" y="108984"/>
                  </a:moveTo>
                  <a:lnTo>
                    <a:pt x="2079531" y="0"/>
                  </a:lnTo>
                  <a:lnTo>
                    <a:pt x="2211149" y="2511431"/>
                  </a:lnTo>
                  <a:lnTo>
                    <a:pt x="131618" y="2620415"/>
                  </a:lnTo>
                  <a:lnTo>
                    <a:pt x="0" y="108984"/>
                  </a:lnTo>
                  <a:close/>
                </a:path>
              </a:pathLst>
            </a:custGeom>
            <a:blipFill>
              <a:blip r:embed="rId10"/>
              <a:stretch>
                <a:fillRect l="-49559" t="-134759" r="-57120" b="-75285"/>
              </a:stretch>
            </a:blipFill>
          </p:spPr>
        </p:sp>
        <p:grpSp>
          <p:nvGrpSpPr>
            <p:cNvPr name="Group 46" id="46"/>
            <p:cNvGrpSpPr/>
            <p:nvPr/>
          </p:nvGrpSpPr>
          <p:grpSpPr>
            <a:xfrm rot="0">
              <a:off x="14440780" y="6333345"/>
              <a:ext cx="3125706" cy="3116159"/>
              <a:chOff x="0" y="0"/>
              <a:chExt cx="6369454" cy="6350000"/>
            </a:xfrm>
          </p:grpSpPr>
          <p:sp>
            <p:nvSpPr>
              <p:cNvPr name="Freeform 47" id="47"/>
              <p:cNvSpPr/>
              <p:nvPr/>
            </p:nvSpPr>
            <p:spPr>
              <a:xfrm flipH="false" flipV="false" rot="0">
                <a:off x="283410" y="0"/>
                <a:ext cx="5799514" cy="6350000"/>
              </a:xfrm>
              <a:custGeom>
                <a:avLst/>
                <a:gdLst/>
                <a:ahLst/>
                <a:cxnLst/>
                <a:rect r="r" b="b" t="t" l="l"/>
                <a:pathLst>
                  <a:path h="6350000" w="5799514">
                    <a:moveTo>
                      <a:pt x="5714520" y="1029311"/>
                    </a:moveTo>
                    <a:lnTo>
                      <a:pt x="4165571" y="5320689"/>
                    </a:lnTo>
                    <a:cubicBezTo>
                      <a:pt x="3942627" y="5938360"/>
                      <a:pt x="3356413" y="6350000"/>
                      <a:pt x="2699739" y="6350000"/>
                    </a:cubicBezTo>
                    <a:lnTo>
                      <a:pt x="810899" y="6350000"/>
                    </a:lnTo>
                    <a:cubicBezTo>
                      <a:pt x="560067" y="6350000"/>
                      <a:pt x="324893" y="6228054"/>
                      <a:pt x="180365" y="6023046"/>
                    </a:cubicBezTo>
                    <a:cubicBezTo>
                      <a:pt x="35837" y="5818037"/>
                      <a:pt x="0" y="5555562"/>
                      <a:pt x="84280" y="5319313"/>
                    </a:cubicBezTo>
                    <a:lnTo>
                      <a:pt x="1614217" y="1030687"/>
                    </a:lnTo>
                    <a:cubicBezTo>
                      <a:pt x="1834702" y="412636"/>
                      <a:pt x="2420014" y="0"/>
                      <a:pt x="3076216" y="0"/>
                    </a:cubicBezTo>
                    <a:lnTo>
                      <a:pt x="4991735" y="0"/>
                    </a:lnTo>
                    <a:cubicBezTo>
                      <a:pt x="5242083" y="0"/>
                      <a:pt x="5476736" y="121953"/>
                      <a:pt x="5620603" y="326834"/>
                    </a:cubicBezTo>
                    <a:cubicBezTo>
                      <a:pt x="5764470" y="531714"/>
                      <a:pt x="5799514" y="793833"/>
                      <a:pt x="5714520" y="1029311"/>
                    </a:cubicBezTo>
                    <a:close/>
                  </a:path>
                </a:pathLst>
              </a:custGeom>
              <a:solidFill>
                <a:srgbClr val="2956BF"/>
              </a:solidFill>
              <a:ln w="12700">
                <a:solidFill>
                  <a:srgbClr val="000000"/>
                </a:solidFill>
              </a:ln>
            </p:spPr>
          </p:sp>
        </p:grpSp>
        <p:grpSp>
          <p:nvGrpSpPr>
            <p:cNvPr name="Group 48" id="48"/>
            <p:cNvGrpSpPr/>
            <p:nvPr/>
          </p:nvGrpSpPr>
          <p:grpSpPr>
            <a:xfrm rot="0">
              <a:off x="14019806" y="5953396"/>
              <a:ext cx="3671821" cy="3695221"/>
              <a:chOff x="0" y="0"/>
              <a:chExt cx="6369454" cy="6410046"/>
            </a:xfrm>
          </p:grpSpPr>
          <p:sp>
            <p:nvSpPr>
              <p:cNvPr name="Freeform 49" id="49"/>
              <p:cNvSpPr/>
              <p:nvPr/>
            </p:nvSpPr>
            <p:spPr>
              <a:xfrm flipH="false" flipV="false" rot="0">
                <a:off x="239141" y="0"/>
                <a:ext cx="5888536" cy="6410046"/>
              </a:xfrm>
              <a:custGeom>
                <a:avLst/>
                <a:gdLst/>
                <a:ahLst/>
                <a:cxnLst/>
                <a:rect r="r" b="b" t="t" l="l"/>
                <a:pathLst>
                  <a:path h="6410046" w="5888536">
                    <a:moveTo>
                      <a:pt x="5816672" y="877163"/>
                    </a:moveTo>
                    <a:lnTo>
                      <a:pt x="4151958" y="5532882"/>
                    </a:lnTo>
                    <a:cubicBezTo>
                      <a:pt x="3963856" y="6058947"/>
                      <a:pt x="3465448" y="6410046"/>
                      <a:pt x="2906766" y="6410046"/>
                    </a:cubicBezTo>
                    <a:lnTo>
                      <a:pt x="692409" y="6410046"/>
                    </a:lnTo>
                    <a:cubicBezTo>
                      <a:pt x="478556" y="6410046"/>
                      <a:pt x="278007" y="6306243"/>
                      <a:pt x="154527" y="6131640"/>
                    </a:cubicBezTo>
                    <a:cubicBezTo>
                      <a:pt x="31047" y="5957038"/>
                      <a:pt x="0" y="5733362"/>
                      <a:pt x="71257" y="5531729"/>
                    </a:cubicBezTo>
                    <a:lnTo>
                      <a:pt x="1715778" y="878316"/>
                    </a:lnTo>
                    <a:cubicBezTo>
                      <a:pt x="1901801" y="351938"/>
                      <a:pt x="2399445" y="0"/>
                      <a:pt x="2957726" y="0"/>
                    </a:cubicBezTo>
                    <a:lnTo>
                      <a:pt x="5198762" y="0"/>
                    </a:lnTo>
                    <a:cubicBezTo>
                      <a:pt x="5412207" y="0"/>
                      <a:pt x="5612317" y="103810"/>
                      <a:pt x="5735239" y="278306"/>
                    </a:cubicBezTo>
                    <a:cubicBezTo>
                      <a:pt x="5858161" y="452802"/>
                      <a:pt x="5888536" y="676180"/>
                      <a:pt x="5816672" y="877163"/>
                    </a:cubicBezTo>
                    <a:close/>
                  </a:path>
                </a:pathLst>
              </a:custGeom>
              <a:blipFill>
                <a:blip r:embed="rId14"/>
                <a:stretch>
                  <a:fillRect l="-332" t="-14135" r="-321" b="0"/>
                </a:stretch>
              </a:blipFill>
            </p:spPr>
          </p:sp>
        </p:grpSp>
        <p:grpSp>
          <p:nvGrpSpPr>
            <p:cNvPr name="Group 50" id="50"/>
            <p:cNvGrpSpPr/>
            <p:nvPr/>
          </p:nvGrpSpPr>
          <p:grpSpPr>
            <a:xfrm rot="0">
              <a:off x="13723682" y="8811267"/>
              <a:ext cx="4076754" cy="904948"/>
              <a:chOff x="0" y="0"/>
              <a:chExt cx="3068733" cy="681190"/>
            </a:xfrm>
          </p:grpSpPr>
          <p:sp>
            <p:nvSpPr>
              <p:cNvPr name="Freeform 51" id="51"/>
              <p:cNvSpPr/>
              <p:nvPr/>
            </p:nvSpPr>
            <p:spPr>
              <a:xfrm flipH="false" flipV="false" rot="0">
                <a:off x="12176" y="0"/>
                <a:ext cx="3044381" cy="681190"/>
              </a:xfrm>
              <a:custGeom>
                <a:avLst/>
                <a:gdLst/>
                <a:ahLst/>
                <a:cxnLst/>
                <a:rect r="r" b="b" t="t" l="l"/>
                <a:pathLst>
                  <a:path h="681190" w="3044381">
                    <a:moveTo>
                      <a:pt x="246729" y="0"/>
                    </a:moveTo>
                    <a:lnTo>
                      <a:pt x="3000851" y="0"/>
                    </a:lnTo>
                    <a:cubicBezTo>
                      <a:pt x="3013963" y="0"/>
                      <a:pt x="3026303" y="6194"/>
                      <a:pt x="3034138" y="16707"/>
                    </a:cubicBezTo>
                    <a:cubicBezTo>
                      <a:pt x="3041973" y="27220"/>
                      <a:pt x="3044381" y="40816"/>
                      <a:pt x="3040633" y="53381"/>
                    </a:cubicBezTo>
                    <a:lnTo>
                      <a:pt x="2869280" y="627809"/>
                    </a:lnTo>
                    <a:cubicBezTo>
                      <a:pt x="2859832" y="659482"/>
                      <a:pt x="2830704" y="681190"/>
                      <a:pt x="2797651" y="681190"/>
                    </a:cubicBezTo>
                    <a:lnTo>
                      <a:pt x="43529" y="681190"/>
                    </a:lnTo>
                    <a:cubicBezTo>
                      <a:pt x="30418" y="681190"/>
                      <a:pt x="18077" y="674996"/>
                      <a:pt x="10242" y="664483"/>
                    </a:cubicBezTo>
                    <a:cubicBezTo>
                      <a:pt x="2407" y="653970"/>
                      <a:pt x="0" y="640373"/>
                      <a:pt x="3748" y="627809"/>
                    </a:cubicBezTo>
                    <a:lnTo>
                      <a:pt x="175100" y="53381"/>
                    </a:lnTo>
                    <a:cubicBezTo>
                      <a:pt x="184549" y="21708"/>
                      <a:pt x="213677" y="0"/>
                      <a:pt x="246729" y="0"/>
                    </a:cubicBezTo>
                    <a:close/>
                  </a:path>
                </a:pathLst>
              </a:custGeom>
              <a:solidFill>
                <a:srgbClr val="2956BF"/>
              </a:solidFill>
              <a:ln cap="rnd">
                <a:noFill/>
                <a:prstDash val="solid"/>
                <a:round/>
              </a:ln>
            </p:spPr>
          </p:sp>
          <p:sp>
            <p:nvSpPr>
              <p:cNvPr name="TextBox 52" id="52"/>
              <p:cNvSpPr txBox="true"/>
              <p:nvPr/>
            </p:nvSpPr>
            <p:spPr>
              <a:xfrm>
                <a:off x="101600" y="-47625"/>
                <a:ext cx="2865533" cy="728815"/>
              </a:xfrm>
              <a:prstGeom prst="rect">
                <a:avLst/>
              </a:prstGeom>
            </p:spPr>
            <p:txBody>
              <a:bodyPr anchor="ctr" rtlCol="false" tIns="50800" lIns="50800" bIns="50800" rIns="50800"/>
              <a:lstStyle/>
              <a:p>
                <a:pPr algn="ctr">
                  <a:lnSpc>
                    <a:spcPts val="3432"/>
                  </a:lnSpc>
                </a:pPr>
              </a:p>
            </p:txBody>
          </p:sp>
        </p:grpSp>
        <p:sp>
          <p:nvSpPr>
            <p:cNvPr name="TextBox 53" id="53"/>
            <p:cNvSpPr txBox="true"/>
            <p:nvPr/>
          </p:nvSpPr>
          <p:spPr>
            <a:xfrm rot="0">
              <a:off x="712583" y="8986429"/>
              <a:ext cx="2333118" cy="387971"/>
            </a:xfrm>
            <a:prstGeom prst="rect">
              <a:avLst/>
            </a:prstGeom>
          </p:spPr>
          <p:txBody>
            <a:bodyPr anchor="t" rtlCol="false" tIns="0" lIns="0" bIns="0" rIns="0">
              <a:spAutoFit/>
            </a:bodyPr>
            <a:lstStyle/>
            <a:p>
              <a:pPr algn="l">
                <a:lnSpc>
                  <a:spcPts val="2021"/>
                </a:lnSpc>
              </a:pPr>
              <a:r>
                <a:rPr lang="en-US" sz="2296">
                  <a:solidFill>
                    <a:srgbClr val="FFFFFF"/>
                  </a:solidFill>
                  <a:latin typeface="Open Sauce"/>
                  <a:ea typeface="Open Sauce"/>
                  <a:cs typeface="Open Sauce"/>
                  <a:sym typeface="Open Sauce"/>
                </a:rPr>
                <a:t>Ashabrina N</a:t>
              </a:r>
            </a:p>
          </p:txBody>
        </p:sp>
        <p:sp>
          <p:nvSpPr>
            <p:cNvPr name="TextBox 54" id="54"/>
            <p:cNvSpPr txBox="true"/>
            <p:nvPr/>
          </p:nvSpPr>
          <p:spPr>
            <a:xfrm rot="0">
              <a:off x="5541295" y="8986429"/>
              <a:ext cx="2333118" cy="387971"/>
            </a:xfrm>
            <a:prstGeom prst="rect">
              <a:avLst/>
            </a:prstGeom>
          </p:spPr>
          <p:txBody>
            <a:bodyPr anchor="t" rtlCol="false" tIns="0" lIns="0" bIns="0" rIns="0">
              <a:spAutoFit/>
            </a:bodyPr>
            <a:lstStyle/>
            <a:p>
              <a:pPr algn="l">
                <a:lnSpc>
                  <a:spcPts val="2021"/>
                </a:lnSpc>
              </a:pPr>
              <a:r>
                <a:rPr lang="en-US" sz="2296">
                  <a:solidFill>
                    <a:srgbClr val="FFFFFF"/>
                  </a:solidFill>
                  <a:latin typeface="Open Sauce"/>
                  <a:ea typeface="Open Sauce"/>
                  <a:cs typeface="Open Sauce"/>
                  <a:sym typeface="Open Sauce"/>
                </a:rPr>
                <a:t>Indara N</a:t>
              </a:r>
            </a:p>
          </p:txBody>
        </p:sp>
        <p:sp>
          <p:nvSpPr>
            <p:cNvPr name="TextBox 55" id="55"/>
            <p:cNvSpPr txBox="true"/>
            <p:nvPr/>
          </p:nvSpPr>
          <p:spPr>
            <a:xfrm rot="0">
              <a:off x="14440780" y="9034695"/>
              <a:ext cx="3228605" cy="387971"/>
            </a:xfrm>
            <a:prstGeom prst="rect">
              <a:avLst/>
            </a:prstGeom>
          </p:spPr>
          <p:txBody>
            <a:bodyPr anchor="t" rtlCol="false" tIns="0" lIns="0" bIns="0" rIns="0">
              <a:spAutoFit/>
            </a:bodyPr>
            <a:lstStyle/>
            <a:p>
              <a:pPr algn="l">
                <a:lnSpc>
                  <a:spcPts val="2021"/>
                </a:lnSpc>
              </a:pPr>
              <a:r>
                <a:rPr lang="en-US" sz="2296">
                  <a:solidFill>
                    <a:srgbClr val="FFFFFF"/>
                  </a:solidFill>
                  <a:latin typeface="Open Sauce"/>
                  <a:ea typeface="Open Sauce"/>
                  <a:cs typeface="Open Sauce"/>
                  <a:sym typeface="Open Sauce"/>
                </a:rPr>
                <a:t>M. Adzin Rosiq</a:t>
              </a:r>
            </a:p>
          </p:txBody>
        </p:sp>
        <p:sp>
          <p:nvSpPr>
            <p:cNvPr name="TextBox 56" id="56"/>
            <p:cNvSpPr txBox="true"/>
            <p:nvPr/>
          </p:nvSpPr>
          <p:spPr>
            <a:xfrm rot="0">
              <a:off x="10163853" y="8986429"/>
              <a:ext cx="2333118" cy="387971"/>
            </a:xfrm>
            <a:prstGeom prst="rect">
              <a:avLst/>
            </a:prstGeom>
          </p:spPr>
          <p:txBody>
            <a:bodyPr anchor="t" rtlCol="false" tIns="0" lIns="0" bIns="0" rIns="0">
              <a:spAutoFit/>
            </a:bodyPr>
            <a:lstStyle/>
            <a:p>
              <a:pPr algn="l">
                <a:lnSpc>
                  <a:spcPts val="2021"/>
                </a:lnSpc>
              </a:pPr>
              <a:r>
                <a:rPr lang="en-US" sz="2296">
                  <a:solidFill>
                    <a:srgbClr val="FFFFFF"/>
                  </a:solidFill>
                  <a:latin typeface="Open Sauce"/>
                  <a:ea typeface="Open Sauce"/>
                  <a:cs typeface="Open Sauce"/>
                  <a:sym typeface="Open Sauce"/>
                </a:rPr>
                <a:t>Valina Putri</a:t>
              </a:r>
            </a:p>
          </p:txBody>
        </p:sp>
        <p:sp>
          <p:nvSpPr>
            <p:cNvPr name="TextBox 57" id="57"/>
            <p:cNvSpPr txBox="true"/>
            <p:nvPr/>
          </p:nvSpPr>
          <p:spPr>
            <a:xfrm rot="0">
              <a:off x="8084343" y="3931221"/>
              <a:ext cx="2333118" cy="387971"/>
            </a:xfrm>
            <a:prstGeom prst="rect">
              <a:avLst/>
            </a:prstGeom>
          </p:spPr>
          <p:txBody>
            <a:bodyPr anchor="t" rtlCol="false" tIns="0" lIns="0" bIns="0" rIns="0">
              <a:spAutoFit/>
            </a:bodyPr>
            <a:lstStyle/>
            <a:p>
              <a:pPr algn="l">
                <a:lnSpc>
                  <a:spcPts val="2021"/>
                </a:lnSpc>
              </a:pPr>
              <a:r>
                <a:rPr lang="en-US" sz="2296">
                  <a:solidFill>
                    <a:srgbClr val="FFFFFF"/>
                  </a:solidFill>
                  <a:latin typeface="Open Sauce"/>
                  <a:ea typeface="Open Sauce"/>
                  <a:cs typeface="Open Sauce"/>
                  <a:sym typeface="Open Sauce"/>
                </a:rPr>
                <a:t>Fitri Cahyani</a:t>
              </a:r>
            </a:p>
          </p:txBody>
        </p:sp>
        <p:grpSp>
          <p:nvGrpSpPr>
            <p:cNvPr name="Group 58" id="58"/>
            <p:cNvGrpSpPr/>
            <p:nvPr/>
          </p:nvGrpSpPr>
          <p:grpSpPr>
            <a:xfrm rot="0">
              <a:off x="1285278" y="9449504"/>
              <a:ext cx="2357323" cy="854679"/>
              <a:chOff x="0" y="0"/>
              <a:chExt cx="1991094" cy="721898"/>
            </a:xfrm>
          </p:grpSpPr>
          <p:sp>
            <p:nvSpPr>
              <p:cNvPr name="Freeform 59" id="59"/>
              <p:cNvSpPr/>
              <p:nvPr/>
            </p:nvSpPr>
            <p:spPr>
              <a:xfrm flipH="false" flipV="false" rot="0">
                <a:off x="19913" y="0"/>
                <a:ext cx="1951268" cy="721898"/>
              </a:xfrm>
              <a:custGeom>
                <a:avLst/>
                <a:gdLst/>
                <a:ahLst/>
                <a:cxnLst/>
                <a:rect r="r" b="b" t="t" l="l"/>
                <a:pathLst>
                  <a:path h="721898" w="1951268">
                    <a:moveTo>
                      <a:pt x="279624" y="0"/>
                    </a:moveTo>
                    <a:lnTo>
                      <a:pt x="1874844" y="0"/>
                    </a:lnTo>
                    <a:cubicBezTo>
                      <a:pt x="1897689" y="0"/>
                      <a:pt x="1919215" y="10700"/>
                      <a:pt x="1933008" y="28911"/>
                    </a:cubicBezTo>
                    <a:cubicBezTo>
                      <a:pt x="1946801" y="47122"/>
                      <a:pt x="1951268" y="70742"/>
                      <a:pt x="1945078" y="92733"/>
                    </a:cubicBezTo>
                    <a:lnTo>
                      <a:pt x="1794083" y="629165"/>
                    </a:lnTo>
                    <a:cubicBezTo>
                      <a:pt x="1778645" y="684009"/>
                      <a:pt x="1728620" y="721898"/>
                      <a:pt x="1671644" y="721898"/>
                    </a:cubicBezTo>
                    <a:lnTo>
                      <a:pt x="76424" y="721898"/>
                    </a:lnTo>
                    <a:cubicBezTo>
                      <a:pt x="53579" y="721898"/>
                      <a:pt x="32052" y="711198"/>
                      <a:pt x="18260" y="692986"/>
                    </a:cubicBezTo>
                    <a:cubicBezTo>
                      <a:pt x="4467" y="674775"/>
                      <a:pt x="0" y="651155"/>
                      <a:pt x="6189" y="629165"/>
                    </a:cubicBezTo>
                    <a:lnTo>
                      <a:pt x="157185" y="92733"/>
                    </a:lnTo>
                    <a:cubicBezTo>
                      <a:pt x="172622" y="37888"/>
                      <a:pt x="222648" y="0"/>
                      <a:pt x="279624" y="0"/>
                    </a:cubicBezTo>
                    <a:close/>
                  </a:path>
                </a:pathLst>
              </a:custGeom>
              <a:solidFill>
                <a:srgbClr val="03045A"/>
              </a:solidFill>
              <a:ln cap="rnd">
                <a:noFill/>
                <a:prstDash val="solid"/>
                <a:round/>
              </a:ln>
            </p:spPr>
          </p:sp>
          <p:sp>
            <p:nvSpPr>
              <p:cNvPr name="TextBox 60" id="60"/>
              <p:cNvSpPr txBox="true"/>
              <p:nvPr/>
            </p:nvSpPr>
            <p:spPr>
              <a:xfrm>
                <a:off x="101600" y="-28575"/>
                <a:ext cx="1787894" cy="750473"/>
              </a:xfrm>
              <a:prstGeom prst="rect">
                <a:avLst/>
              </a:prstGeom>
            </p:spPr>
            <p:txBody>
              <a:bodyPr anchor="ctr" rtlCol="false" tIns="50800" lIns="50800" bIns="50800" rIns="50800"/>
              <a:lstStyle/>
              <a:p>
                <a:pPr algn="ctr">
                  <a:lnSpc>
                    <a:spcPts val="2990"/>
                  </a:lnSpc>
                </a:pPr>
                <a:r>
                  <a:rPr lang="en-US" sz="2300">
                    <a:solidFill>
                      <a:srgbClr val="FFFFFF"/>
                    </a:solidFill>
                    <a:latin typeface="Poppins"/>
                    <a:ea typeface="Poppins"/>
                    <a:cs typeface="Poppins"/>
                    <a:sym typeface="Poppins"/>
                  </a:rPr>
                  <a:t>Manager</a:t>
                </a:r>
              </a:p>
            </p:txBody>
          </p:sp>
        </p:grpSp>
        <p:grpSp>
          <p:nvGrpSpPr>
            <p:cNvPr name="Group 61" id="61"/>
            <p:cNvGrpSpPr/>
            <p:nvPr/>
          </p:nvGrpSpPr>
          <p:grpSpPr>
            <a:xfrm rot="0">
              <a:off x="5624017" y="9422666"/>
              <a:ext cx="2357323" cy="1189301"/>
              <a:chOff x="0" y="0"/>
              <a:chExt cx="1991094" cy="1004534"/>
            </a:xfrm>
          </p:grpSpPr>
          <p:sp>
            <p:nvSpPr>
              <p:cNvPr name="Freeform 62" id="62"/>
              <p:cNvSpPr/>
              <p:nvPr/>
            </p:nvSpPr>
            <p:spPr>
              <a:xfrm flipH="false" flipV="false" rot="0">
                <a:off x="14414" y="0"/>
                <a:ext cx="1962266" cy="1004534"/>
              </a:xfrm>
              <a:custGeom>
                <a:avLst/>
                <a:gdLst/>
                <a:ahLst/>
                <a:cxnLst/>
                <a:rect r="r" b="b" t="t" l="l"/>
                <a:pathLst>
                  <a:path h="1004534" w="1962266">
                    <a:moveTo>
                      <a:pt x="285123" y="0"/>
                    </a:moveTo>
                    <a:lnTo>
                      <a:pt x="1880343" y="0"/>
                    </a:lnTo>
                    <a:cubicBezTo>
                      <a:pt x="1903982" y="0"/>
                      <a:pt x="1926371" y="10612"/>
                      <a:pt x="1941338" y="28909"/>
                    </a:cubicBezTo>
                    <a:cubicBezTo>
                      <a:pt x="1956304" y="47206"/>
                      <a:pt x="1962266" y="71255"/>
                      <a:pt x="1957579" y="94424"/>
                    </a:cubicBezTo>
                    <a:lnTo>
                      <a:pt x="1792580" y="910109"/>
                    </a:lnTo>
                    <a:cubicBezTo>
                      <a:pt x="1781468" y="965041"/>
                      <a:pt x="1733187" y="1004534"/>
                      <a:pt x="1677143" y="1004534"/>
                    </a:cubicBezTo>
                    <a:lnTo>
                      <a:pt x="81923" y="1004534"/>
                    </a:lnTo>
                    <a:cubicBezTo>
                      <a:pt x="58284" y="1004534"/>
                      <a:pt x="35894" y="993922"/>
                      <a:pt x="20928" y="975625"/>
                    </a:cubicBezTo>
                    <a:cubicBezTo>
                      <a:pt x="5962" y="957328"/>
                      <a:pt x="0" y="933279"/>
                      <a:pt x="4686" y="910109"/>
                    </a:cubicBezTo>
                    <a:lnTo>
                      <a:pt x="169686" y="94424"/>
                    </a:lnTo>
                    <a:cubicBezTo>
                      <a:pt x="180797" y="39493"/>
                      <a:pt x="229079" y="0"/>
                      <a:pt x="285123" y="0"/>
                    </a:cubicBezTo>
                    <a:close/>
                  </a:path>
                </a:pathLst>
              </a:custGeom>
              <a:solidFill>
                <a:srgbClr val="03045A"/>
              </a:solidFill>
              <a:ln cap="rnd">
                <a:noFill/>
                <a:prstDash val="solid"/>
                <a:round/>
              </a:ln>
            </p:spPr>
          </p:sp>
          <p:sp>
            <p:nvSpPr>
              <p:cNvPr name="TextBox 63" id="63"/>
              <p:cNvSpPr txBox="true"/>
              <p:nvPr/>
            </p:nvSpPr>
            <p:spPr>
              <a:xfrm>
                <a:off x="101600" y="-47625"/>
                <a:ext cx="1787894" cy="1052159"/>
              </a:xfrm>
              <a:prstGeom prst="rect">
                <a:avLst/>
              </a:prstGeom>
            </p:spPr>
            <p:txBody>
              <a:bodyPr anchor="ctr" rtlCol="false" tIns="50800" lIns="50800" bIns="50800" rIns="50800"/>
              <a:lstStyle/>
              <a:p>
                <a:pPr algn="ctr">
                  <a:lnSpc>
                    <a:spcPts val="2600"/>
                  </a:lnSpc>
                </a:pPr>
                <a:r>
                  <a:rPr lang="en-US" sz="2000">
                    <a:solidFill>
                      <a:srgbClr val="FFFFFF"/>
                    </a:solidFill>
                    <a:latin typeface="Poppins"/>
                    <a:ea typeface="Poppins"/>
                    <a:cs typeface="Poppins"/>
                    <a:sym typeface="Poppins"/>
                  </a:rPr>
                  <a:t>Data Analytics</a:t>
                </a:r>
              </a:p>
            </p:txBody>
          </p:sp>
        </p:grpSp>
        <p:grpSp>
          <p:nvGrpSpPr>
            <p:cNvPr name="Group 64" id="64"/>
            <p:cNvGrpSpPr/>
            <p:nvPr/>
          </p:nvGrpSpPr>
          <p:grpSpPr>
            <a:xfrm rot="0">
              <a:off x="10330071" y="9449504"/>
              <a:ext cx="2357323" cy="1189301"/>
              <a:chOff x="0" y="0"/>
              <a:chExt cx="1991094" cy="1004534"/>
            </a:xfrm>
          </p:grpSpPr>
          <p:sp>
            <p:nvSpPr>
              <p:cNvPr name="Freeform 65" id="65"/>
              <p:cNvSpPr/>
              <p:nvPr/>
            </p:nvSpPr>
            <p:spPr>
              <a:xfrm flipH="false" flipV="false" rot="0">
                <a:off x="14414" y="0"/>
                <a:ext cx="1962266" cy="1004534"/>
              </a:xfrm>
              <a:custGeom>
                <a:avLst/>
                <a:gdLst/>
                <a:ahLst/>
                <a:cxnLst/>
                <a:rect r="r" b="b" t="t" l="l"/>
                <a:pathLst>
                  <a:path h="1004534" w="1962266">
                    <a:moveTo>
                      <a:pt x="285123" y="0"/>
                    </a:moveTo>
                    <a:lnTo>
                      <a:pt x="1880343" y="0"/>
                    </a:lnTo>
                    <a:cubicBezTo>
                      <a:pt x="1903982" y="0"/>
                      <a:pt x="1926371" y="10612"/>
                      <a:pt x="1941338" y="28909"/>
                    </a:cubicBezTo>
                    <a:cubicBezTo>
                      <a:pt x="1956304" y="47206"/>
                      <a:pt x="1962266" y="71255"/>
                      <a:pt x="1957579" y="94424"/>
                    </a:cubicBezTo>
                    <a:lnTo>
                      <a:pt x="1792580" y="910109"/>
                    </a:lnTo>
                    <a:cubicBezTo>
                      <a:pt x="1781468" y="965041"/>
                      <a:pt x="1733187" y="1004534"/>
                      <a:pt x="1677143" y="1004534"/>
                    </a:cubicBezTo>
                    <a:lnTo>
                      <a:pt x="81923" y="1004534"/>
                    </a:lnTo>
                    <a:cubicBezTo>
                      <a:pt x="58284" y="1004534"/>
                      <a:pt x="35894" y="993922"/>
                      <a:pt x="20928" y="975625"/>
                    </a:cubicBezTo>
                    <a:cubicBezTo>
                      <a:pt x="5962" y="957328"/>
                      <a:pt x="0" y="933279"/>
                      <a:pt x="4686" y="910109"/>
                    </a:cubicBezTo>
                    <a:lnTo>
                      <a:pt x="169686" y="94424"/>
                    </a:lnTo>
                    <a:cubicBezTo>
                      <a:pt x="180797" y="39493"/>
                      <a:pt x="229079" y="0"/>
                      <a:pt x="285123" y="0"/>
                    </a:cubicBezTo>
                    <a:close/>
                  </a:path>
                </a:pathLst>
              </a:custGeom>
              <a:solidFill>
                <a:srgbClr val="03045A"/>
              </a:solidFill>
              <a:ln cap="rnd">
                <a:noFill/>
                <a:prstDash val="solid"/>
                <a:round/>
              </a:ln>
            </p:spPr>
          </p:sp>
          <p:sp>
            <p:nvSpPr>
              <p:cNvPr name="TextBox 66" id="66"/>
              <p:cNvSpPr txBox="true"/>
              <p:nvPr/>
            </p:nvSpPr>
            <p:spPr>
              <a:xfrm>
                <a:off x="101600" y="-47625"/>
                <a:ext cx="1787894" cy="1052159"/>
              </a:xfrm>
              <a:prstGeom prst="rect">
                <a:avLst/>
              </a:prstGeom>
            </p:spPr>
            <p:txBody>
              <a:bodyPr anchor="ctr" rtlCol="false" tIns="50800" lIns="50800" bIns="50800" rIns="50800"/>
              <a:lstStyle/>
              <a:p>
                <a:pPr algn="ctr">
                  <a:lnSpc>
                    <a:spcPts val="2600"/>
                  </a:lnSpc>
                </a:pPr>
                <a:r>
                  <a:rPr lang="en-US" sz="2000">
                    <a:solidFill>
                      <a:srgbClr val="FFFFFF"/>
                    </a:solidFill>
                    <a:latin typeface="Poppins"/>
                    <a:ea typeface="Poppins"/>
                    <a:cs typeface="Poppins"/>
                    <a:sym typeface="Poppins"/>
                  </a:rPr>
                  <a:t>Data Engineer</a:t>
                </a:r>
              </a:p>
            </p:txBody>
          </p:sp>
        </p:grpSp>
        <p:grpSp>
          <p:nvGrpSpPr>
            <p:cNvPr name="Group 67" id="67"/>
            <p:cNvGrpSpPr/>
            <p:nvPr/>
          </p:nvGrpSpPr>
          <p:grpSpPr>
            <a:xfrm rot="0">
              <a:off x="14851231" y="9466302"/>
              <a:ext cx="2357323" cy="1189301"/>
              <a:chOff x="0" y="0"/>
              <a:chExt cx="1991094" cy="1004534"/>
            </a:xfrm>
          </p:grpSpPr>
          <p:sp>
            <p:nvSpPr>
              <p:cNvPr name="Freeform 68" id="68"/>
              <p:cNvSpPr/>
              <p:nvPr/>
            </p:nvSpPr>
            <p:spPr>
              <a:xfrm flipH="false" flipV="false" rot="0">
                <a:off x="14414" y="0"/>
                <a:ext cx="1962266" cy="1004534"/>
              </a:xfrm>
              <a:custGeom>
                <a:avLst/>
                <a:gdLst/>
                <a:ahLst/>
                <a:cxnLst/>
                <a:rect r="r" b="b" t="t" l="l"/>
                <a:pathLst>
                  <a:path h="1004534" w="1962266">
                    <a:moveTo>
                      <a:pt x="285123" y="0"/>
                    </a:moveTo>
                    <a:lnTo>
                      <a:pt x="1880343" y="0"/>
                    </a:lnTo>
                    <a:cubicBezTo>
                      <a:pt x="1903982" y="0"/>
                      <a:pt x="1926371" y="10612"/>
                      <a:pt x="1941338" y="28909"/>
                    </a:cubicBezTo>
                    <a:cubicBezTo>
                      <a:pt x="1956304" y="47206"/>
                      <a:pt x="1962266" y="71255"/>
                      <a:pt x="1957579" y="94424"/>
                    </a:cubicBezTo>
                    <a:lnTo>
                      <a:pt x="1792580" y="910109"/>
                    </a:lnTo>
                    <a:cubicBezTo>
                      <a:pt x="1781468" y="965041"/>
                      <a:pt x="1733187" y="1004534"/>
                      <a:pt x="1677143" y="1004534"/>
                    </a:cubicBezTo>
                    <a:lnTo>
                      <a:pt x="81923" y="1004534"/>
                    </a:lnTo>
                    <a:cubicBezTo>
                      <a:pt x="58284" y="1004534"/>
                      <a:pt x="35894" y="993922"/>
                      <a:pt x="20928" y="975625"/>
                    </a:cubicBezTo>
                    <a:cubicBezTo>
                      <a:pt x="5962" y="957328"/>
                      <a:pt x="0" y="933279"/>
                      <a:pt x="4686" y="910109"/>
                    </a:cubicBezTo>
                    <a:lnTo>
                      <a:pt x="169686" y="94424"/>
                    </a:lnTo>
                    <a:cubicBezTo>
                      <a:pt x="180797" y="39493"/>
                      <a:pt x="229079" y="0"/>
                      <a:pt x="285123" y="0"/>
                    </a:cubicBezTo>
                    <a:close/>
                  </a:path>
                </a:pathLst>
              </a:custGeom>
              <a:solidFill>
                <a:srgbClr val="03045A"/>
              </a:solidFill>
              <a:ln cap="rnd">
                <a:noFill/>
                <a:prstDash val="solid"/>
                <a:round/>
              </a:ln>
            </p:spPr>
          </p:sp>
          <p:sp>
            <p:nvSpPr>
              <p:cNvPr name="TextBox 69" id="69"/>
              <p:cNvSpPr txBox="true"/>
              <p:nvPr/>
            </p:nvSpPr>
            <p:spPr>
              <a:xfrm>
                <a:off x="101600" y="-47625"/>
                <a:ext cx="1787894" cy="1052159"/>
              </a:xfrm>
              <a:prstGeom prst="rect">
                <a:avLst/>
              </a:prstGeom>
            </p:spPr>
            <p:txBody>
              <a:bodyPr anchor="ctr" rtlCol="false" tIns="50800" lIns="50800" bIns="50800" rIns="50800"/>
              <a:lstStyle/>
              <a:p>
                <a:pPr algn="ctr">
                  <a:lnSpc>
                    <a:spcPts val="2600"/>
                  </a:lnSpc>
                </a:pPr>
                <a:r>
                  <a:rPr lang="en-US" sz="2000">
                    <a:solidFill>
                      <a:srgbClr val="FFFFFF"/>
                    </a:solidFill>
                    <a:latin typeface="Poppins"/>
                    <a:ea typeface="Poppins"/>
                    <a:cs typeface="Poppins"/>
                    <a:sym typeface="Poppins"/>
                  </a:rPr>
                  <a:t>Business Analytics</a:t>
                </a:r>
              </a:p>
            </p:txBody>
          </p:sp>
        </p:grpSp>
        <p:grpSp>
          <p:nvGrpSpPr>
            <p:cNvPr name="Group 70" id="70"/>
            <p:cNvGrpSpPr/>
            <p:nvPr/>
          </p:nvGrpSpPr>
          <p:grpSpPr>
            <a:xfrm rot="0">
              <a:off x="8340973" y="4361150"/>
              <a:ext cx="2357323" cy="721726"/>
              <a:chOff x="0" y="0"/>
              <a:chExt cx="1991094" cy="609600"/>
            </a:xfrm>
          </p:grpSpPr>
          <p:sp>
            <p:nvSpPr>
              <p:cNvPr name="Freeform 71" id="71"/>
              <p:cNvSpPr/>
              <p:nvPr/>
            </p:nvSpPr>
            <p:spPr>
              <a:xfrm flipH="false" flipV="false" rot="0">
                <a:off x="23406" y="0"/>
                <a:ext cx="1944281" cy="609600"/>
              </a:xfrm>
              <a:custGeom>
                <a:avLst/>
                <a:gdLst/>
                <a:ahLst/>
                <a:cxnLst/>
                <a:rect r="r" b="b" t="t" l="l"/>
                <a:pathLst>
                  <a:path h="609600" w="1944281">
                    <a:moveTo>
                      <a:pt x="276131" y="0"/>
                    </a:moveTo>
                    <a:lnTo>
                      <a:pt x="1871351" y="0"/>
                    </a:lnTo>
                    <a:cubicBezTo>
                      <a:pt x="1893671" y="0"/>
                      <a:pt x="1914630" y="10729"/>
                      <a:pt x="1927680" y="28836"/>
                    </a:cubicBezTo>
                    <a:cubicBezTo>
                      <a:pt x="1940731" y="46942"/>
                      <a:pt x="1944281" y="70219"/>
                      <a:pt x="1937223" y="91393"/>
                    </a:cubicBezTo>
                    <a:lnTo>
                      <a:pt x="1794952" y="518207"/>
                    </a:lnTo>
                    <a:cubicBezTo>
                      <a:pt x="1776759" y="572786"/>
                      <a:pt x="1725682" y="609600"/>
                      <a:pt x="1668151" y="609600"/>
                    </a:cubicBezTo>
                    <a:lnTo>
                      <a:pt x="72931" y="609600"/>
                    </a:lnTo>
                    <a:cubicBezTo>
                      <a:pt x="50611" y="609600"/>
                      <a:pt x="29652" y="598871"/>
                      <a:pt x="16602" y="580764"/>
                    </a:cubicBezTo>
                    <a:cubicBezTo>
                      <a:pt x="3551" y="562658"/>
                      <a:pt x="0" y="539381"/>
                      <a:pt x="7058" y="518207"/>
                    </a:cubicBezTo>
                    <a:lnTo>
                      <a:pt x="149330" y="91393"/>
                    </a:lnTo>
                    <a:cubicBezTo>
                      <a:pt x="167523" y="36814"/>
                      <a:pt x="218599" y="0"/>
                      <a:pt x="276131" y="0"/>
                    </a:cubicBezTo>
                    <a:close/>
                  </a:path>
                </a:pathLst>
              </a:custGeom>
              <a:solidFill>
                <a:srgbClr val="03045A"/>
              </a:solidFill>
              <a:ln cap="rnd">
                <a:noFill/>
                <a:prstDash val="solid"/>
                <a:round/>
              </a:ln>
            </p:spPr>
          </p:sp>
          <p:sp>
            <p:nvSpPr>
              <p:cNvPr name="TextBox 72" id="72"/>
              <p:cNvSpPr txBox="true"/>
              <p:nvPr/>
            </p:nvSpPr>
            <p:spPr>
              <a:xfrm>
                <a:off x="101600" y="-47625"/>
                <a:ext cx="1787894" cy="657225"/>
              </a:xfrm>
              <a:prstGeom prst="rect">
                <a:avLst/>
              </a:prstGeom>
            </p:spPr>
            <p:txBody>
              <a:bodyPr anchor="ctr" rtlCol="false" tIns="50800" lIns="50800" bIns="50800" rIns="50800"/>
              <a:lstStyle/>
              <a:p>
                <a:pPr algn="ctr">
                  <a:lnSpc>
                    <a:spcPts val="3432"/>
                  </a:lnSpc>
                </a:pPr>
              </a:p>
            </p:txBody>
          </p:sp>
        </p:grpSp>
        <p:sp>
          <p:nvSpPr>
            <p:cNvPr name="TextBox 73" id="73"/>
            <p:cNvSpPr txBox="true"/>
            <p:nvPr/>
          </p:nvSpPr>
          <p:spPr>
            <a:xfrm rot="0">
              <a:off x="8763256" y="4534266"/>
              <a:ext cx="1387547" cy="398165"/>
            </a:xfrm>
            <a:prstGeom prst="rect">
              <a:avLst/>
            </a:prstGeom>
          </p:spPr>
          <p:txBody>
            <a:bodyPr anchor="t" rtlCol="false" tIns="0" lIns="0" bIns="0" rIns="0">
              <a:spAutoFit/>
            </a:bodyPr>
            <a:lstStyle/>
            <a:p>
              <a:pPr algn="l">
                <a:lnSpc>
                  <a:spcPts val="2021"/>
                </a:lnSpc>
              </a:pPr>
              <a:r>
                <a:rPr lang="en-US" sz="2296">
                  <a:solidFill>
                    <a:srgbClr val="FCFCFB"/>
                  </a:solidFill>
                  <a:latin typeface="Open Sauce"/>
                  <a:ea typeface="Open Sauce"/>
                  <a:cs typeface="Open Sauce"/>
                  <a:sym typeface="Open Sauce"/>
                </a:rPr>
                <a:t>Leader</a:t>
              </a:r>
            </a:p>
          </p:txBody>
        </p:sp>
      </p:grpSp>
      <p:sp>
        <p:nvSpPr>
          <p:cNvPr name="Freeform 74" id="74"/>
          <p:cNvSpPr/>
          <p:nvPr/>
        </p:nvSpPr>
        <p:spPr>
          <a:xfrm flipH="true" flipV="false" rot="0">
            <a:off x="5791833" y="1237740"/>
            <a:ext cx="1139647" cy="343849"/>
          </a:xfrm>
          <a:custGeom>
            <a:avLst/>
            <a:gdLst/>
            <a:ahLst/>
            <a:cxnLst/>
            <a:rect r="r" b="b" t="t" l="l"/>
            <a:pathLst>
              <a:path h="343849" w="1139647">
                <a:moveTo>
                  <a:pt x="1139646" y="0"/>
                </a:moveTo>
                <a:lnTo>
                  <a:pt x="0" y="0"/>
                </a:lnTo>
                <a:lnTo>
                  <a:pt x="0" y="343849"/>
                </a:lnTo>
                <a:lnTo>
                  <a:pt x="1139646" y="343849"/>
                </a:lnTo>
                <a:lnTo>
                  <a:pt x="1139646" y="0"/>
                </a:lnTo>
                <a:close/>
              </a:path>
            </a:pathLst>
          </a:custGeom>
          <a:blipFill>
            <a:blip r:embed="rId15">
              <a:extLst>
                <a:ext uri="{96DAC541-7B7A-43D3-8B79-37D633B846F1}">
                  <asvg:svgBlip xmlns:asvg="http://schemas.microsoft.com/office/drawing/2016/SVG/main" r:embed="rId16"/>
                </a:ext>
              </a:extLst>
            </a:blip>
            <a:stretch>
              <a:fillRect l="0" t="0" r="-104552" b="0"/>
            </a:stretch>
          </a:blipFill>
        </p:spPr>
      </p:sp>
      <p:grpSp>
        <p:nvGrpSpPr>
          <p:cNvPr name="Group 75" id="75"/>
          <p:cNvGrpSpPr/>
          <p:nvPr/>
        </p:nvGrpSpPr>
        <p:grpSpPr>
          <a:xfrm rot="0">
            <a:off x="-1977109" y="9268195"/>
            <a:ext cx="6176053" cy="1429040"/>
            <a:chOff x="0" y="0"/>
            <a:chExt cx="2634581" cy="609600"/>
          </a:xfrm>
        </p:grpSpPr>
        <p:sp>
          <p:nvSpPr>
            <p:cNvPr name="Freeform 76" id="76"/>
            <p:cNvSpPr/>
            <p:nvPr/>
          </p:nvSpPr>
          <p:spPr>
            <a:xfrm flipH="false" flipV="false" rot="0">
              <a:off x="0" y="0"/>
              <a:ext cx="2634581" cy="609600"/>
            </a:xfrm>
            <a:custGeom>
              <a:avLst/>
              <a:gdLst/>
              <a:ahLst/>
              <a:cxnLst/>
              <a:rect r="r" b="b" t="t" l="l"/>
              <a:pathLst>
                <a:path h="609600" w="2634581">
                  <a:moveTo>
                    <a:pt x="203200" y="0"/>
                  </a:moveTo>
                  <a:lnTo>
                    <a:pt x="2634581" y="0"/>
                  </a:lnTo>
                  <a:lnTo>
                    <a:pt x="2431381" y="609600"/>
                  </a:lnTo>
                  <a:lnTo>
                    <a:pt x="0" y="609600"/>
                  </a:lnTo>
                  <a:lnTo>
                    <a:pt x="203200" y="0"/>
                  </a:lnTo>
                  <a:close/>
                </a:path>
              </a:pathLst>
            </a:custGeom>
            <a:solidFill>
              <a:srgbClr val="2855BF"/>
            </a:solidFill>
          </p:spPr>
        </p:sp>
        <p:sp>
          <p:nvSpPr>
            <p:cNvPr name="TextBox 77" id="77"/>
            <p:cNvSpPr txBox="true"/>
            <p:nvPr/>
          </p:nvSpPr>
          <p:spPr>
            <a:xfrm>
              <a:off x="101600" y="-47625"/>
              <a:ext cx="2431381" cy="657225"/>
            </a:xfrm>
            <a:prstGeom prst="rect">
              <a:avLst/>
            </a:prstGeom>
          </p:spPr>
          <p:txBody>
            <a:bodyPr anchor="ctr" rtlCol="false" tIns="50800" lIns="50800" bIns="50800" rIns="50800"/>
            <a:lstStyle/>
            <a:p>
              <a:pPr algn="ctr">
                <a:lnSpc>
                  <a:spcPts val="3303"/>
                </a:lnSpc>
              </a:pPr>
            </a:p>
          </p:txBody>
        </p:sp>
      </p:grpSp>
      <p:grpSp>
        <p:nvGrpSpPr>
          <p:cNvPr name="Group 78" id="78"/>
          <p:cNvGrpSpPr/>
          <p:nvPr/>
        </p:nvGrpSpPr>
        <p:grpSpPr>
          <a:xfrm rot="0">
            <a:off x="4198945" y="4230850"/>
            <a:ext cx="1239008" cy="286687"/>
            <a:chOff x="0" y="0"/>
            <a:chExt cx="2634581" cy="609600"/>
          </a:xfrm>
        </p:grpSpPr>
        <p:sp>
          <p:nvSpPr>
            <p:cNvPr name="Freeform 79" id="79"/>
            <p:cNvSpPr/>
            <p:nvPr/>
          </p:nvSpPr>
          <p:spPr>
            <a:xfrm flipH="false" flipV="false" rot="0">
              <a:off x="0" y="0"/>
              <a:ext cx="2634581" cy="609600"/>
            </a:xfrm>
            <a:custGeom>
              <a:avLst/>
              <a:gdLst/>
              <a:ahLst/>
              <a:cxnLst/>
              <a:rect r="r" b="b" t="t" l="l"/>
              <a:pathLst>
                <a:path h="609600" w="2634581">
                  <a:moveTo>
                    <a:pt x="203200" y="0"/>
                  </a:moveTo>
                  <a:lnTo>
                    <a:pt x="2634581" y="0"/>
                  </a:lnTo>
                  <a:lnTo>
                    <a:pt x="2431381" y="609600"/>
                  </a:lnTo>
                  <a:lnTo>
                    <a:pt x="0" y="609600"/>
                  </a:lnTo>
                  <a:lnTo>
                    <a:pt x="203200" y="0"/>
                  </a:lnTo>
                  <a:close/>
                </a:path>
              </a:pathLst>
            </a:custGeom>
            <a:solidFill>
              <a:srgbClr val="FFFFFF"/>
            </a:solidFill>
          </p:spPr>
        </p:sp>
        <p:sp>
          <p:nvSpPr>
            <p:cNvPr name="TextBox 80" id="80"/>
            <p:cNvSpPr txBox="true"/>
            <p:nvPr/>
          </p:nvSpPr>
          <p:spPr>
            <a:xfrm>
              <a:off x="101600" y="-47625"/>
              <a:ext cx="2431381" cy="657225"/>
            </a:xfrm>
            <a:prstGeom prst="rect">
              <a:avLst/>
            </a:prstGeom>
          </p:spPr>
          <p:txBody>
            <a:bodyPr anchor="ctr" rtlCol="false" tIns="50800" lIns="50800" bIns="50800" rIns="50800"/>
            <a:lstStyle/>
            <a:p>
              <a:pPr algn="ctr">
                <a:lnSpc>
                  <a:spcPts val="3303"/>
                </a:lnSpc>
              </a:pP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88880" y="2093379"/>
            <a:ext cx="12943041" cy="9397789"/>
            <a:chOff x="0" y="0"/>
            <a:chExt cx="886402" cy="643606"/>
          </a:xfrm>
        </p:grpSpPr>
        <p:sp>
          <p:nvSpPr>
            <p:cNvPr name="Freeform 3" id="3"/>
            <p:cNvSpPr/>
            <p:nvPr/>
          </p:nvSpPr>
          <p:spPr>
            <a:xfrm flipH="true" flipV="false" rot="0">
              <a:off x="8451" y="0"/>
              <a:ext cx="869500" cy="643606"/>
            </a:xfrm>
            <a:custGeom>
              <a:avLst/>
              <a:gdLst/>
              <a:ahLst/>
              <a:cxnLst/>
              <a:rect r="r" b="b" t="t" l="l"/>
              <a:pathLst>
                <a:path h="643606" w="869500">
                  <a:moveTo>
                    <a:pt x="13265" y="356195"/>
                  </a:moveTo>
                  <a:lnTo>
                    <a:pt x="173032" y="609214"/>
                  </a:lnTo>
                  <a:cubicBezTo>
                    <a:pt x="186551" y="630623"/>
                    <a:pt x="210103" y="643606"/>
                    <a:pt x="235423" y="643606"/>
                  </a:cubicBezTo>
                  <a:lnTo>
                    <a:pt x="634076" y="643606"/>
                  </a:lnTo>
                  <a:cubicBezTo>
                    <a:pt x="659396" y="643606"/>
                    <a:pt x="682948" y="630623"/>
                    <a:pt x="696467" y="609214"/>
                  </a:cubicBezTo>
                  <a:lnTo>
                    <a:pt x="856234" y="356195"/>
                  </a:lnTo>
                  <a:cubicBezTo>
                    <a:pt x="869500" y="335186"/>
                    <a:pt x="869500" y="308420"/>
                    <a:pt x="856234" y="287411"/>
                  </a:cubicBezTo>
                  <a:lnTo>
                    <a:pt x="696467" y="34392"/>
                  </a:lnTo>
                  <a:cubicBezTo>
                    <a:pt x="682948" y="12983"/>
                    <a:pt x="659396" y="0"/>
                    <a:pt x="634076" y="0"/>
                  </a:cubicBezTo>
                  <a:lnTo>
                    <a:pt x="235423" y="0"/>
                  </a:lnTo>
                  <a:cubicBezTo>
                    <a:pt x="210103" y="0"/>
                    <a:pt x="186551" y="12983"/>
                    <a:pt x="173032" y="34392"/>
                  </a:cubicBezTo>
                  <a:lnTo>
                    <a:pt x="13265" y="287411"/>
                  </a:lnTo>
                  <a:cubicBezTo>
                    <a:pt x="0" y="308420"/>
                    <a:pt x="0" y="335186"/>
                    <a:pt x="13265" y="356195"/>
                  </a:cubicBezTo>
                  <a:close/>
                </a:path>
              </a:pathLst>
            </a:custGeom>
            <a:blipFill>
              <a:blip r:embed="rId2"/>
              <a:stretch>
                <a:fillRect l="-1363" t="0" r="-10380" b="0"/>
              </a:stretch>
            </a:blipFill>
          </p:spPr>
        </p:sp>
      </p:grpSp>
      <p:sp>
        <p:nvSpPr>
          <p:cNvPr name="TextBox 4" id="4"/>
          <p:cNvSpPr txBox="true"/>
          <p:nvPr/>
        </p:nvSpPr>
        <p:spPr>
          <a:xfrm rot="0">
            <a:off x="1260964" y="587052"/>
            <a:ext cx="8626118" cy="910178"/>
          </a:xfrm>
          <a:prstGeom prst="rect">
            <a:avLst/>
          </a:prstGeom>
        </p:spPr>
        <p:txBody>
          <a:bodyPr anchor="t" rtlCol="false" tIns="0" lIns="0" bIns="0" rIns="0">
            <a:spAutoFit/>
          </a:bodyPr>
          <a:lstStyle/>
          <a:p>
            <a:pPr algn="l">
              <a:lnSpc>
                <a:spcPts val="6516"/>
              </a:lnSpc>
            </a:pPr>
            <a:r>
              <a:rPr lang="en-US" sz="7489" spc="-247" b="true">
                <a:solidFill>
                  <a:srgbClr val="03045A"/>
                </a:solidFill>
                <a:latin typeface="Open Sauce Bold"/>
                <a:ea typeface="Open Sauce Bold"/>
                <a:cs typeface="Open Sauce Bold"/>
                <a:sym typeface="Open Sauce Bold"/>
              </a:rPr>
              <a:t>Problem</a:t>
            </a:r>
          </a:p>
        </p:txBody>
      </p:sp>
      <p:sp>
        <p:nvSpPr>
          <p:cNvPr name="Freeform 5" id="5"/>
          <p:cNvSpPr/>
          <p:nvPr/>
        </p:nvSpPr>
        <p:spPr>
          <a:xfrm flipH="false" flipV="false" rot="0">
            <a:off x="-2379978" y="-561964"/>
            <a:ext cx="3222691" cy="7884259"/>
          </a:xfrm>
          <a:custGeom>
            <a:avLst/>
            <a:gdLst/>
            <a:ahLst/>
            <a:cxnLst/>
            <a:rect r="r" b="b" t="t" l="l"/>
            <a:pathLst>
              <a:path h="7884259" w="3222691">
                <a:moveTo>
                  <a:pt x="0" y="0"/>
                </a:moveTo>
                <a:lnTo>
                  <a:pt x="3222691" y="0"/>
                </a:lnTo>
                <a:lnTo>
                  <a:pt x="3222691" y="7884259"/>
                </a:lnTo>
                <a:lnTo>
                  <a:pt x="0" y="78842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4815111">
            <a:off x="-974971" y="-75938"/>
            <a:ext cx="3978905" cy="646572"/>
          </a:xfrm>
          <a:custGeom>
            <a:avLst/>
            <a:gdLst/>
            <a:ahLst/>
            <a:cxnLst/>
            <a:rect r="r" b="b" t="t" l="l"/>
            <a:pathLst>
              <a:path h="646572" w="3978905">
                <a:moveTo>
                  <a:pt x="0" y="0"/>
                </a:moveTo>
                <a:lnTo>
                  <a:pt x="3978905" y="0"/>
                </a:lnTo>
                <a:lnTo>
                  <a:pt x="3978905" y="646572"/>
                </a:lnTo>
                <a:lnTo>
                  <a:pt x="0" y="646572"/>
                </a:lnTo>
                <a:lnTo>
                  <a:pt x="0" y="0"/>
                </a:lnTo>
                <a:close/>
              </a:path>
            </a:pathLst>
          </a:custGeom>
          <a:blipFill>
            <a:blip r:embed="rId5">
              <a:alphaModFix amt="71000"/>
            </a:blip>
            <a:stretch>
              <a:fillRect l="0" t="0" r="0" b="0"/>
            </a:stretch>
          </a:blipFill>
        </p:spPr>
      </p:sp>
      <p:sp>
        <p:nvSpPr>
          <p:cNvPr name="Freeform 7" id="7"/>
          <p:cNvSpPr/>
          <p:nvPr/>
        </p:nvSpPr>
        <p:spPr>
          <a:xfrm flipH="true" flipV="false" rot="0">
            <a:off x="8141479" y="1152836"/>
            <a:ext cx="1139647" cy="343849"/>
          </a:xfrm>
          <a:custGeom>
            <a:avLst/>
            <a:gdLst/>
            <a:ahLst/>
            <a:cxnLst/>
            <a:rect r="r" b="b" t="t" l="l"/>
            <a:pathLst>
              <a:path h="343849" w="1139647">
                <a:moveTo>
                  <a:pt x="1139647" y="0"/>
                </a:moveTo>
                <a:lnTo>
                  <a:pt x="0" y="0"/>
                </a:lnTo>
                <a:lnTo>
                  <a:pt x="0" y="343849"/>
                </a:lnTo>
                <a:lnTo>
                  <a:pt x="1139647" y="343849"/>
                </a:lnTo>
                <a:lnTo>
                  <a:pt x="1139647" y="0"/>
                </a:lnTo>
                <a:close/>
              </a:path>
            </a:pathLst>
          </a:custGeom>
          <a:blipFill>
            <a:blip r:embed="rId6">
              <a:extLst>
                <a:ext uri="{96DAC541-7B7A-43D3-8B79-37D633B846F1}">
                  <asvg:svgBlip xmlns:asvg="http://schemas.microsoft.com/office/drawing/2016/SVG/main" r:embed="rId7"/>
                </a:ext>
              </a:extLst>
            </a:blip>
            <a:stretch>
              <a:fillRect l="0" t="0" r="-104552" b="0"/>
            </a:stretch>
          </a:blipFill>
        </p:spPr>
      </p:sp>
      <p:grpSp>
        <p:nvGrpSpPr>
          <p:cNvPr name="Group 8" id="8"/>
          <p:cNvGrpSpPr/>
          <p:nvPr/>
        </p:nvGrpSpPr>
        <p:grpSpPr>
          <a:xfrm rot="0">
            <a:off x="878566" y="3565237"/>
            <a:ext cx="6038525" cy="1164866"/>
            <a:chOff x="0" y="0"/>
            <a:chExt cx="8051366" cy="1553155"/>
          </a:xfrm>
        </p:grpSpPr>
        <p:grpSp>
          <p:nvGrpSpPr>
            <p:cNvPr name="Group 9" id="9"/>
            <p:cNvGrpSpPr/>
            <p:nvPr/>
          </p:nvGrpSpPr>
          <p:grpSpPr>
            <a:xfrm rot="0">
              <a:off x="0" y="393988"/>
              <a:ext cx="8051366" cy="1159167"/>
              <a:chOff x="0" y="0"/>
              <a:chExt cx="4234172" cy="609600"/>
            </a:xfrm>
          </p:grpSpPr>
          <p:sp>
            <p:nvSpPr>
              <p:cNvPr name="Freeform 10" id="10"/>
              <p:cNvSpPr/>
              <p:nvPr/>
            </p:nvSpPr>
            <p:spPr>
              <a:xfrm flipH="false" flipV="false" rot="0">
                <a:off x="4361" y="0"/>
                <a:ext cx="4225450" cy="609600"/>
              </a:xfrm>
              <a:custGeom>
                <a:avLst/>
                <a:gdLst/>
                <a:ahLst/>
                <a:cxnLst/>
                <a:rect r="r" b="b" t="t" l="l"/>
                <a:pathLst>
                  <a:path h="609600" w="4225450">
                    <a:moveTo>
                      <a:pt x="216788" y="0"/>
                    </a:moveTo>
                    <a:lnTo>
                      <a:pt x="4211862" y="0"/>
                    </a:lnTo>
                    <a:cubicBezTo>
                      <a:pt x="4216021" y="0"/>
                      <a:pt x="4219925" y="1999"/>
                      <a:pt x="4222357" y="5373"/>
                    </a:cubicBezTo>
                    <a:cubicBezTo>
                      <a:pt x="4224789" y="8746"/>
                      <a:pt x="4225450" y="13083"/>
                      <a:pt x="4224135" y="17028"/>
                    </a:cubicBezTo>
                    <a:lnTo>
                      <a:pt x="4032287" y="592572"/>
                    </a:lnTo>
                    <a:cubicBezTo>
                      <a:pt x="4028897" y="602741"/>
                      <a:pt x="4019381" y="609600"/>
                      <a:pt x="4008662" y="609600"/>
                    </a:cubicBezTo>
                    <a:lnTo>
                      <a:pt x="13588" y="609600"/>
                    </a:lnTo>
                    <a:cubicBezTo>
                      <a:pt x="9430" y="609600"/>
                      <a:pt x="5525" y="607601"/>
                      <a:pt x="3093" y="604227"/>
                    </a:cubicBezTo>
                    <a:cubicBezTo>
                      <a:pt x="662" y="600854"/>
                      <a:pt x="0" y="596517"/>
                      <a:pt x="1315" y="592572"/>
                    </a:cubicBezTo>
                    <a:lnTo>
                      <a:pt x="193163" y="17028"/>
                    </a:lnTo>
                    <a:cubicBezTo>
                      <a:pt x="196553" y="6859"/>
                      <a:pt x="206069" y="0"/>
                      <a:pt x="216788" y="0"/>
                    </a:cubicBezTo>
                    <a:close/>
                  </a:path>
                </a:pathLst>
              </a:custGeom>
              <a:solidFill>
                <a:srgbClr val="2855BF"/>
              </a:solidFill>
            </p:spPr>
          </p:sp>
          <p:sp>
            <p:nvSpPr>
              <p:cNvPr name="TextBox 11" id="11"/>
              <p:cNvSpPr txBox="true"/>
              <p:nvPr/>
            </p:nvSpPr>
            <p:spPr>
              <a:xfrm>
                <a:off x="101600" y="-47625"/>
                <a:ext cx="4030972" cy="657225"/>
              </a:xfrm>
              <a:prstGeom prst="rect">
                <a:avLst/>
              </a:prstGeom>
            </p:spPr>
            <p:txBody>
              <a:bodyPr anchor="ctr" rtlCol="false" tIns="50800" lIns="50800" bIns="50800" rIns="50800"/>
              <a:lstStyle/>
              <a:p>
                <a:pPr algn="ctr">
                  <a:lnSpc>
                    <a:spcPts val="3303"/>
                  </a:lnSpc>
                </a:pPr>
              </a:p>
            </p:txBody>
          </p:sp>
        </p:grpSp>
        <p:sp>
          <p:nvSpPr>
            <p:cNvPr name="TextBox 12" id="12"/>
            <p:cNvSpPr txBox="true"/>
            <p:nvPr/>
          </p:nvSpPr>
          <p:spPr>
            <a:xfrm rot="0">
              <a:off x="879220" y="805182"/>
              <a:ext cx="6628763" cy="422502"/>
            </a:xfrm>
            <a:prstGeom prst="rect">
              <a:avLst/>
            </a:prstGeom>
          </p:spPr>
          <p:txBody>
            <a:bodyPr anchor="t" rtlCol="false" tIns="0" lIns="0" bIns="0" rIns="0">
              <a:spAutoFit/>
            </a:bodyPr>
            <a:lstStyle/>
            <a:p>
              <a:pPr algn="ctr">
                <a:lnSpc>
                  <a:spcPts val="2178"/>
                </a:lnSpc>
              </a:pPr>
              <a:r>
                <a:rPr lang="en-US" sz="2504" b="true">
                  <a:solidFill>
                    <a:srgbClr val="FFFFFF"/>
                  </a:solidFill>
                  <a:latin typeface="Open Sauce Bold"/>
                  <a:ea typeface="Open Sauce Bold"/>
                  <a:cs typeface="Open Sauce Bold"/>
                  <a:sym typeface="Open Sauce Bold"/>
                </a:rPr>
                <a:t>Rising National Health Burden</a:t>
              </a:r>
            </a:p>
          </p:txBody>
        </p:sp>
        <p:sp>
          <p:nvSpPr>
            <p:cNvPr name="Freeform 13" id="13"/>
            <p:cNvSpPr/>
            <p:nvPr/>
          </p:nvSpPr>
          <p:spPr>
            <a:xfrm flipH="false" flipV="false" rot="0">
              <a:off x="66709" y="0"/>
              <a:ext cx="838571" cy="787975"/>
            </a:xfrm>
            <a:custGeom>
              <a:avLst/>
              <a:gdLst/>
              <a:ahLst/>
              <a:cxnLst/>
              <a:rect r="r" b="b" t="t" l="l"/>
              <a:pathLst>
                <a:path h="787975" w="838571">
                  <a:moveTo>
                    <a:pt x="0" y="0"/>
                  </a:moveTo>
                  <a:lnTo>
                    <a:pt x="838570" y="0"/>
                  </a:lnTo>
                  <a:lnTo>
                    <a:pt x="838570" y="787975"/>
                  </a:lnTo>
                  <a:lnTo>
                    <a:pt x="0" y="787975"/>
                  </a:lnTo>
                  <a:lnTo>
                    <a:pt x="0" y="0"/>
                  </a:lnTo>
                  <a:close/>
                </a:path>
              </a:pathLst>
            </a:custGeom>
            <a:blipFill>
              <a:blip r:embed="rId8">
                <a:extLst>
                  <a:ext uri="{96DAC541-7B7A-43D3-8B79-37D633B846F1}">
                    <asvg:svgBlip xmlns:asvg="http://schemas.microsoft.com/office/drawing/2016/SVG/main" r:embed="rId9"/>
                  </a:ext>
                </a:extLst>
              </a:blip>
              <a:stretch>
                <a:fillRect l="-190806" t="-116698" r="-38684" b="-409457"/>
              </a:stretch>
            </a:blipFill>
          </p:spPr>
        </p:sp>
        <p:sp>
          <p:nvSpPr>
            <p:cNvPr name="Freeform 14" id="14"/>
            <p:cNvSpPr/>
            <p:nvPr/>
          </p:nvSpPr>
          <p:spPr>
            <a:xfrm flipH="false" flipV="false" rot="0">
              <a:off x="255147" y="159327"/>
              <a:ext cx="461695" cy="469322"/>
            </a:xfrm>
            <a:custGeom>
              <a:avLst/>
              <a:gdLst/>
              <a:ahLst/>
              <a:cxnLst/>
              <a:rect r="r" b="b" t="t" l="l"/>
              <a:pathLst>
                <a:path h="469322" w="461695">
                  <a:moveTo>
                    <a:pt x="0" y="0"/>
                  </a:moveTo>
                  <a:lnTo>
                    <a:pt x="461695" y="0"/>
                  </a:lnTo>
                  <a:lnTo>
                    <a:pt x="461695" y="469321"/>
                  </a:lnTo>
                  <a:lnTo>
                    <a:pt x="0" y="469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5" id="15"/>
          <p:cNvGrpSpPr/>
          <p:nvPr/>
        </p:nvGrpSpPr>
        <p:grpSpPr>
          <a:xfrm rot="0">
            <a:off x="7265797" y="6841978"/>
            <a:ext cx="6038525" cy="1164866"/>
            <a:chOff x="0" y="0"/>
            <a:chExt cx="8051366" cy="1553155"/>
          </a:xfrm>
        </p:grpSpPr>
        <p:grpSp>
          <p:nvGrpSpPr>
            <p:cNvPr name="Group 16" id="16"/>
            <p:cNvGrpSpPr/>
            <p:nvPr/>
          </p:nvGrpSpPr>
          <p:grpSpPr>
            <a:xfrm rot="0">
              <a:off x="0" y="393988"/>
              <a:ext cx="8051366" cy="1159167"/>
              <a:chOff x="0" y="0"/>
              <a:chExt cx="4234172" cy="609600"/>
            </a:xfrm>
          </p:grpSpPr>
          <p:sp>
            <p:nvSpPr>
              <p:cNvPr name="Freeform 17" id="17"/>
              <p:cNvSpPr/>
              <p:nvPr/>
            </p:nvSpPr>
            <p:spPr>
              <a:xfrm flipH="false" flipV="false" rot="0">
                <a:off x="4361" y="0"/>
                <a:ext cx="4225450" cy="609600"/>
              </a:xfrm>
              <a:custGeom>
                <a:avLst/>
                <a:gdLst/>
                <a:ahLst/>
                <a:cxnLst/>
                <a:rect r="r" b="b" t="t" l="l"/>
                <a:pathLst>
                  <a:path h="609600" w="4225450">
                    <a:moveTo>
                      <a:pt x="216788" y="0"/>
                    </a:moveTo>
                    <a:lnTo>
                      <a:pt x="4211862" y="0"/>
                    </a:lnTo>
                    <a:cubicBezTo>
                      <a:pt x="4216021" y="0"/>
                      <a:pt x="4219925" y="1999"/>
                      <a:pt x="4222357" y="5373"/>
                    </a:cubicBezTo>
                    <a:cubicBezTo>
                      <a:pt x="4224789" y="8746"/>
                      <a:pt x="4225450" y="13083"/>
                      <a:pt x="4224135" y="17028"/>
                    </a:cubicBezTo>
                    <a:lnTo>
                      <a:pt x="4032287" y="592572"/>
                    </a:lnTo>
                    <a:cubicBezTo>
                      <a:pt x="4028897" y="602741"/>
                      <a:pt x="4019381" y="609600"/>
                      <a:pt x="4008662" y="609600"/>
                    </a:cubicBezTo>
                    <a:lnTo>
                      <a:pt x="13588" y="609600"/>
                    </a:lnTo>
                    <a:cubicBezTo>
                      <a:pt x="9430" y="609600"/>
                      <a:pt x="5525" y="607601"/>
                      <a:pt x="3093" y="604227"/>
                    </a:cubicBezTo>
                    <a:cubicBezTo>
                      <a:pt x="662" y="600854"/>
                      <a:pt x="0" y="596517"/>
                      <a:pt x="1315" y="592572"/>
                    </a:cubicBezTo>
                    <a:lnTo>
                      <a:pt x="193163" y="17028"/>
                    </a:lnTo>
                    <a:cubicBezTo>
                      <a:pt x="196553" y="6859"/>
                      <a:pt x="206069" y="0"/>
                      <a:pt x="216788" y="0"/>
                    </a:cubicBezTo>
                    <a:close/>
                  </a:path>
                </a:pathLst>
              </a:custGeom>
              <a:solidFill>
                <a:srgbClr val="2855BF"/>
              </a:solidFill>
            </p:spPr>
          </p:sp>
          <p:sp>
            <p:nvSpPr>
              <p:cNvPr name="TextBox 18" id="18"/>
              <p:cNvSpPr txBox="true"/>
              <p:nvPr/>
            </p:nvSpPr>
            <p:spPr>
              <a:xfrm>
                <a:off x="101600" y="-47625"/>
                <a:ext cx="4030972" cy="657225"/>
              </a:xfrm>
              <a:prstGeom prst="rect">
                <a:avLst/>
              </a:prstGeom>
            </p:spPr>
            <p:txBody>
              <a:bodyPr anchor="ctr" rtlCol="false" tIns="50800" lIns="50800" bIns="50800" rIns="50800"/>
              <a:lstStyle/>
              <a:p>
                <a:pPr algn="ctr">
                  <a:lnSpc>
                    <a:spcPts val="3303"/>
                  </a:lnSpc>
                </a:pPr>
              </a:p>
            </p:txBody>
          </p:sp>
        </p:grpSp>
        <p:sp>
          <p:nvSpPr>
            <p:cNvPr name="TextBox 19" id="19"/>
            <p:cNvSpPr txBox="true"/>
            <p:nvPr/>
          </p:nvSpPr>
          <p:spPr>
            <a:xfrm rot="0">
              <a:off x="815233" y="591113"/>
              <a:ext cx="6413413" cy="914503"/>
            </a:xfrm>
            <a:prstGeom prst="rect">
              <a:avLst/>
            </a:prstGeom>
          </p:spPr>
          <p:txBody>
            <a:bodyPr anchor="t" rtlCol="false" tIns="0" lIns="0" bIns="0" rIns="0">
              <a:spAutoFit/>
            </a:bodyPr>
            <a:lstStyle/>
            <a:p>
              <a:pPr algn="ctr">
                <a:lnSpc>
                  <a:spcPts val="2629"/>
                </a:lnSpc>
              </a:pPr>
              <a:r>
                <a:rPr lang="en-US" sz="2504" b="true">
                  <a:solidFill>
                    <a:srgbClr val="FFFFFF"/>
                  </a:solidFill>
                  <a:latin typeface="Open Sauce Bold"/>
                  <a:ea typeface="Open Sauce Bold"/>
                  <a:cs typeface="Open Sauce Bold"/>
                  <a:sym typeface="Open Sauce Bold"/>
                </a:rPr>
                <a:t>Heart Disease is Growing, Yet Often Detected Late</a:t>
              </a:r>
            </a:p>
          </p:txBody>
        </p:sp>
        <p:sp>
          <p:nvSpPr>
            <p:cNvPr name="Freeform 20" id="20"/>
            <p:cNvSpPr/>
            <p:nvPr/>
          </p:nvSpPr>
          <p:spPr>
            <a:xfrm flipH="false" flipV="false" rot="0">
              <a:off x="0" y="0"/>
              <a:ext cx="838571" cy="787975"/>
            </a:xfrm>
            <a:custGeom>
              <a:avLst/>
              <a:gdLst/>
              <a:ahLst/>
              <a:cxnLst/>
              <a:rect r="r" b="b" t="t" l="l"/>
              <a:pathLst>
                <a:path h="787975" w="838571">
                  <a:moveTo>
                    <a:pt x="0" y="0"/>
                  </a:moveTo>
                  <a:lnTo>
                    <a:pt x="838571" y="0"/>
                  </a:lnTo>
                  <a:lnTo>
                    <a:pt x="838571" y="787975"/>
                  </a:lnTo>
                  <a:lnTo>
                    <a:pt x="0" y="787975"/>
                  </a:lnTo>
                  <a:lnTo>
                    <a:pt x="0" y="0"/>
                  </a:lnTo>
                  <a:close/>
                </a:path>
              </a:pathLst>
            </a:custGeom>
            <a:blipFill>
              <a:blip r:embed="rId8">
                <a:extLst>
                  <a:ext uri="{96DAC541-7B7A-43D3-8B79-37D633B846F1}">
                    <asvg:svgBlip xmlns:asvg="http://schemas.microsoft.com/office/drawing/2016/SVG/main" r:embed="rId9"/>
                  </a:ext>
                </a:extLst>
              </a:blip>
              <a:stretch>
                <a:fillRect l="-190806" t="-116698" r="-38684" b="-409457"/>
              </a:stretch>
            </a:blipFill>
          </p:spPr>
        </p:sp>
        <p:sp>
          <p:nvSpPr>
            <p:cNvPr name="Freeform 21" id="21"/>
            <p:cNvSpPr/>
            <p:nvPr/>
          </p:nvSpPr>
          <p:spPr>
            <a:xfrm flipH="false" flipV="false" rot="0">
              <a:off x="188438" y="159327"/>
              <a:ext cx="461695" cy="469322"/>
            </a:xfrm>
            <a:custGeom>
              <a:avLst/>
              <a:gdLst/>
              <a:ahLst/>
              <a:cxnLst/>
              <a:rect r="r" b="b" t="t" l="l"/>
              <a:pathLst>
                <a:path h="469322" w="461695">
                  <a:moveTo>
                    <a:pt x="0" y="0"/>
                  </a:moveTo>
                  <a:lnTo>
                    <a:pt x="461695" y="0"/>
                  </a:lnTo>
                  <a:lnTo>
                    <a:pt x="461695" y="469321"/>
                  </a:lnTo>
                  <a:lnTo>
                    <a:pt x="0" y="469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22" id="22"/>
          <p:cNvGrpSpPr/>
          <p:nvPr/>
        </p:nvGrpSpPr>
        <p:grpSpPr>
          <a:xfrm rot="0">
            <a:off x="7240781" y="3610312"/>
            <a:ext cx="6038525" cy="1119792"/>
            <a:chOff x="0" y="0"/>
            <a:chExt cx="8051366" cy="1493056"/>
          </a:xfrm>
        </p:grpSpPr>
        <p:grpSp>
          <p:nvGrpSpPr>
            <p:cNvPr name="Group 23" id="23"/>
            <p:cNvGrpSpPr/>
            <p:nvPr/>
          </p:nvGrpSpPr>
          <p:grpSpPr>
            <a:xfrm rot="0">
              <a:off x="0" y="235103"/>
              <a:ext cx="8051366" cy="1257953"/>
              <a:chOff x="0" y="0"/>
              <a:chExt cx="4465704" cy="697726"/>
            </a:xfrm>
          </p:grpSpPr>
          <p:sp>
            <p:nvSpPr>
              <p:cNvPr name="Freeform 24" id="24"/>
              <p:cNvSpPr/>
              <p:nvPr/>
            </p:nvSpPr>
            <p:spPr>
              <a:xfrm flipH="false" flipV="false" rot="0">
                <a:off x="3834" y="0"/>
                <a:ext cx="4458036" cy="697726"/>
              </a:xfrm>
              <a:custGeom>
                <a:avLst/>
                <a:gdLst/>
                <a:ahLst/>
                <a:cxnLst/>
                <a:rect r="r" b="b" t="t" l="l"/>
                <a:pathLst>
                  <a:path h="697726" w="4458036">
                    <a:moveTo>
                      <a:pt x="217315" y="0"/>
                    </a:moveTo>
                    <a:lnTo>
                      <a:pt x="4443920" y="0"/>
                    </a:lnTo>
                    <a:cubicBezTo>
                      <a:pt x="4448158" y="0"/>
                      <a:pt x="4452149" y="1995"/>
                      <a:pt x="4454693" y="5385"/>
                    </a:cubicBezTo>
                    <a:cubicBezTo>
                      <a:pt x="4457236" y="8775"/>
                      <a:pt x="4458036" y="13164"/>
                      <a:pt x="4456851" y="17233"/>
                    </a:cubicBezTo>
                    <a:lnTo>
                      <a:pt x="4263688" y="680492"/>
                    </a:lnTo>
                    <a:cubicBezTo>
                      <a:pt x="4260714" y="690704"/>
                      <a:pt x="4251356" y="697726"/>
                      <a:pt x="4240720" y="697726"/>
                    </a:cubicBezTo>
                    <a:lnTo>
                      <a:pt x="14115" y="697726"/>
                    </a:lnTo>
                    <a:cubicBezTo>
                      <a:pt x="9877" y="697726"/>
                      <a:pt x="5886" y="695731"/>
                      <a:pt x="3343" y="692341"/>
                    </a:cubicBezTo>
                    <a:cubicBezTo>
                      <a:pt x="799" y="688951"/>
                      <a:pt x="0" y="684561"/>
                      <a:pt x="1185" y="680492"/>
                    </a:cubicBezTo>
                    <a:lnTo>
                      <a:pt x="194347" y="17233"/>
                    </a:lnTo>
                    <a:cubicBezTo>
                      <a:pt x="197321" y="7022"/>
                      <a:pt x="206680" y="0"/>
                      <a:pt x="217315" y="0"/>
                    </a:cubicBezTo>
                    <a:close/>
                  </a:path>
                </a:pathLst>
              </a:custGeom>
              <a:solidFill>
                <a:srgbClr val="2855BF"/>
              </a:solidFill>
            </p:spPr>
          </p:sp>
          <p:sp>
            <p:nvSpPr>
              <p:cNvPr name="TextBox 25" id="25"/>
              <p:cNvSpPr txBox="true"/>
              <p:nvPr/>
            </p:nvSpPr>
            <p:spPr>
              <a:xfrm>
                <a:off x="101600" y="-47625"/>
                <a:ext cx="4262504" cy="745351"/>
              </a:xfrm>
              <a:prstGeom prst="rect">
                <a:avLst/>
              </a:prstGeom>
            </p:spPr>
            <p:txBody>
              <a:bodyPr anchor="ctr" rtlCol="false" tIns="50800" lIns="50800" bIns="50800" rIns="50800"/>
              <a:lstStyle/>
              <a:p>
                <a:pPr algn="ctr">
                  <a:lnSpc>
                    <a:spcPts val="3303"/>
                  </a:lnSpc>
                </a:pPr>
              </a:p>
            </p:txBody>
          </p:sp>
        </p:grpSp>
        <p:sp>
          <p:nvSpPr>
            <p:cNvPr name="TextBox 26" id="26"/>
            <p:cNvSpPr txBox="true"/>
            <p:nvPr/>
          </p:nvSpPr>
          <p:spPr>
            <a:xfrm rot="0">
              <a:off x="1394705" y="714373"/>
              <a:ext cx="5261956" cy="422454"/>
            </a:xfrm>
            <a:prstGeom prst="rect">
              <a:avLst/>
            </a:prstGeom>
          </p:spPr>
          <p:txBody>
            <a:bodyPr anchor="t" rtlCol="false" tIns="0" lIns="0" bIns="0" rIns="0">
              <a:spAutoFit/>
            </a:bodyPr>
            <a:lstStyle/>
            <a:p>
              <a:pPr algn="ctr">
                <a:lnSpc>
                  <a:spcPts val="2178"/>
                </a:lnSpc>
              </a:pPr>
              <a:r>
                <a:rPr lang="en-US" sz="2504" b="true">
                  <a:solidFill>
                    <a:srgbClr val="FFFFFF"/>
                  </a:solidFill>
                  <a:latin typeface="Open Sauce Bold"/>
                  <a:ea typeface="Open Sauce Bold"/>
                  <a:cs typeface="Open Sauce Bold"/>
                  <a:sym typeface="Open Sauce Bold"/>
                </a:rPr>
                <a:t>Cost-Effective Solutions</a:t>
              </a:r>
            </a:p>
          </p:txBody>
        </p:sp>
        <p:sp>
          <p:nvSpPr>
            <p:cNvPr name="Freeform 27" id="27"/>
            <p:cNvSpPr/>
            <p:nvPr/>
          </p:nvSpPr>
          <p:spPr>
            <a:xfrm flipH="false" flipV="false" rot="0">
              <a:off x="169480" y="0"/>
              <a:ext cx="838571" cy="787975"/>
            </a:xfrm>
            <a:custGeom>
              <a:avLst/>
              <a:gdLst/>
              <a:ahLst/>
              <a:cxnLst/>
              <a:rect r="r" b="b" t="t" l="l"/>
              <a:pathLst>
                <a:path h="787975" w="838571">
                  <a:moveTo>
                    <a:pt x="0" y="0"/>
                  </a:moveTo>
                  <a:lnTo>
                    <a:pt x="838570" y="0"/>
                  </a:lnTo>
                  <a:lnTo>
                    <a:pt x="838570" y="787975"/>
                  </a:lnTo>
                  <a:lnTo>
                    <a:pt x="0" y="787975"/>
                  </a:lnTo>
                  <a:lnTo>
                    <a:pt x="0" y="0"/>
                  </a:lnTo>
                  <a:close/>
                </a:path>
              </a:pathLst>
            </a:custGeom>
            <a:blipFill>
              <a:blip r:embed="rId8">
                <a:extLst>
                  <a:ext uri="{96DAC541-7B7A-43D3-8B79-37D633B846F1}">
                    <asvg:svgBlip xmlns:asvg="http://schemas.microsoft.com/office/drawing/2016/SVG/main" r:embed="rId9"/>
                  </a:ext>
                </a:extLst>
              </a:blip>
              <a:stretch>
                <a:fillRect l="-190806" t="-116698" r="-38684" b="-409457"/>
              </a:stretch>
            </a:blipFill>
          </p:spPr>
        </p:sp>
        <p:sp>
          <p:nvSpPr>
            <p:cNvPr name="Freeform 28" id="28"/>
            <p:cNvSpPr/>
            <p:nvPr/>
          </p:nvSpPr>
          <p:spPr>
            <a:xfrm flipH="false" flipV="false" rot="0">
              <a:off x="357917" y="159327"/>
              <a:ext cx="461695" cy="469322"/>
            </a:xfrm>
            <a:custGeom>
              <a:avLst/>
              <a:gdLst/>
              <a:ahLst/>
              <a:cxnLst/>
              <a:rect r="r" b="b" t="t" l="l"/>
              <a:pathLst>
                <a:path h="469322" w="461695">
                  <a:moveTo>
                    <a:pt x="0" y="0"/>
                  </a:moveTo>
                  <a:lnTo>
                    <a:pt x="461695" y="0"/>
                  </a:lnTo>
                  <a:lnTo>
                    <a:pt x="461695" y="469321"/>
                  </a:lnTo>
                  <a:lnTo>
                    <a:pt x="0" y="469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29" id="29"/>
          <p:cNvGrpSpPr/>
          <p:nvPr/>
        </p:nvGrpSpPr>
        <p:grpSpPr>
          <a:xfrm rot="0">
            <a:off x="13688880" y="594369"/>
            <a:ext cx="3810714" cy="1175610"/>
            <a:chOff x="0" y="0"/>
            <a:chExt cx="5080951" cy="1567480"/>
          </a:xfrm>
        </p:grpSpPr>
        <p:sp>
          <p:nvSpPr>
            <p:cNvPr name="TextBox 30" id="30"/>
            <p:cNvSpPr txBox="true"/>
            <p:nvPr/>
          </p:nvSpPr>
          <p:spPr>
            <a:xfrm rot="0">
              <a:off x="0" y="209112"/>
              <a:ext cx="3513472" cy="777982"/>
            </a:xfrm>
            <a:prstGeom prst="rect">
              <a:avLst/>
            </a:prstGeom>
          </p:spPr>
          <p:txBody>
            <a:bodyPr anchor="t" rtlCol="false" tIns="0" lIns="0" bIns="0" rIns="0">
              <a:spAutoFit/>
            </a:bodyPr>
            <a:lstStyle/>
            <a:p>
              <a:pPr algn="r">
                <a:lnSpc>
                  <a:spcPts val="4973"/>
                </a:lnSpc>
              </a:pPr>
              <a:r>
                <a:rPr lang="en-US" b="true" sz="3552" spc="-117">
                  <a:solidFill>
                    <a:srgbClr val="03045A"/>
                  </a:solidFill>
                  <a:latin typeface="Open Sauce Heavy"/>
                  <a:ea typeface="Open Sauce Heavy"/>
                  <a:cs typeface="Open Sauce Heavy"/>
                  <a:sym typeface="Open Sauce Heavy"/>
                </a:rPr>
                <a:t>Prediksa</a:t>
              </a:r>
            </a:p>
          </p:txBody>
        </p:sp>
        <p:sp>
          <p:nvSpPr>
            <p:cNvPr name="TextBox 31" id="31"/>
            <p:cNvSpPr txBox="true"/>
            <p:nvPr/>
          </p:nvSpPr>
          <p:spPr>
            <a:xfrm rot="0">
              <a:off x="1335717" y="910310"/>
              <a:ext cx="2177754" cy="472258"/>
            </a:xfrm>
            <a:prstGeom prst="rect">
              <a:avLst/>
            </a:prstGeom>
          </p:spPr>
          <p:txBody>
            <a:bodyPr anchor="t" rtlCol="false" tIns="0" lIns="0" bIns="0" rIns="0">
              <a:spAutoFit/>
            </a:bodyPr>
            <a:lstStyle/>
            <a:p>
              <a:pPr algn="r">
                <a:lnSpc>
                  <a:spcPts val="3082"/>
                </a:lnSpc>
              </a:pPr>
              <a:r>
                <a:rPr lang="en-US" sz="2202" spc="61">
                  <a:solidFill>
                    <a:srgbClr val="03045A"/>
                  </a:solidFill>
                  <a:latin typeface="Open Sauce"/>
                  <a:ea typeface="Open Sauce"/>
                  <a:cs typeface="Open Sauce"/>
                  <a:sym typeface="Open Sauce"/>
                </a:rPr>
                <a:t>Company</a:t>
              </a:r>
            </a:p>
          </p:txBody>
        </p:sp>
        <p:sp>
          <p:nvSpPr>
            <p:cNvPr name="Freeform 32" id="32"/>
            <p:cNvSpPr/>
            <p:nvPr/>
          </p:nvSpPr>
          <p:spPr>
            <a:xfrm flipH="false" flipV="false" rot="0">
              <a:off x="3513472" y="0"/>
              <a:ext cx="1567480" cy="1567480"/>
            </a:xfrm>
            <a:custGeom>
              <a:avLst/>
              <a:gdLst/>
              <a:ahLst/>
              <a:cxnLst/>
              <a:rect r="r" b="b" t="t" l="l"/>
              <a:pathLst>
                <a:path h="1567480" w="1567480">
                  <a:moveTo>
                    <a:pt x="0" y="0"/>
                  </a:moveTo>
                  <a:lnTo>
                    <a:pt x="1567479" y="0"/>
                  </a:lnTo>
                  <a:lnTo>
                    <a:pt x="1567479" y="1567480"/>
                  </a:lnTo>
                  <a:lnTo>
                    <a:pt x="0" y="1567480"/>
                  </a:lnTo>
                  <a:lnTo>
                    <a:pt x="0" y="0"/>
                  </a:lnTo>
                  <a:close/>
                </a:path>
              </a:pathLst>
            </a:custGeom>
            <a:blipFill>
              <a:blip r:embed="rId12"/>
              <a:stretch>
                <a:fillRect l="0" t="0" r="0" b="0"/>
              </a:stretch>
            </a:blipFill>
          </p:spPr>
        </p:sp>
      </p:grpSp>
      <p:grpSp>
        <p:nvGrpSpPr>
          <p:cNvPr name="Group 33" id="33"/>
          <p:cNvGrpSpPr/>
          <p:nvPr/>
        </p:nvGrpSpPr>
        <p:grpSpPr>
          <a:xfrm rot="0">
            <a:off x="842713" y="6863613"/>
            <a:ext cx="5974274" cy="1239287"/>
            <a:chOff x="0" y="0"/>
            <a:chExt cx="7965699" cy="1652383"/>
          </a:xfrm>
        </p:grpSpPr>
        <p:grpSp>
          <p:nvGrpSpPr>
            <p:cNvPr name="Group 34" id="34"/>
            <p:cNvGrpSpPr/>
            <p:nvPr/>
          </p:nvGrpSpPr>
          <p:grpSpPr>
            <a:xfrm rot="0">
              <a:off x="0" y="393988"/>
              <a:ext cx="7965699" cy="1258395"/>
              <a:chOff x="0" y="0"/>
              <a:chExt cx="4660597" cy="736266"/>
            </a:xfrm>
          </p:grpSpPr>
          <p:sp>
            <p:nvSpPr>
              <p:cNvPr name="Freeform 35" id="35"/>
              <p:cNvSpPr/>
              <p:nvPr/>
            </p:nvSpPr>
            <p:spPr>
              <a:xfrm flipH="false" flipV="false" rot="0">
                <a:off x="3679" y="0"/>
                <a:ext cx="4653238" cy="736266"/>
              </a:xfrm>
              <a:custGeom>
                <a:avLst/>
                <a:gdLst/>
                <a:ahLst/>
                <a:cxnLst/>
                <a:rect r="r" b="b" t="t" l="l"/>
                <a:pathLst>
                  <a:path h="736266" w="4653238">
                    <a:moveTo>
                      <a:pt x="217663" y="0"/>
                    </a:moveTo>
                    <a:lnTo>
                      <a:pt x="4638776" y="0"/>
                    </a:lnTo>
                    <a:cubicBezTo>
                      <a:pt x="4643088" y="0"/>
                      <a:pt x="4647153" y="2014"/>
                      <a:pt x="4649766" y="5445"/>
                    </a:cubicBezTo>
                    <a:cubicBezTo>
                      <a:pt x="4652379" y="8877"/>
                      <a:pt x="4653239" y="13331"/>
                      <a:pt x="4652091" y="17488"/>
                    </a:cubicBezTo>
                    <a:lnTo>
                      <a:pt x="4458544" y="718777"/>
                    </a:lnTo>
                    <a:cubicBezTo>
                      <a:pt x="4455693" y="729109"/>
                      <a:pt x="4446294" y="736266"/>
                      <a:pt x="4435576" y="736266"/>
                    </a:cubicBezTo>
                    <a:lnTo>
                      <a:pt x="14463" y="736266"/>
                    </a:lnTo>
                    <a:cubicBezTo>
                      <a:pt x="10151" y="736266"/>
                      <a:pt x="6085" y="734252"/>
                      <a:pt x="3473" y="730820"/>
                    </a:cubicBezTo>
                    <a:cubicBezTo>
                      <a:pt x="860" y="727389"/>
                      <a:pt x="0" y="722935"/>
                      <a:pt x="1148" y="718777"/>
                    </a:cubicBezTo>
                    <a:lnTo>
                      <a:pt x="194694" y="17488"/>
                    </a:lnTo>
                    <a:cubicBezTo>
                      <a:pt x="197546" y="7156"/>
                      <a:pt x="206945" y="0"/>
                      <a:pt x="217663" y="0"/>
                    </a:cubicBezTo>
                    <a:close/>
                  </a:path>
                </a:pathLst>
              </a:custGeom>
              <a:solidFill>
                <a:srgbClr val="2855BF"/>
              </a:solidFill>
            </p:spPr>
          </p:sp>
          <p:sp>
            <p:nvSpPr>
              <p:cNvPr name="TextBox 36" id="36"/>
              <p:cNvSpPr txBox="true"/>
              <p:nvPr/>
            </p:nvSpPr>
            <p:spPr>
              <a:xfrm>
                <a:off x="101600" y="-47625"/>
                <a:ext cx="4457397" cy="783891"/>
              </a:xfrm>
              <a:prstGeom prst="rect">
                <a:avLst/>
              </a:prstGeom>
            </p:spPr>
            <p:txBody>
              <a:bodyPr anchor="ctr" rtlCol="false" tIns="50800" lIns="50800" bIns="50800" rIns="50800"/>
              <a:lstStyle/>
              <a:p>
                <a:pPr algn="ctr">
                  <a:lnSpc>
                    <a:spcPts val="3303"/>
                  </a:lnSpc>
                </a:pPr>
              </a:p>
            </p:txBody>
          </p:sp>
        </p:grpSp>
        <p:sp>
          <p:nvSpPr>
            <p:cNvPr name="TextBox 37" id="37"/>
            <p:cNvSpPr txBox="true"/>
            <p:nvPr/>
          </p:nvSpPr>
          <p:spPr>
            <a:xfrm rot="0">
              <a:off x="782980" y="714373"/>
              <a:ext cx="6628763" cy="790802"/>
            </a:xfrm>
            <a:prstGeom prst="rect">
              <a:avLst/>
            </a:prstGeom>
          </p:spPr>
          <p:txBody>
            <a:bodyPr anchor="t" rtlCol="false" tIns="0" lIns="0" bIns="0" rIns="0">
              <a:spAutoFit/>
            </a:bodyPr>
            <a:lstStyle/>
            <a:p>
              <a:pPr algn="ctr">
                <a:lnSpc>
                  <a:spcPts val="2178"/>
                </a:lnSpc>
              </a:pPr>
              <a:r>
                <a:rPr lang="en-US" sz="2504" b="true">
                  <a:solidFill>
                    <a:srgbClr val="FFFFFF"/>
                  </a:solidFill>
                  <a:latin typeface="Open Sauce Bold"/>
                  <a:ea typeface="Open Sauce Bold"/>
                  <a:cs typeface="Open Sauce Bold"/>
                  <a:sym typeface="Open Sauce Bold"/>
                </a:rPr>
                <a:t>Top Contributor to Insurance Claims</a:t>
              </a:r>
            </a:p>
          </p:txBody>
        </p:sp>
        <p:sp>
          <p:nvSpPr>
            <p:cNvPr name="Freeform 38" id="38"/>
            <p:cNvSpPr/>
            <p:nvPr/>
          </p:nvSpPr>
          <p:spPr>
            <a:xfrm flipH="false" flipV="false" rot="0">
              <a:off x="66709" y="0"/>
              <a:ext cx="838571" cy="787975"/>
            </a:xfrm>
            <a:custGeom>
              <a:avLst/>
              <a:gdLst/>
              <a:ahLst/>
              <a:cxnLst/>
              <a:rect r="r" b="b" t="t" l="l"/>
              <a:pathLst>
                <a:path h="787975" w="838571">
                  <a:moveTo>
                    <a:pt x="0" y="0"/>
                  </a:moveTo>
                  <a:lnTo>
                    <a:pt x="838570" y="0"/>
                  </a:lnTo>
                  <a:lnTo>
                    <a:pt x="838570" y="787975"/>
                  </a:lnTo>
                  <a:lnTo>
                    <a:pt x="0" y="787975"/>
                  </a:lnTo>
                  <a:lnTo>
                    <a:pt x="0" y="0"/>
                  </a:lnTo>
                  <a:close/>
                </a:path>
              </a:pathLst>
            </a:custGeom>
            <a:blipFill>
              <a:blip r:embed="rId8">
                <a:extLst>
                  <a:ext uri="{96DAC541-7B7A-43D3-8B79-37D633B846F1}">
                    <asvg:svgBlip xmlns:asvg="http://schemas.microsoft.com/office/drawing/2016/SVG/main" r:embed="rId9"/>
                  </a:ext>
                </a:extLst>
              </a:blip>
              <a:stretch>
                <a:fillRect l="-190806" t="-116698" r="-38684" b="-409457"/>
              </a:stretch>
            </a:blipFill>
          </p:spPr>
        </p:sp>
        <p:sp>
          <p:nvSpPr>
            <p:cNvPr name="Freeform 39" id="39"/>
            <p:cNvSpPr/>
            <p:nvPr/>
          </p:nvSpPr>
          <p:spPr>
            <a:xfrm flipH="false" flipV="false" rot="0">
              <a:off x="255147" y="159327"/>
              <a:ext cx="461695" cy="469322"/>
            </a:xfrm>
            <a:custGeom>
              <a:avLst/>
              <a:gdLst/>
              <a:ahLst/>
              <a:cxnLst/>
              <a:rect r="r" b="b" t="t" l="l"/>
              <a:pathLst>
                <a:path h="469322" w="461695">
                  <a:moveTo>
                    <a:pt x="0" y="0"/>
                  </a:moveTo>
                  <a:lnTo>
                    <a:pt x="461695" y="0"/>
                  </a:lnTo>
                  <a:lnTo>
                    <a:pt x="461695" y="469321"/>
                  </a:lnTo>
                  <a:lnTo>
                    <a:pt x="0" y="469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40" id="40"/>
          <p:cNvSpPr txBox="true"/>
          <p:nvPr/>
        </p:nvSpPr>
        <p:spPr>
          <a:xfrm rot="0">
            <a:off x="1246745" y="1589711"/>
            <a:ext cx="6362107" cy="1091529"/>
          </a:xfrm>
          <a:prstGeom prst="rect">
            <a:avLst/>
          </a:prstGeom>
        </p:spPr>
        <p:txBody>
          <a:bodyPr anchor="t" rtlCol="false" tIns="0" lIns="0" bIns="0" rIns="0">
            <a:spAutoFit/>
          </a:bodyPr>
          <a:lstStyle/>
          <a:p>
            <a:pPr algn="l">
              <a:lnSpc>
                <a:spcPts val="7830"/>
              </a:lnSpc>
            </a:pPr>
            <a:r>
              <a:rPr lang="en-US" sz="9000" spc="-297" b="true">
                <a:solidFill>
                  <a:srgbClr val="2855BF"/>
                </a:solidFill>
                <a:latin typeface="Open Sauce Bold"/>
                <a:ea typeface="Open Sauce Bold"/>
                <a:cs typeface="Open Sauce Bold"/>
                <a:sym typeface="Open Sauce Bold"/>
              </a:rPr>
              <a:t>Statement</a:t>
            </a:r>
          </a:p>
        </p:txBody>
      </p:sp>
      <p:sp>
        <p:nvSpPr>
          <p:cNvPr name="TextBox 41" id="41"/>
          <p:cNvSpPr txBox="true"/>
          <p:nvPr/>
        </p:nvSpPr>
        <p:spPr>
          <a:xfrm rot="0">
            <a:off x="928597" y="5025378"/>
            <a:ext cx="5802506" cy="1533525"/>
          </a:xfrm>
          <a:prstGeom prst="rect">
            <a:avLst/>
          </a:prstGeom>
        </p:spPr>
        <p:txBody>
          <a:bodyPr anchor="t" rtlCol="false" tIns="0" lIns="0" bIns="0" rIns="0">
            <a:spAutoFit/>
          </a:bodyPr>
          <a:lstStyle/>
          <a:p>
            <a:pPr algn="just">
              <a:lnSpc>
                <a:spcPts val="2400"/>
              </a:lnSpc>
            </a:pPr>
            <a:r>
              <a:rPr lang="en-US" sz="2000" u="sng">
                <a:solidFill>
                  <a:srgbClr val="03045A"/>
                </a:solidFill>
                <a:latin typeface="Open Sauce"/>
                <a:ea typeface="Open Sauce"/>
                <a:cs typeface="Open Sauce"/>
                <a:sym typeface="Open Sauce"/>
                <a:hlinkClick r:id="rId13" tooltip="https://en.antaranews.com/news/295374/rp1537-tln-used-to-fund-heart-disease-stroke-treatment-costs-govt"/>
              </a:rPr>
              <a:t>In 2022, the Indonesian government spent over Rp15.37 trillion (US$983M) on heart and stroke treatments under the national health insurance scheme (JKN), signaling a heavy reliance on late-stage intervention.</a:t>
            </a:r>
          </a:p>
        </p:txBody>
      </p:sp>
      <p:sp>
        <p:nvSpPr>
          <p:cNvPr name="TextBox 42" id="42"/>
          <p:cNvSpPr txBox="true"/>
          <p:nvPr/>
        </p:nvSpPr>
        <p:spPr>
          <a:xfrm rot="0">
            <a:off x="7290812" y="8302119"/>
            <a:ext cx="5821488" cy="1228725"/>
          </a:xfrm>
          <a:prstGeom prst="rect">
            <a:avLst/>
          </a:prstGeom>
        </p:spPr>
        <p:txBody>
          <a:bodyPr anchor="t" rtlCol="false" tIns="0" lIns="0" bIns="0" rIns="0">
            <a:spAutoFit/>
          </a:bodyPr>
          <a:lstStyle/>
          <a:p>
            <a:pPr algn="just">
              <a:lnSpc>
                <a:spcPts val="2400"/>
              </a:lnSpc>
            </a:pPr>
            <a:r>
              <a:rPr lang="en-US" sz="2000">
                <a:solidFill>
                  <a:srgbClr val="03045A"/>
                </a:solidFill>
                <a:latin typeface="Open Sauce"/>
                <a:ea typeface="Open Sauce"/>
                <a:cs typeface="Open Sauce"/>
                <a:sym typeface="Open Sauce"/>
              </a:rPr>
              <a:t>The prevalence of heart disease rose from 1.5% (2018) to 2.2% (2022), based on Riskesdas data — many patients are unaware of their condition until it becomes critical.</a:t>
            </a:r>
          </a:p>
        </p:txBody>
      </p:sp>
      <p:sp>
        <p:nvSpPr>
          <p:cNvPr name="TextBox 43" id="43"/>
          <p:cNvSpPr txBox="true"/>
          <p:nvPr/>
        </p:nvSpPr>
        <p:spPr>
          <a:xfrm rot="0">
            <a:off x="7265797" y="5025378"/>
            <a:ext cx="6013509" cy="1533525"/>
          </a:xfrm>
          <a:prstGeom prst="rect">
            <a:avLst/>
          </a:prstGeom>
        </p:spPr>
        <p:txBody>
          <a:bodyPr anchor="t" rtlCol="false" tIns="0" lIns="0" bIns="0" rIns="0">
            <a:spAutoFit/>
          </a:bodyPr>
          <a:lstStyle/>
          <a:p>
            <a:pPr algn="just">
              <a:lnSpc>
                <a:spcPts val="2400"/>
              </a:lnSpc>
            </a:pPr>
            <a:r>
              <a:rPr lang="en-US" sz="2000" u="sng">
                <a:solidFill>
                  <a:srgbClr val="03045A"/>
                </a:solidFill>
                <a:latin typeface="Open Sauce"/>
                <a:ea typeface="Open Sauce"/>
                <a:cs typeface="Open Sauce"/>
                <a:sym typeface="Open Sauce"/>
                <a:hlinkClick r:id="rId14" tooltip="https://pmc.ncbi.nlm.nih.gov/articles/PMC12059770/"/>
              </a:rPr>
              <a:t>A 2025 study in the Journal of National Institute of Health showed that cardiovascular risk prediction using big data and machine learning is more accurate and less costly than traditional methods.</a:t>
            </a:r>
          </a:p>
        </p:txBody>
      </p:sp>
      <p:sp>
        <p:nvSpPr>
          <p:cNvPr name="TextBox 44" id="44"/>
          <p:cNvSpPr txBox="true"/>
          <p:nvPr/>
        </p:nvSpPr>
        <p:spPr>
          <a:xfrm rot="0">
            <a:off x="934010" y="8318823"/>
            <a:ext cx="5797093" cy="1228725"/>
          </a:xfrm>
          <a:prstGeom prst="rect">
            <a:avLst/>
          </a:prstGeom>
        </p:spPr>
        <p:txBody>
          <a:bodyPr anchor="t" rtlCol="false" tIns="0" lIns="0" bIns="0" rIns="0">
            <a:spAutoFit/>
          </a:bodyPr>
          <a:lstStyle/>
          <a:p>
            <a:pPr algn="just">
              <a:lnSpc>
                <a:spcPts val="2400"/>
              </a:lnSpc>
            </a:pPr>
            <a:r>
              <a:rPr lang="en-US" sz="2000" u="sng">
                <a:solidFill>
                  <a:srgbClr val="03045A"/>
                </a:solidFill>
                <a:latin typeface="Open Sauce"/>
                <a:ea typeface="Open Sauce"/>
                <a:cs typeface="Open Sauce"/>
                <a:sym typeface="Open Sauce"/>
                <a:hlinkClick r:id="rId15" tooltip="https://www.cnbctv18.com/personal-finance/heart-disease-health-insurance-claims-double-five-years-rising-treatment-costs-19497111.htm"/>
              </a:rPr>
              <a:t>In 2023, heart disease was among the top 5 causes of life insurance health claims, leading to growing financial pressure for both public and private insurers.</a:t>
            </a:r>
          </a:p>
        </p:txBody>
      </p:sp>
      <p:sp>
        <p:nvSpPr>
          <p:cNvPr name="TextBox 45" id="45"/>
          <p:cNvSpPr txBox="true"/>
          <p:nvPr/>
        </p:nvSpPr>
        <p:spPr>
          <a:xfrm rot="0">
            <a:off x="1180811" y="2736161"/>
            <a:ext cx="11931489" cy="427137"/>
          </a:xfrm>
          <a:prstGeom prst="rect">
            <a:avLst/>
          </a:prstGeom>
        </p:spPr>
        <p:txBody>
          <a:bodyPr anchor="t" rtlCol="false" tIns="0" lIns="0" bIns="0" rIns="0">
            <a:spAutoFit/>
          </a:bodyPr>
          <a:lstStyle/>
          <a:p>
            <a:pPr algn="l">
              <a:lnSpc>
                <a:spcPts val="3132"/>
              </a:lnSpc>
            </a:pPr>
            <a:r>
              <a:rPr lang="en-US" sz="3600" i="true" spc="-118">
                <a:solidFill>
                  <a:srgbClr val="03045A"/>
                </a:solidFill>
                <a:latin typeface="Open Sauce Italics"/>
                <a:ea typeface="Open Sauce Italics"/>
                <a:cs typeface="Open Sauce Italics"/>
                <a:sym typeface="Open Sauce Italics"/>
              </a:rPr>
              <a:t>The Urgent N</a:t>
            </a:r>
            <a:r>
              <a:rPr lang="en-US" sz="3600" i="true" spc="-118">
                <a:solidFill>
                  <a:srgbClr val="03045A"/>
                </a:solidFill>
                <a:latin typeface="Open Sauce Italics"/>
                <a:ea typeface="Open Sauce Italics"/>
                <a:cs typeface="Open Sauce Italics"/>
                <a:sym typeface="Open Sauce Italics"/>
              </a:rPr>
              <a:t>eed for Early Cardiovascular Risk Prediction</a:t>
            </a:r>
          </a:p>
        </p:txBody>
      </p:sp>
      <p:sp>
        <p:nvSpPr>
          <p:cNvPr name="TextBox 46" id="46"/>
          <p:cNvSpPr txBox="true"/>
          <p:nvPr/>
        </p:nvSpPr>
        <p:spPr>
          <a:xfrm rot="0">
            <a:off x="7281287" y="9542818"/>
            <a:ext cx="5821488" cy="619125"/>
          </a:xfrm>
          <a:prstGeom prst="rect">
            <a:avLst/>
          </a:prstGeom>
        </p:spPr>
        <p:txBody>
          <a:bodyPr anchor="t" rtlCol="false" tIns="0" lIns="0" bIns="0" rIns="0">
            <a:spAutoFit/>
          </a:bodyPr>
          <a:lstStyle/>
          <a:p>
            <a:pPr algn="just">
              <a:lnSpc>
                <a:spcPts val="2400"/>
              </a:lnSpc>
            </a:pPr>
            <a:r>
              <a:rPr lang="en-US" sz="2000" u="sng">
                <a:solidFill>
                  <a:srgbClr val="03045A"/>
                </a:solidFill>
                <a:latin typeface="Open Sauce"/>
                <a:ea typeface="Open Sauce"/>
                <a:cs typeface="Open Sauce"/>
                <a:sym typeface="Open Sauce"/>
                <a:hlinkClick r:id="rId16" tooltip="https://ejurnal.seminar-id.com/index.php/josh/article/download/6390/3443/?utm_source=chatgpt.com"/>
              </a:rPr>
              <a:t>Resource : https://shorturl.asia/UZGva</a:t>
            </a:r>
          </a:p>
          <a:p>
            <a:pPr algn="just">
              <a:lnSpc>
                <a:spcPts val="2400"/>
              </a:lnSpc>
            </a:pPr>
          </a:p>
        </p:txBody>
      </p:sp>
      <p:sp>
        <p:nvSpPr>
          <p:cNvPr name="TextBox 47" id="47"/>
          <p:cNvSpPr txBox="true"/>
          <p:nvPr/>
        </p:nvSpPr>
        <p:spPr>
          <a:xfrm rot="0">
            <a:off x="7748012" y="10231068"/>
            <a:ext cx="5821488" cy="619125"/>
          </a:xfrm>
          <a:prstGeom prst="rect">
            <a:avLst/>
          </a:prstGeom>
        </p:spPr>
        <p:txBody>
          <a:bodyPr anchor="t" rtlCol="false" tIns="0" lIns="0" bIns="0" rIns="0">
            <a:spAutoFit/>
          </a:bodyPr>
          <a:lstStyle/>
          <a:p>
            <a:pPr algn="just">
              <a:lnSpc>
                <a:spcPts val="2400"/>
              </a:lnSpc>
            </a:pPr>
            <a:r>
              <a:rPr lang="en-US" sz="2000" u="sng">
                <a:solidFill>
                  <a:srgbClr val="03045A"/>
                </a:solidFill>
                <a:latin typeface="Open Sauce"/>
                <a:ea typeface="Open Sauce"/>
                <a:cs typeface="Open Sauce"/>
                <a:sym typeface="Open Sauce"/>
                <a:hlinkClick r:id="rId17" tooltip="https://ejurnal.seminar-id.com/index.php/josh/article/download/6390/3443/?utm_source=chatgpt.com"/>
              </a:rPr>
              <a:t>Resource : https://shorturl.asia/UZGva</a:t>
            </a:r>
          </a:p>
          <a:p>
            <a:pPr algn="just">
              <a:lnSpc>
                <a:spcPts val="24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29267">
            <a:off x="16741875" y="-625459"/>
            <a:ext cx="4373544" cy="11595469"/>
            <a:chOff x="0" y="0"/>
            <a:chExt cx="408168" cy="1082166"/>
          </a:xfrm>
        </p:grpSpPr>
        <p:sp>
          <p:nvSpPr>
            <p:cNvPr name="Freeform 3" id="3"/>
            <p:cNvSpPr/>
            <p:nvPr/>
          </p:nvSpPr>
          <p:spPr>
            <a:xfrm flipH="false" flipV="false" rot="0">
              <a:off x="0" y="0"/>
              <a:ext cx="408168" cy="1082166"/>
            </a:xfrm>
            <a:custGeom>
              <a:avLst/>
              <a:gdLst/>
              <a:ahLst/>
              <a:cxnLst/>
              <a:rect r="r" b="b" t="t" l="l"/>
              <a:pathLst>
                <a:path h="1082166" w="408168">
                  <a:moveTo>
                    <a:pt x="203200" y="0"/>
                  </a:moveTo>
                  <a:lnTo>
                    <a:pt x="408168" y="0"/>
                  </a:lnTo>
                  <a:lnTo>
                    <a:pt x="204968" y="1082166"/>
                  </a:lnTo>
                  <a:lnTo>
                    <a:pt x="0" y="1082166"/>
                  </a:lnTo>
                  <a:lnTo>
                    <a:pt x="203200" y="0"/>
                  </a:lnTo>
                  <a:close/>
                </a:path>
              </a:pathLst>
            </a:custGeom>
            <a:solidFill>
              <a:srgbClr val="416BD0"/>
            </a:solidFill>
          </p:spPr>
        </p:sp>
        <p:sp>
          <p:nvSpPr>
            <p:cNvPr name="TextBox 4" id="4"/>
            <p:cNvSpPr txBox="true"/>
            <p:nvPr/>
          </p:nvSpPr>
          <p:spPr>
            <a:xfrm>
              <a:off x="101600" y="-47625"/>
              <a:ext cx="204968" cy="1129791"/>
            </a:xfrm>
            <a:prstGeom prst="rect">
              <a:avLst/>
            </a:prstGeom>
          </p:spPr>
          <p:txBody>
            <a:bodyPr anchor="ctr" rtlCol="false" tIns="50800" lIns="50800" bIns="50800" rIns="50800"/>
            <a:lstStyle/>
            <a:p>
              <a:pPr algn="ctr">
                <a:lnSpc>
                  <a:spcPts val="3303"/>
                </a:lnSpc>
              </a:pPr>
            </a:p>
          </p:txBody>
        </p:sp>
      </p:grpSp>
      <p:sp>
        <p:nvSpPr>
          <p:cNvPr name="Freeform 5" id="5"/>
          <p:cNvSpPr/>
          <p:nvPr/>
        </p:nvSpPr>
        <p:spPr>
          <a:xfrm flipH="false" flipV="false" rot="0">
            <a:off x="15908769" y="6997284"/>
            <a:ext cx="2157139" cy="5277405"/>
          </a:xfrm>
          <a:custGeom>
            <a:avLst/>
            <a:gdLst/>
            <a:ahLst/>
            <a:cxnLst/>
            <a:rect r="r" b="b" t="t" l="l"/>
            <a:pathLst>
              <a:path h="5277405" w="2157139">
                <a:moveTo>
                  <a:pt x="0" y="0"/>
                </a:moveTo>
                <a:lnTo>
                  <a:pt x="2157140" y="0"/>
                </a:lnTo>
                <a:lnTo>
                  <a:pt x="2157140" y="5277405"/>
                </a:lnTo>
                <a:lnTo>
                  <a:pt x="0" y="52774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3030519" y="-786875"/>
            <a:ext cx="12410572" cy="11595469"/>
            <a:chOff x="0" y="0"/>
            <a:chExt cx="1158237" cy="1082166"/>
          </a:xfrm>
        </p:grpSpPr>
        <p:sp>
          <p:nvSpPr>
            <p:cNvPr name="Freeform 7" id="7"/>
            <p:cNvSpPr/>
            <p:nvPr/>
          </p:nvSpPr>
          <p:spPr>
            <a:xfrm flipH="false" flipV="false" rot="0">
              <a:off x="0" y="0"/>
              <a:ext cx="1158237" cy="1082166"/>
            </a:xfrm>
            <a:custGeom>
              <a:avLst/>
              <a:gdLst/>
              <a:ahLst/>
              <a:cxnLst/>
              <a:rect r="r" b="b" t="t" l="l"/>
              <a:pathLst>
                <a:path h="1082166" w="1158237">
                  <a:moveTo>
                    <a:pt x="203200" y="0"/>
                  </a:moveTo>
                  <a:lnTo>
                    <a:pt x="1158237" y="0"/>
                  </a:lnTo>
                  <a:lnTo>
                    <a:pt x="955037" y="1082166"/>
                  </a:lnTo>
                  <a:lnTo>
                    <a:pt x="0" y="1082166"/>
                  </a:lnTo>
                  <a:lnTo>
                    <a:pt x="203200" y="0"/>
                  </a:lnTo>
                  <a:close/>
                </a:path>
              </a:pathLst>
            </a:custGeom>
            <a:solidFill>
              <a:srgbClr val="2855BF"/>
            </a:solidFill>
          </p:spPr>
        </p:sp>
        <p:sp>
          <p:nvSpPr>
            <p:cNvPr name="TextBox 8" id="8"/>
            <p:cNvSpPr txBox="true"/>
            <p:nvPr/>
          </p:nvSpPr>
          <p:spPr>
            <a:xfrm>
              <a:off x="101600" y="-47625"/>
              <a:ext cx="955037" cy="1129791"/>
            </a:xfrm>
            <a:prstGeom prst="rect">
              <a:avLst/>
            </a:prstGeom>
          </p:spPr>
          <p:txBody>
            <a:bodyPr anchor="ctr" rtlCol="false" tIns="50800" lIns="50800" bIns="50800" rIns="50800"/>
            <a:lstStyle/>
            <a:p>
              <a:pPr algn="ctr">
                <a:lnSpc>
                  <a:spcPts val="3303"/>
                </a:lnSpc>
              </a:pPr>
            </a:p>
          </p:txBody>
        </p:sp>
      </p:grpSp>
      <p:sp>
        <p:nvSpPr>
          <p:cNvPr name="Freeform 9" id="9"/>
          <p:cNvSpPr/>
          <p:nvPr/>
        </p:nvSpPr>
        <p:spPr>
          <a:xfrm flipH="false" flipV="false" rot="-4981636">
            <a:off x="6378495" y="2111565"/>
            <a:ext cx="6116472" cy="993927"/>
          </a:xfrm>
          <a:custGeom>
            <a:avLst/>
            <a:gdLst/>
            <a:ahLst/>
            <a:cxnLst/>
            <a:rect r="r" b="b" t="t" l="l"/>
            <a:pathLst>
              <a:path h="993927" w="6116472">
                <a:moveTo>
                  <a:pt x="0" y="0"/>
                </a:moveTo>
                <a:lnTo>
                  <a:pt x="6116472" y="0"/>
                </a:lnTo>
                <a:lnTo>
                  <a:pt x="6116472" y="993927"/>
                </a:lnTo>
                <a:lnTo>
                  <a:pt x="0" y="993927"/>
                </a:lnTo>
                <a:lnTo>
                  <a:pt x="0" y="0"/>
                </a:lnTo>
                <a:close/>
              </a:path>
            </a:pathLst>
          </a:custGeom>
          <a:blipFill>
            <a:blip r:embed="rId4">
              <a:alphaModFix amt="71000"/>
            </a:blip>
            <a:stretch>
              <a:fillRect l="0" t="0" r="0" b="0"/>
            </a:stretch>
          </a:blipFill>
        </p:spPr>
      </p:sp>
      <p:sp>
        <p:nvSpPr>
          <p:cNvPr name="Freeform 10" id="10"/>
          <p:cNvSpPr/>
          <p:nvPr/>
        </p:nvSpPr>
        <p:spPr>
          <a:xfrm flipH="true" flipV="false" rot="-5026360">
            <a:off x="567673" y="4408912"/>
            <a:ext cx="15063093" cy="1318021"/>
          </a:xfrm>
          <a:custGeom>
            <a:avLst/>
            <a:gdLst/>
            <a:ahLst/>
            <a:cxnLst/>
            <a:rect r="r" b="b" t="t" l="l"/>
            <a:pathLst>
              <a:path h="1318021" w="15063093">
                <a:moveTo>
                  <a:pt x="15063093" y="0"/>
                </a:moveTo>
                <a:lnTo>
                  <a:pt x="0" y="0"/>
                </a:lnTo>
                <a:lnTo>
                  <a:pt x="0" y="1318020"/>
                </a:lnTo>
                <a:lnTo>
                  <a:pt x="15063093" y="1318020"/>
                </a:lnTo>
                <a:lnTo>
                  <a:pt x="1506309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true" flipV="false" rot="0">
            <a:off x="9161633" y="8921851"/>
            <a:ext cx="1139647" cy="343849"/>
          </a:xfrm>
          <a:custGeom>
            <a:avLst/>
            <a:gdLst/>
            <a:ahLst/>
            <a:cxnLst/>
            <a:rect r="r" b="b" t="t" l="l"/>
            <a:pathLst>
              <a:path h="343849" w="1139647">
                <a:moveTo>
                  <a:pt x="1139646" y="0"/>
                </a:moveTo>
                <a:lnTo>
                  <a:pt x="0" y="0"/>
                </a:lnTo>
                <a:lnTo>
                  <a:pt x="0" y="343848"/>
                </a:lnTo>
                <a:lnTo>
                  <a:pt x="1139646" y="343848"/>
                </a:lnTo>
                <a:lnTo>
                  <a:pt x="1139646" y="0"/>
                </a:lnTo>
                <a:close/>
              </a:path>
            </a:pathLst>
          </a:custGeom>
          <a:blipFill>
            <a:blip r:embed="rId7">
              <a:extLst>
                <a:ext uri="{96DAC541-7B7A-43D3-8B79-37D633B846F1}">
                  <asvg:svgBlip xmlns:asvg="http://schemas.microsoft.com/office/drawing/2016/SVG/main" r:embed="rId8"/>
                </a:ext>
              </a:extLst>
            </a:blip>
            <a:stretch>
              <a:fillRect l="0" t="0" r="-104552" b="0"/>
            </a:stretch>
          </a:blipFill>
        </p:spPr>
      </p:sp>
      <p:grpSp>
        <p:nvGrpSpPr>
          <p:cNvPr name="Group 12" id="12"/>
          <p:cNvGrpSpPr/>
          <p:nvPr/>
        </p:nvGrpSpPr>
        <p:grpSpPr>
          <a:xfrm rot="0">
            <a:off x="-1940258" y="5037826"/>
            <a:ext cx="10941749" cy="4236924"/>
            <a:chOff x="0" y="0"/>
            <a:chExt cx="1154337" cy="446989"/>
          </a:xfrm>
        </p:grpSpPr>
        <p:sp>
          <p:nvSpPr>
            <p:cNvPr name="Freeform 13" id="13"/>
            <p:cNvSpPr/>
            <p:nvPr/>
          </p:nvSpPr>
          <p:spPr>
            <a:xfrm flipH="false" flipV="false" rot="0">
              <a:off x="28584" y="0"/>
              <a:ext cx="1109883" cy="446989"/>
            </a:xfrm>
            <a:custGeom>
              <a:avLst/>
              <a:gdLst/>
              <a:ahLst/>
              <a:cxnLst/>
              <a:rect r="r" b="b" t="t" l="l"/>
              <a:pathLst>
                <a:path h="446989" w="1109883">
                  <a:moveTo>
                    <a:pt x="25898" y="0"/>
                  </a:moveTo>
                  <a:lnTo>
                    <a:pt x="868071" y="0"/>
                  </a:lnTo>
                  <a:cubicBezTo>
                    <a:pt x="902770" y="0"/>
                    <a:pt x="935861" y="14637"/>
                    <a:pt x="959204" y="40311"/>
                  </a:cubicBezTo>
                  <a:lnTo>
                    <a:pt x="1089102" y="183183"/>
                  </a:lnTo>
                  <a:cubicBezTo>
                    <a:pt x="1109883" y="206040"/>
                    <a:pt x="1109883" y="240949"/>
                    <a:pt x="1089102" y="263806"/>
                  </a:cubicBezTo>
                  <a:lnTo>
                    <a:pt x="959204" y="406677"/>
                  </a:lnTo>
                  <a:cubicBezTo>
                    <a:pt x="935861" y="432352"/>
                    <a:pt x="902770" y="446989"/>
                    <a:pt x="868071" y="446989"/>
                  </a:cubicBezTo>
                  <a:lnTo>
                    <a:pt x="25898" y="446989"/>
                  </a:lnTo>
                  <a:cubicBezTo>
                    <a:pt x="16359" y="446989"/>
                    <a:pt x="7717" y="441362"/>
                    <a:pt x="3859" y="432638"/>
                  </a:cubicBezTo>
                  <a:cubicBezTo>
                    <a:pt x="0" y="423914"/>
                    <a:pt x="1650" y="413735"/>
                    <a:pt x="8067" y="406677"/>
                  </a:cubicBezTo>
                  <a:lnTo>
                    <a:pt x="137965" y="263806"/>
                  </a:lnTo>
                  <a:cubicBezTo>
                    <a:pt x="158746" y="240949"/>
                    <a:pt x="158746" y="206040"/>
                    <a:pt x="137965" y="183183"/>
                  </a:cubicBezTo>
                  <a:lnTo>
                    <a:pt x="8067" y="40311"/>
                  </a:lnTo>
                  <a:cubicBezTo>
                    <a:pt x="1650" y="33253"/>
                    <a:pt x="0" y="23074"/>
                    <a:pt x="3859" y="14350"/>
                  </a:cubicBezTo>
                  <a:cubicBezTo>
                    <a:pt x="7717" y="5627"/>
                    <a:pt x="16359" y="0"/>
                    <a:pt x="25898" y="0"/>
                  </a:cubicBezTo>
                  <a:close/>
                </a:path>
              </a:pathLst>
            </a:custGeom>
            <a:blipFill>
              <a:blip r:embed="rId9"/>
              <a:stretch>
                <a:fillRect l="-2754" t="0" r="-2829" b="-73785"/>
              </a:stretch>
            </a:blipFill>
            <a:ln cap="rnd">
              <a:noFill/>
              <a:prstDash val="solid"/>
              <a:round/>
            </a:ln>
          </p:spPr>
        </p:sp>
      </p:grpSp>
      <p:sp>
        <p:nvSpPr>
          <p:cNvPr name="Freeform 14" id="14"/>
          <p:cNvSpPr/>
          <p:nvPr/>
        </p:nvSpPr>
        <p:spPr>
          <a:xfrm flipH="true" flipV="false" rot="0">
            <a:off x="15847692" y="2019834"/>
            <a:ext cx="1139647" cy="343849"/>
          </a:xfrm>
          <a:custGeom>
            <a:avLst/>
            <a:gdLst/>
            <a:ahLst/>
            <a:cxnLst/>
            <a:rect r="r" b="b" t="t" l="l"/>
            <a:pathLst>
              <a:path h="343849" w="1139647">
                <a:moveTo>
                  <a:pt x="1139647" y="0"/>
                </a:moveTo>
                <a:lnTo>
                  <a:pt x="0" y="0"/>
                </a:lnTo>
                <a:lnTo>
                  <a:pt x="0" y="343849"/>
                </a:lnTo>
                <a:lnTo>
                  <a:pt x="1139647" y="343849"/>
                </a:lnTo>
                <a:lnTo>
                  <a:pt x="1139647" y="0"/>
                </a:lnTo>
                <a:close/>
              </a:path>
            </a:pathLst>
          </a:custGeom>
          <a:blipFill>
            <a:blip r:embed="rId10">
              <a:extLst>
                <a:ext uri="{96DAC541-7B7A-43D3-8B79-37D633B846F1}">
                  <asvg:svgBlip xmlns:asvg="http://schemas.microsoft.com/office/drawing/2016/SVG/main" r:embed="rId11"/>
                </a:ext>
              </a:extLst>
            </a:blip>
            <a:stretch>
              <a:fillRect l="0" t="0" r="-104552" b="0"/>
            </a:stretch>
          </a:blipFill>
        </p:spPr>
      </p:sp>
      <p:grpSp>
        <p:nvGrpSpPr>
          <p:cNvPr name="Group 15" id="15"/>
          <p:cNvGrpSpPr/>
          <p:nvPr/>
        </p:nvGrpSpPr>
        <p:grpSpPr>
          <a:xfrm rot="0">
            <a:off x="13827184" y="548950"/>
            <a:ext cx="3810714" cy="1175610"/>
            <a:chOff x="0" y="0"/>
            <a:chExt cx="5080951" cy="1567480"/>
          </a:xfrm>
        </p:grpSpPr>
        <p:sp>
          <p:nvSpPr>
            <p:cNvPr name="Freeform 16" id="16"/>
            <p:cNvSpPr/>
            <p:nvPr/>
          </p:nvSpPr>
          <p:spPr>
            <a:xfrm flipH="false" flipV="false" rot="0">
              <a:off x="3513472" y="0"/>
              <a:ext cx="1567480" cy="1567480"/>
            </a:xfrm>
            <a:custGeom>
              <a:avLst/>
              <a:gdLst/>
              <a:ahLst/>
              <a:cxnLst/>
              <a:rect r="r" b="b" t="t" l="l"/>
              <a:pathLst>
                <a:path h="1567480" w="1567480">
                  <a:moveTo>
                    <a:pt x="0" y="0"/>
                  </a:moveTo>
                  <a:lnTo>
                    <a:pt x="1567479" y="0"/>
                  </a:lnTo>
                  <a:lnTo>
                    <a:pt x="1567479" y="1567480"/>
                  </a:lnTo>
                  <a:lnTo>
                    <a:pt x="0" y="1567480"/>
                  </a:lnTo>
                  <a:lnTo>
                    <a:pt x="0" y="0"/>
                  </a:lnTo>
                  <a:close/>
                </a:path>
              </a:pathLst>
            </a:custGeom>
            <a:blipFill>
              <a:blip r:embed="rId12"/>
              <a:stretch>
                <a:fillRect l="0" t="0" r="0" b="0"/>
              </a:stretch>
            </a:blipFill>
          </p:spPr>
        </p:sp>
        <p:sp>
          <p:nvSpPr>
            <p:cNvPr name="TextBox 17" id="17"/>
            <p:cNvSpPr txBox="true"/>
            <p:nvPr/>
          </p:nvSpPr>
          <p:spPr>
            <a:xfrm rot="0">
              <a:off x="0" y="209112"/>
              <a:ext cx="3513472" cy="777982"/>
            </a:xfrm>
            <a:prstGeom prst="rect">
              <a:avLst/>
            </a:prstGeom>
          </p:spPr>
          <p:txBody>
            <a:bodyPr anchor="t" rtlCol="false" tIns="0" lIns="0" bIns="0" rIns="0">
              <a:spAutoFit/>
            </a:bodyPr>
            <a:lstStyle/>
            <a:p>
              <a:pPr algn="r">
                <a:lnSpc>
                  <a:spcPts val="4973"/>
                </a:lnSpc>
              </a:pPr>
              <a:r>
                <a:rPr lang="en-US" b="true" sz="3552" spc="-117">
                  <a:solidFill>
                    <a:srgbClr val="03045A"/>
                  </a:solidFill>
                  <a:latin typeface="Open Sauce Heavy"/>
                  <a:ea typeface="Open Sauce Heavy"/>
                  <a:cs typeface="Open Sauce Heavy"/>
                  <a:sym typeface="Open Sauce Heavy"/>
                </a:rPr>
                <a:t>Prediksa</a:t>
              </a:r>
            </a:p>
          </p:txBody>
        </p:sp>
        <p:sp>
          <p:nvSpPr>
            <p:cNvPr name="TextBox 18" id="18"/>
            <p:cNvSpPr txBox="true"/>
            <p:nvPr/>
          </p:nvSpPr>
          <p:spPr>
            <a:xfrm rot="0">
              <a:off x="1335717" y="910310"/>
              <a:ext cx="2177754" cy="472258"/>
            </a:xfrm>
            <a:prstGeom prst="rect">
              <a:avLst/>
            </a:prstGeom>
          </p:spPr>
          <p:txBody>
            <a:bodyPr anchor="t" rtlCol="false" tIns="0" lIns="0" bIns="0" rIns="0">
              <a:spAutoFit/>
            </a:bodyPr>
            <a:lstStyle/>
            <a:p>
              <a:pPr algn="r">
                <a:lnSpc>
                  <a:spcPts val="3082"/>
                </a:lnSpc>
              </a:pPr>
              <a:r>
                <a:rPr lang="en-US" sz="2202" spc="61">
                  <a:solidFill>
                    <a:srgbClr val="03045A"/>
                  </a:solidFill>
                  <a:latin typeface="Open Sauce"/>
                  <a:ea typeface="Open Sauce"/>
                  <a:cs typeface="Open Sauce"/>
                  <a:sym typeface="Open Sauce"/>
                </a:rPr>
                <a:t>Company</a:t>
              </a:r>
            </a:p>
          </p:txBody>
        </p:sp>
      </p:grpSp>
      <p:grpSp>
        <p:nvGrpSpPr>
          <p:cNvPr name="Group 19" id="19"/>
          <p:cNvGrpSpPr/>
          <p:nvPr/>
        </p:nvGrpSpPr>
        <p:grpSpPr>
          <a:xfrm rot="0">
            <a:off x="9727581" y="2736576"/>
            <a:ext cx="953564" cy="896031"/>
            <a:chOff x="0" y="0"/>
            <a:chExt cx="1271419" cy="1194708"/>
          </a:xfrm>
        </p:grpSpPr>
        <p:sp>
          <p:nvSpPr>
            <p:cNvPr name="Freeform 20" id="20"/>
            <p:cNvSpPr/>
            <p:nvPr/>
          </p:nvSpPr>
          <p:spPr>
            <a:xfrm flipH="false" flipV="false" rot="0">
              <a:off x="0" y="0"/>
              <a:ext cx="1271419" cy="1194708"/>
            </a:xfrm>
            <a:custGeom>
              <a:avLst/>
              <a:gdLst/>
              <a:ahLst/>
              <a:cxnLst/>
              <a:rect r="r" b="b" t="t" l="l"/>
              <a:pathLst>
                <a:path h="1194708" w="1271419">
                  <a:moveTo>
                    <a:pt x="0" y="0"/>
                  </a:moveTo>
                  <a:lnTo>
                    <a:pt x="1271419" y="0"/>
                  </a:lnTo>
                  <a:lnTo>
                    <a:pt x="1271419" y="1194708"/>
                  </a:lnTo>
                  <a:lnTo>
                    <a:pt x="0" y="1194708"/>
                  </a:lnTo>
                  <a:lnTo>
                    <a:pt x="0" y="0"/>
                  </a:lnTo>
                  <a:close/>
                </a:path>
              </a:pathLst>
            </a:custGeom>
            <a:blipFill>
              <a:blip r:embed="rId13">
                <a:extLst>
                  <a:ext uri="{96DAC541-7B7A-43D3-8B79-37D633B846F1}">
                    <asvg:svgBlip xmlns:asvg="http://schemas.microsoft.com/office/drawing/2016/SVG/main" r:embed="rId14"/>
                  </a:ext>
                </a:extLst>
              </a:blip>
              <a:stretch>
                <a:fillRect l="-190806" t="-116698" r="-38684" b="-409457"/>
              </a:stretch>
            </a:blipFill>
          </p:spPr>
        </p:sp>
        <p:sp>
          <p:nvSpPr>
            <p:cNvPr name="Freeform 21" id="21"/>
            <p:cNvSpPr/>
            <p:nvPr/>
          </p:nvSpPr>
          <p:spPr>
            <a:xfrm flipH="false" flipV="false" rot="0">
              <a:off x="285704" y="344359"/>
              <a:ext cx="700010" cy="711573"/>
            </a:xfrm>
            <a:custGeom>
              <a:avLst/>
              <a:gdLst/>
              <a:ahLst/>
              <a:cxnLst/>
              <a:rect r="r" b="b" t="t" l="l"/>
              <a:pathLst>
                <a:path h="711573" w="700010">
                  <a:moveTo>
                    <a:pt x="0" y="0"/>
                  </a:moveTo>
                  <a:lnTo>
                    <a:pt x="700011" y="0"/>
                  </a:lnTo>
                  <a:lnTo>
                    <a:pt x="700011" y="711573"/>
                  </a:lnTo>
                  <a:lnTo>
                    <a:pt x="0" y="7115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9727581" y="4514510"/>
            <a:ext cx="953564" cy="896031"/>
            <a:chOff x="0" y="0"/>
            <a:chExt cx="1271419" cy="1194708"/>
          </a:xfrm>
        </p:grpSpPr>
        <p:sp>
          <p:nvSpPr>
            <p:cNvPr name="Freeform 23" id="23"/>
            <p:cNvSpPr/>
            <p:nvPr/>
          </p:nvSpPr>
          <p:spPr>
            <a:xfrm flipH="false" flipV="false" rot="0">
              <a:off x="0" y="0"/>
              <a:ext cx="1271419" cy="1194708"/>
            </a:xfrm>
            <a:custGeom>
              <a:avLst/>
              <a:gdLst/>
              <a:ahLst/>
              <a:cxnLst/>
              <a:rect r="r" b="b" t="t" l="l"/>
              <a:pathLst>
                <a:path h="1194708" w="1271419">
                  <a:moveTo>
                    <a:pt x="0" y="0"/>
                  </a:moveTo>
                  <a:lnTo>
                    <a:pt x="1271419" y="0"/>
                  </a:lnTo>
                  <a:lnTo>
                    <a:pt x="1271419" y="1194708"/>
                  </a:lnTo>
                  <a:lnTo>
                    <a:pt x="0" y="1194708"/>
                  </a:lnTo>
                  <a:lnTo>
                    <a:pt x="0" y="0"/>
                  </a:lnTo>
                  <a:close/>
                </a:path>
              </a:pathLst>
            </a:custGeom>
            <a:blipFill>
              <a:blip r:embed="rId13">
                <a:extLst>
                  <a:ext uri="{96DAC541-7B7A-43D3-8B79-37D633B846F1}">
                    <asvg:svgBlip xmlns:asvg="http://schemas.microsoft.com/office/drawing/2016/SVG/main" r:embed="rId14"/>
                  </a:ext>
                </a:extLst>
              </a:blip>
              <a:stretch>
                <a:fillRect l="-190806" t="-116698" r="-38684" b="-409457"/>
              </a:stretch>
            </a:blipFill>
          </p:spPr>
        </p:sp>
        <p:sp>
          <p:nvSpPr>
            <p:cNvPr name="Freeform 24" id="24"/>
            <p:cNvSpPr/>
            <p:nvPr/>
          </p:nvSpPr>
          <p:spPr>
            <a:xfrm flipH="false" flipV="false" rot="0">
              <a:off x="285704" y="344359"/>
              <a:ext cx="700010" cy="711573"/>
            </a:xfrm>
            <a:custGeom>
              <a:avLst/>
              <a:gdLst/>
              <a:ahLst/>
              <a:cxnLst/>
              <a:rect r="r" b="b" t="t" l="l"/>
              <a:pathLst>
                <a:path h="711573" w="700010">
                  <a:moveTo>
                    <a:pt x="0" y="0"/>
                  </a:moveTo>
                  <a:lnTo>
                    <a:pt x="700011" y="0"/>
                  </a:lnTo>
                  <a:lnTo>
                    <a:pt x="700011" y="711573"/>
                  </a:lnTo>
                  <a:lnTo>
                    <a:pt x="0" y="7115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5" id="25"/>
          <p:cNvGrpSpPr/>
          <p:nvPr/>
        </p:nvGrpSpPr>
        <p:grpSpPr>
          <a:xfrm rot="0">
            <a:off x="9727581" y="6418521"/>
            <a:ext cx="953564" cy="896031"/>
            <a:chOff x="0" y="0"/>
            <a:chExt cx="1271419" cy="1194708"/>
          </a:xfrm>
        </p:grpSpPr>
        <p:sp>
          <p:nvSpPr>
            <p:cNvPr name="Freeform 26" id="26"/>
            <p:cNvSpPr/>
            <p:nvPr/>
          </p:nvSpPr>
          <p:spPr>
            <a:xfrm flipH="false" flipV="false" rot="0">
              <a:off x="0" y="0"/>
              <a:ext cx="1271419" cy="1194708"/>
            </a:xfrm>
            <a:custGeom>
              <a:avLst/>
              <a:gdLst/>
              <a:ahLst/>
              <a:cxnLst/>
              <a:rect r="r" b="b" t="t" l="l"/>
              <a:pathLst>
                <a:path h="1194708" w="1271419">
                  <a:moveTo>
                    <a:pt x="0" y="0"/>
                  </a:moveTo>
                  <a:lnTo>
                    <a:pt x="1271419" y="0"/>
                  </a:lnTo>
                  <a:lnTo>
                    <a:pt x="1271419" y="1194708"/>
                  </a:lnTo>
                  <a:lnTo>
                    <a:pt x="0" y="1194708"/>
                  </a:lnTo>
                  <a:lnTo>
                    <a:pt x="0" y="0"/>
                  </a:lnTo>
                  <a:close/>
                </a:path>
              </a:pathLst>
            </a:custGeom>
            <a:blipFill>
              <a:blip r:embed="rId13">
                <a:extLst>
                  <a:ext uri="{96DAC541-7B7A-43D3-8B79-37D633B846F1}">
                    <asvg:svgBlip xmlns:asvg="http://schemas.microsoft.com/office/drawing/2016/SVG/main" r:embed="rId14"/>
                  </a:ext>
                </a:extLst>
              </a:blip>
              <a:stretch>
                <a:fillRect l="-190806" t="-116698" r="-38684" b="-409457"/>
              </a:stretch>
            </a:blipFill>
          </p:spPr>
        </p:sp>
        <p:sp>
          <p:nvSpPr>
            <p:cNvPr name="Freeform 27" id="27"/>
            <p:cNvSpPr/>
            <p:nvPr/>
          </p:nvSpPr>
          <p:spPr>
            <a:xfrm flipH="false" flipV="false" rot="0">
              <a:off x="285704" y="344359"/>
              <a:ext cx="700010" cy="711573"/>
            </a:xfrm>
            <a:custGeom>
              <a:avLst/>
              <a:gdLst/>
              <a:ahLst/>
              <a:cxnLst/>
              <a:rect r="r" b="b" t="t" l="l"/>
              <a:pathLst>
                <a:path h="711573" w="700010">
                  <a:moveTo>
                    <a:pt x="0" y="0"/>
                  </a:moveTo>
                  <a:lnTo>
                    <a:pt x="700011" y="0"/>
                  </a:lnTo>
                  <a:lnTo>
                    <a:pt x="700011" y="711573"/>
                  </a:lnTo>
                  <a:lnTo>
                    <a:pt x="0" y="7115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8" id="28"/>
          <p:cNvGrpSpPr/>
          <p:nvPr/>
        </p:nvGrpSpPr>
        <p:grpSpPr>
          <a:xfrm rot="0">
            <a:off x="9727581" y="7666296"/>
            <a:ext cx="953564" cy="896031"/>
            <a:chOff x="0" y="0"/>
            <a:chExt cx="1271419" cy="1194708"/>
          </a:xfrm>
        </p:grpSpPr>
        <p:sp>
          <p:nvSpPr>
            <p:cNvPr name="Freeform 29" id="29"/>
            <p:cNvSpPr/>
            <p:nvPr/>
          </p:nvSpPr>
          <p:spPr>
            <a:xfrm flipH="false" flipV="false" rot="0">
              <a:off x="0" y="0"/>
              <a:ext cx="1271419" cy="1194708"/>
            </a:xfrm>
            <a:custGeom>
              <a:avLst/>
              <a:gdLst/>
              <a:ahLst/>
              <a:cxnLst/>
              <a:rect r="r" b="b" t="t" l="l"/>
              <a:pathLst>
                <a:path h="1194708" w="1271419">
                  <a:moveTo>
                    <a:pt x="0" y="0"/>
                  </a:moveTo>
                  <a:lnTo>
                    <a:pt x="1271419" y="0"/>
                  </a:lnTo>
                  <a:lnTo>
                    <a:pt x="1271419" y="1194708"/>
                  </a:lnTo>
                  <a:lnTo>
                    <a:pt x="0" y="1194708"/>
                  </a:lnTo>
                  <a:lnTo>
                    <a:pt x="0" y="0"/>
                  </a:lnTo>
                  <a:close/>
                </a:path>
              </a:pathLst>
            </a:custGeom>
            <a:blipFill>
              <a:blip r:embed="rId13">
                <a:extLst>
                  <a:ext uri="{96DAC541-7B7A-43D3-8B79-37D633B846F1}">
                    <asvg:svgBlip xmlns:asvg="http://schemas.microsoft.com/office/drawing/2016/SVG/main" r:embed="rId14"/>
                  </a:ext>
                </a:extLst>
              </a:blip>
              <a:stretch>
                <a:fillRect l="-190806" t="-116698" r="-38684" b="-409457"/>
              </a:stretch>
            </a:blipFill>
          </p:spPr>
        </p:sp>
        <p:sp>
          <p:nvSpPr>
            <p:cNvPr name="Freeform 30" id="30"/>
            <p:cNvSpPr/>
            <p:nvPr/>
          </p:nvSpPr>
          <p:spPr>
            <a:xfrm flipH="false" flipV="false" rot="0">
              <a:off x="285704" y="344359"/>
              <a:ext cx="700010" cy="711573"/>
            </a:xfrm>
            <a:custGeom>
              <a:avLst/>
              <a:gdLst/>
              <a:ahLst/>
              <a:cxnLst/>
              <a:rect r="r" b="b" t="t" l="l"/>
              <a:pathLst>
                <a:path h="711573" w="700010">
                  <a:moveTo>
                    <a:pt x="0" y="0"/>
                  </a:moveTo>
                  <a:lnTo>
                    <a:pt x="700011" y="0"/>
                  </a:lnTo>
                  <a:lnTo>
                    <a:pt x="700011" y="711573"/>
                  </a:lnTo>
                  <a:lnTo>
                    <a:pt x="0" y="7115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sp>
        <p:nvSpPr>
          <p:cNvPr name="TextBox 31" id="31"/>
          <p:cNvSpPr txBox="true"/>
          <p:nvPr/>
        </p:nvSpPr>
        <p:spPr>
          <a:xfrm rot="0">
            <a:off x="802473" y="1409740"/>
            <a:ext cx="6362107" cy="1018972"/>
          </a:xfrm>
          <a:prstGeom prst="rect">
            <a:avLst/>
          </a:prstGeom>
        </p:spPr>
        <p:txBody>
          <a:bodyPr anchor="t" rtlCol="false" tIns="0" lIns="0" bIns="0" rIns="0">
            <a:spAutoFit/>
          </a:bodyPr>
          <a:lstStyle/>
          <a:p>
            <a:pPr algn="l">
              <a:lnSpc>
                <a:spcPts val="7789"/>
              </a:lnSpc>
            </a:pPr>
            <a:r>
              <a:rPr lang="en-US" sz="7490" spc="-247" b="true">
                <a:solidFill>
                  <a:srgbClr val="03045A"/>
                </a:solidFill>
                <a:latin typeface="Open Sauce Bold"/>
                <a:ea typeface="Open Sauce Bold"/>
                <a:cs typeface="Open Sauce Bold"/>
                <a:sym typeface="Open Sauce Bold"/>
              </a:rPr>
              <a:t>Our Objective:</a:t>
            </a:r>
          </a:p>
        </p:txBody>
      </p:sp>
      <p:sp>
        <p:nvSpPr>
          <p:cNvPr name="TextBox 32" id="32"/>
          <p:cNvSpPr txBox="true"/>
          <p:nvPr/>
        </p:nvSpPr>
        <p:spPr>
          <a:xfrm rot="0">
            <a:off x="1411557" y="2563996"/>
            <a:ext cx="5753023" cy="1516326"/>
          </a:xfrm>
          <a:prstGeom prst="rect">
            <a:avLst/>
          </a:prstGeom>
        </p:spPr>
        <p:txBody>
          <a:bodyPr anchor="t" rtlCol="false" tIns="0" lIns="0" bIns="0" rIns="0">
            <a:spAutoFit/>
          </a:bodyPr>
          <a:lstStyle/>
          <a:p>
            <a:pPr algn="r">
              <a:lnSpc>
                <a:spcPts val="3959"/>
              </a:lnSpc>
            </a:pPr>
            <a:r>
              <a:rPr lang="en-US" sz="3999" i="true" spc="-131">
                <a:solidFill>
                  <a:srgbClr val="FFFFFF"/>
                </a:solidFill>
                <a:latin typeface="Open Sauce Italics"/>
                <a:ea typeface="Open Sauce Italics"/>
                <a:cs typeface="Open Sauce Italics"/>
                <a:sym typeface="Open Sauce Italics"/>
              </a:rPr>
              <a:t>Empowering P</a:t>
            </a:r>
            <a:r>
              <a:rPr lang="en-US" sz="3999" i="true" spc="-131">
                <a:solidFill>
                  <a:srgbClr val="FFFFFF"/>
                </a:solidFill>
                <a:latin typeface="Open Sauce Italics"/>
                <a:ea typeface="Open Sauce Italics"/>
                <a:cs typeface="Open Sauce Italics"/>
                <a:sym typeface="Open Sauce Italics"/>
              </a:rPr>
              <a:t>revention Through Predictive Technology</a:t>
            </a:r>
          </a:p>
        </p:txBody>
      </p:sp>
      <p:sp>
        <p:nvSpPr>
          <p:cNvPr name="TextBox 33" id="33"/>
          <p:cNvSpPr txBox="true"/>
          <p:nvPr/>
        </p:nvSpPr>
        <p:spPr>
          <a:xfrm rot="0">
            <a:off x="10837411" y="2641666"/>
            <a:ext cx="5624877" cy="1447800"/>
          </a:xfrm>
          <a:prstGeom prst="rect">
            <a:avLst/>
          </a:prstGeom>
        </p:spPr>
        <p:txBody>
          <a:bodyPr anchor="t" rtlCol="false" tIns="0" lIns="0" bIns="0" rIns="0">
            <a:spAutoFit/>
          </a:bodyPr>
          <a:lstStyle/>
          <a:p>
            <a:pPr algn="just">
              <a:lnSpc>
                <a:spcPts val="2879"/>
              </a:lnSpc>
            </a:pPr>
            <a:r>
              <a:rPr lang="en-US" sz="2400" u="sng">
                <a:solidFill>
                  <a:srgbClr val="03045A"/>
                </a:solidFill>
                <a:latin typeface="Open Sauce"/>
                <a:ea typeface="Open Sauce"/>
                <a:cs typeface="Open Sauce"/>
                <a:sym typeface="Open Sauce"/>
                <a:hlinkClick r:id="rId17" tooltip="https://www.investopedia.com/articles/economics/09/american-investment-group-aig-bailout.asp"/>
              </a:rPr>
              <a:t>To develop an AI-powered system that predicts individual risk of cardiovascular specifically heart disease.</a:t>
            </a:r>
          </a:p>
        </p:txBody>
      </p:sp>
      <p:sp>
        <p:nvSpPr>
          <p:cNvPr name="TextBox 34" id="34"/>
          <p:cNvSpPr txBox="true"/>
          <p:nvPr/>
        </p:nvSpPr>
        <p:spPr>
          <a:xfrm rot="0">
            <a:off x="10837411" y="4311144"/>
            <a:ext cx="5624877" cy="1809840"/>
          </a:xfrm>
          <a:prstGeom prst="rect">
            <a:avLst/>
          </a:prstGeom>
        </p:spPr>
        <p:txBody>
          <a:bodyPr anchor="t" rtlCol="false" tIns="0" lIns="0" bIns="0" rIns="0">
            <a:spAutoFit/>
          </a:bodyPr>
          <a:lstStyle/>
          <a:p>
            <a:pPr algn="just">
              <a:lnSpc>
                <a:spcPts val="2879"/>
              </a:lnSpc>
            </a:pPr>
            <a:r>
              <a:rPr lang="en-US" sz="2400">
                <a:solidFill>
                  <a:srgbClr val="03045A"/>
                </a:solidFill>
                <a:latin typeface="Open Sauce"/>
                <a:ea typeface="Open Sauce"/>
                <a:cs typeface="Open Sauce"/>
                <a:sym typeface="Open Sauce"/>
              </a:rPr>
              <a:t>Develop a machine learning model capable of early detection of heart disease risk, enabling companies to make strategic decisions in insuring clients.</a:t>
            </a:r>
          </a:p>
        </p:txBody>
      </p:sp>
      <p:sp>
        <p:nvSpPr>
          <p:cNvPr name="TextBox 35" id="35"/>
          <p:cNvSpPr txBox="true"/>
          <p:nvPr/>
        </p:nvSpPr>
        <p:spPr>
          <a:xfrm rot="0">
            <a:off x="10837411" y="6340059"/>
            <a:ext cx="5624877" cy="1085850"/>
          </a:xfrm>
          <a:prstGeom prst="rect">
            <a:avLst/>
          </a:prstGeom>
        </p:spPr>
        <p:txBody>
          <a:bodyPr anchor="t" rtlCol="false" tIns="0" lIns="0" bIns="0" rIns="0">
            <a:spAutoFit/>
          </a:bodyPr>
          <a:lstStyle/>
          <a:p>
            <a:pPr algn="just">
              <a:lnSpc>
                <a:spcPts val="2879"/>
              </a:lnSpc>
            </a:pPr>
            <a:r>
              <a:rPr lang="en-US" sz="2400">
                <a:solidFill>
                  <a:srgbClr val="03045A"/>
                </a:solidFill>
                <a:latin typeface="Open Sauce"/>
                <a:ea typeface="Open Sauce"/>
                <a:cs typeface="Open Sauce"/>
                <a:sym typeface="Open Sauce"/>
              </a:rPr>
              <a:t>To enable smarter, data-driven decision-making for insurer stakeholders</a:t>
            </a:r>
          </a:p>
        </p:txBody>
      </p:sp>
      <p:sp>
        <p:nvSpPr>
          <p:cNvPr name="TextBox 36" id="36"/>
          <p:cNvSpPr txBox="true"/>
          <p:nvPr/>
        </p:nvSpPr>
        <p:spPr>
          <a:xfrm rot="0">
            <a:off x="10837411" y="7752361"/>
            <a:ext cx="5624877" cy="723900"/>
          </a:xfrm>
          <a:prstGeom prst="rect">
            <a:avLst/>
          </a:prstGeom>
        </p:spPr>
        <p:txBody>
          <a:bodyPr anchor="t" rtlCol="false" tIns="0" lIns="0" bIns="0" rIns="0">
            <a:spAutoFit/>
          </a:bodyPr>
          <a:lstStyle/>
          <a:p>
            <a:pPr algn="just">
              <a:lnSpc>
                <a:spcPts val="2879"/>
              </a:lnSpc>
            </a:pPr>
            <a:r>
              <a:rPr lang="en-US" sz="2400" u="sng">
                <a:solidFill>
                  <a:srgbClr val="03045A"/>
                </a:solidFill>
                <a:latin typeface="Open Sauce"/>
                <a:ea typeface="Open Sauce"/>
                <a:cs typeface="Open Sauce"/>
                <a:sym typeface="Open Sauce"/>
                <a:hlinkClick r:id="rId18" tooltip="https://www.kompas.id/baca/english/2024/07/12/en-perusahaan-lebih-hati-hati-jalankan-bisnis-asuransi-kesehatan"/>
              </a:rPr>
              <a:t>To minimize national and insurer healthcare costs</a:t>
            </a:r>
          </a:p>
        </p:txBody>
      </p:sp>
      <p:grpSp>
        <p:nvGrpSpPr>
          <p:cNvPr name="Group 37" id="37"/>
          <p:cNvGrpSpPr/>
          <p:nvPr/>
        </p:nvGrpSpPr>
        <p:grpSpPr>
          <a:xfrm rot="0">
            <a:off x="11396703" y="9112825"/>
            <a:ext cx="7764539" cy="1796591"/>
            <a:chOff x="0" y="0"/>
            <a:chExt cx="2634581" cy="609600"/>
          </a:xfrm>
        </p:grpSpPr>
        <p:sp>
          <p:nvSpPr>
            <p:cNvPr name="Freeform 38" id="38"/>
            <p:cNvSpPr/>
            <p:nvPr/>
          </p:nvSpPr>
          <p:spPr>
            <a:xfrm flipH="false" flipV="false" rot="0">
              <a:off x="0" y="0"/>
              <a:ext cx="2634581" cy="609600"/>
            </a:xfrm>
            <a:custGeom>
              <a:avLst/>
              <a:gdLst/>
              <a:ahLst/>
              <a:cxnLst/>
              <a:rect r="r" b="b" t="t" l="l"/>
              <a:pathLst>
                <a:path h="609600" w="2634581">
                  <a:moveTo>
                    <a:pt x="203200" y="0"/>
                  </a:moveTo>
                  <a:lnTo>
                    <a:pt x="2634581" y="0"/>
                  </a:lnTo>
                  <a:lnTo>
                    <a:pt x="2431381" y="609600"/>
                  </a:lnTo>
                  <a:lnTo>
                    <a:pt x="0" y="609600"/>
                  </a:lnTo>
                  <a:lnTo>
                    <a:pt x="203200" y="0"/>
                  </a:lnTo>
                  <a:close/>
                </a:path>
              </a:pathLst>
            </a:custGeom>
            <a:solidFill>
              <a:srgbClr val="03045A"/>
            </a:solidFill>
          </p:spPr>
        </p:sp>
        <p:sp>
          <p:nvSpPr>
            <p:cNvPr name="TextBox 39" id="39"/>
            <p:cNvSpPr txBox="true"/>
            <p:nvPr/>
          </p:nvSpPr>
          <p:spPr>
            <a:xfrm>
              <a:off x="101600" y="-47625"/>
              <a:ext cx="2431381" cy="657225"/>
            </a:xfrm>
            <a:prstGeom prst="rect">
              <a:avLst/>
            </a:prstGeom>
          </p:spPr>
          <p:txBody>
            <a:bodyPr anchor="ctr" rtlCol="false" tIns="50800" lIns="50800" bIns="50800" rIns="50800"/>
            <a:lstStyle/>
            <a:p>
              <a:pPr algn="ctr">
                <a:lnSpc>
                  <a:spcPts val="3303"/>
                </a:lnSpc>
              </a:pPr>
            </a:p>
          </p:txBody>
        </p:sp>
      </p:grpSp>
      <p:grpSp>
        <p:nvGrpSpPr>
          <p:cNvPr name="Group 40" id="40"/>
          <p:cNvGrpSpPr/>
          <p:nvPr/>
        </p:nvGrpSpPr>
        <p:grpSpPr>
          <a:xfrm rot="0">
            <a:off x="12365004" y="9343036"/>
            <a:ext cx="4221108" cy="716446"/>
            <a:chOff x="0" y="0"/>
            <a:chExt cx="5628144" cy="955262"/>
          </a:xfrm>
        </p:grpSpPr>
        <p:sp>
          <p:nvSpPr>
            <p:cNvPr name="TextBox 41" id="41"/>
            <p:cNvSpPr txBox="true"/>
            <p:nvPr/>
          </p:nvSpPr>
          <p:spPr>
            <a:xfrm rot="0">
              <a:off x="0" y="345758"/>
              <a:ext cx="5628144" cy="609504"/>
            </a:xfrm>
            <a:prstGeom prst="rect">
              <a:avLst/>
            </a:prstGeom>
          </p:spPr>
          <p:txBody>
            <a:bodyPr anchor="t" rtlCol="false" tIns="0" lIns="0" bIns="0" rIns="0">
              <a:spAutoFit/>
            </a:bodyPr>
            <a:lstStyle/>
            <a:p>
              <a:pPr algn="just">
                <a:lnSpc>
                  <a:spcPts val="1800"/>
                </a:lnSpc>
              </a:pPr>
              <a:r>
                <a:rPr lang="en-US" sz="1500" u="sng">
                  <a:solidFill>
                    <a:srgbClr val="FFFFFF"/>
                  </a:solidFill>
                  <a:latin typeface="Open Sauce"/>
                  <a:ea typeface="Open Sauce"/>
                  <a:cs typeface="Open Sauce"/>
                  <a:sym typeface="Open Sauce"/>
                </a:rPr>
                <a:t>https://www.ahajournals.org/doi/10.1161/CIR.0000000000001258</a:t>
              </a:r>
            </a:p>
          </p:txBody>
        </p:sp>
        <p:sp>
          <p:nvSpPr>
            <p:cNvPr name="TextBox 42" id="42"/>
            <p:cNvSpPr txBox="true"/>
            <p:nvPr/>
          </p:nvSpPr>
          <p:spPr>
            <a:xfrm rot="0">
              <a:off x="0" y="0"/>
              <a:ext cx="2506120" cy="355624"/>
            </a:xfrm>
            <a:prstGeom prst="rect">
              <a:avLst/>
            </a:prstGeom>
          </p:spPr>
          <p:txBody>
            <a:bodyPr anchor="t" rtlCol="false" tIns="0" lIns="0" bIns="0" rIns="0">
              <a:spAutoFit/>
            </a:bodyPr>
            <a:lstStyle/>
            <a:p>
              <a:pPr algn="just">
                <a:lnSpc>
                  <a:spcPts val="2160"/>
                </a:lnSpc>
              </a:pPr>
              <a:r>
                <a:rPr lang="en-US" sz="1800" b="true">
                  <a:solidFill>
                    <a:srgbClr val="FFFFFF"/>
                  </a:solidFill>
                  <a:latin typeface="Open Sauce Bold"/>
                  <a:ea typeface="Open Sauce Bold"/>
                  <a:cs typeface="Open Sauce Bold"/>
                  <a:sym typeface="Open Sauce Bold"/>
                </a:rPr>
                <a:t>*Resource:</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80654" y="-5458710"/>
            <a:ext cx="11380283" cy="7258385"/>
            <a:chOff x="0" y="0"/>
            <a:chExt cx="1009097" cy="643606"/>
          </a:xfrm>
        </p:grpSpPr>
        <p:sp>
          <p:nvSpPr>
            <p:cNvPr name="Freeform 3" id="3"/>
            <p:cNvSpPr/>
            <p:nvPr/>
          </p:nvSpPr>
          <p:spPr>
            <a:xfrm flipH="false" flipV="false" rot="0">
              <a:off x="9611" y="0"/>
              <a:ext cx="989875" cy="643606"/>
            </a:xfrm>
            <a:custGeom>
              <a:avLst/>
              <a:gdLst/>
              <a:ahLst/>
              <a:cxnLst/>
              <a:rect r="r" b="b" t="t" l="l"/>
              <a:pathLst>
                <a:path h="643606" w="989875">
                  <a:moveTo>
                    <a:pt x="974787" y="360917"/>
                  </a:moveTo>
                  <a:lnTo>
                    <a:pt x="820985" y="604491"/>
                  </a:lnTo>
                  <a:cubicBezTo>
                    <a:pt x="805609" y="628840"/>
                    <a:pt x="778823" y="643606"/>
                    <a:pt x="750026" y="643606"/>
                  </a:cubicBezTo>
                  <a:lnTo>
                    <a:pt x="239849" y="643606"/>
                  </a:lnTo>
                  <a:cubicBezTo>
                    <a:pt x="211052" y="643606"/>
                    <a:pt x="184266" y="628840"/>
                    <a:pt x="168890" y="604491"/>
                  </a:cubicBezTo>
                  <a:lnTo>
                    <a:pt x="15088" y="360917"/>
                  </a:lnTo>
                  <a:cubicBezTo>
                    <a:pt x="0" y="337023"/>
                    <a:pt x="0" y="306582"/>
                    <a:pt x="15088" y="282688"/>
                  </a:cubicBezTo>
                  <a:lnTo>
                    <a:pt x="168890" y="39115"/>
                  </a:lnTo>
                  <a:cubicBezTo>
                    <a:pt x="184266" y="14765"/>
                    <a:pt x="211052" y="0"/>
                    <a:pt x="239849" y="0"/>
                  </a:cubicBezTo>
                  <a:lnTo>
                    <a:pt x="750026" y="0"/>
                  </a:lnTo>
                  <a:cubicBezTo>
                    <a:pt x="778823" y="0"/>
                    <a:pt x="805609" y="14765"/>
                    <a:pt x="820985" y="39115"/>
                  </a:cubicBezTo>
                  <a:lnTo>
                    <a:pt x="974787" y="282688"/>
                  </a:lnTo>
                  <a:cubicBezTo>
                    <a:pt x="989875" y="306582"/>
                    <a:pt x="989875" y="337023"/>
                    <a:pt x="974787" y="360917"/>
                  </a:cubicBezTo>
                  <a:close/>
                </a:path>
              </a:pathLst>
            </a:custGeom>
            <a:blipFill>
              <a:blip r:embed="rId2"/>
              <a:stretch>
                <a:fillRect l="-9570" t="-5121" r="-10024" b="-16608"/>
              </a:stretch>
            </a:blipFill>
          </p:spPr>
        </p:sp>
      </p:grpSp>
      <p:sp>
        <p:nvSpPr>
          <p:cNvPr name="Freeform 4" id="4"/>
          <p:cNvSpPr/>
          <p:nvPr/>
        </p:nvSpPr>
        <p:spPr>
          <a:xfrm flipH="false" flipV="false" rot="0">
            <a:off x="535211" y="8320719"/>
            <a:ext cx="3134163" cy="509301"/>
          </a:xfrm>
          <a:custGeom>
            <a:avLst/>
            <a:gdLst/>
            <a:ahLst/>
            <a:cxnLst/>
            <a:rect r="r" b="b" t="t" l="l"/>
            <a:pathLst>
              <a:path h="509301" w="3134163">
                <a:moveTo>
                  <a:pt x="0" y="0"/>
                </a:moveTo>
                <a:lnTo>
                  <a:pt x="3134163" y="0"/>
                </a:lnTo>
                <a:lnTo>
                  <a:pt x="3134163" y="509302"/>
                </a:lnTo>
                <a:lnTo>
                  <a:pt x="0" y="509302"/>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14704184" y="9606458"/>
            <a:ext cx="3134163" cy="509301"/>
          </a:xfrm>
          <a:custGeom>
            <a:avLst/>
            <a:gdLst/>
            <a:ahLst/>
            <a:cxnLst/>
            <a:rect r="r" b="b" t="t" l="l"/>
            <a:pathLst>
              <a:path h="509301" w="3134163">
                <a:moveTo>
                  <a:pt x="0" y="0"/>
                </a:moveTo>
                <a:lnTo>
                  <a:pt x="3134163" y="0"/>
                </a:lnTo>
                <a:lnTo>
                  <a:pt x="3134163" y="509302"/>
                </a:lnTo>
                <a:lnTo>
                  <a:pt x="0" y="509302"/>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6506385" y="9349769"/>
            <a:ext cx="13127500" cy="2166038"/>
          </a:xfrm>
          <a:custGeom>
            <a:avLst/>
            <a:gdLst/>
            <a:ahLst/>
            <a:cxnLst/>
            <a:rect r="r" b="b" t="t" l="l"/>
            <a:pathLst>
              <a:path h="2166038" w="13127500">
                <a:moveTo>
                  <a:pt x="0" y="0"/>
                </a:moveTo>
                <a:lnTo>
                  <a:pt x="13127501" y="0"/>
                </a:lnTo>
                <a:lnTo>
                  <a:pt x="13127501" y="2166038"/>
                </a:lnTo>
                <a:lnTo>
                  <a:pt x="0" y="21660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48544" y="1091063"/>
            <a:ext cx="6360892" cy="910178"/>
          </a:xfrm>
          <a:prstGeom prst="rect">
            <a:avLst/>
          </a:prstGeom>
        </p:spPr>
        <p:txBody>
          <a:bodyPr anchor="t" rtlCol="false" tIns="0" lIns="0" bIns="0" rIns="0">
            <a:spAutoFit/>
          </a:bodyPr>
          <a:lstStyle/>
          <a:p>
            <a:pPr algn="l">
              <a:lnSpc>
                <a:spcPts val="6516"/>
              </a:lnSpc>
            </a:pPr>
            <a:r>
              <a:rPr lang="en-US" sz="7489" spc="-247" b="true">
                <a:solidFill>
                  <a:srgbClr val="03045A"/>
                </a:solidFill>
                <a:latin typeface="Open Sauce Bold"/>
                <a:ea typeface="Open Sauce Bold"/>
                <a:cs typeface="Open Sauce Bold"/>
                <a:sym typeface="Open Sauce Bold"/>
              </a:rPr>
              <a:t>Process Flow</a:t>
            </a:r>
          </a:p>
        </p:txBody>
      </p:sp>
      <p:sp>
        <p:nvSpPr>
          <p:cNvPr name="Freeform 8" id="8"/>
          <p:cNvSpPr/>
          <p:nvPr/>
        </p:nvSpPr>
        <p:spPr>
          <a:xfrm flipH="true" flipV="false" rot="0">
            <a:off x="6768806" y="819192"/>
            <a:ext cx="1139647" cy="343849"/>
          </a:xfrm>
          <a:custGeom>
            <a:avLst/>
            <a:gdLst/>
            <a:ahLst/>
            <a:cxnLst/>
            <a:rect r="r" b="b" t="t" l="l"/>
            <a:pathLst>
              <a:path h="343849" w="1139647">
                <a:moveTo>
                  <a:pt x="1139647" y="0"/>
                </a:moveTo>
                <a:lnTo>
                  <a:pt x="0" y="0"/>
                </a:lnTo>
                <a:lnTo>
                  <a:pt x="0" y="343848"/>
                </a:lnTo>
                <a:lnTo>
                  <a:pt x="1139647" y="343848"/>
                </a:lnTo>
                <a:lnTo>
                  <a:pt x="1139647" y="0"/>
                </a:lnTo>
                <a:close/>
              </a:path>
            </a:pathLst>
          </a:custGeom>
          <a:blipFill>
            <a:blip r:embed="rId6">
              <a:extLst>
                <a:ext uri="{96DAC541-7B7A-43D3-8B79-37D633B846F1}">
                  <asvg:svgBlip xmlns:asvg="http://schemas.microsoft.com/office/drawing/2016/SVG/main" r:embed="rId7"/>
                </a:ext>
              </a:extLst>
            </a:blip>
            <a:stretch>
              <a:fillRect l="0" t="0" r="-104552" b="0"/>
            </a:stretch>
          </a:blipFill>
        </p:spPr>
      </p:sp>
      <p:sp>
        <p:nvSpPr>
          <p:cNvPr name="AutoShape 9" id="9"/>
          <p:cNvSpPr/>
          <p:nvPr/>
        </p:nvSpPr>
        <p:spPr>
          <a:xfrm>
            <a:off x="0" y="5584435"/>
            <a:ext cx="18288000" cy="0"/>
          </a:xfrm>
          <a:prstGeom prst="line">
            <a:avLst/>
          </a:prstGeom>
          <a:ln cap="flat" w="104775">
            <a:solidFill>
              <a:srgbClr val="416BD0"/>
            </a:solidFill>
            <a:prstDash val="solid"/>
            <a:headEnd type="none" len="sm" w="sm"/>
            <a:tailEnd type="none" len="sm" w="sm"/>
          </a:ln>
        </p:spPr>
      </p:sp>
      <p:sp>
        <p:nvSpPr>
          <p:cNvPr name="Freeform 10" id="10"/>
          <p:cNvSpPr/>
          <p:nvPr/>
        </p:nvSpPr>
        <p:spPr>
          <a:xfrm flipH="false" flipV="false" rot="-5400000">
            <a:off x="8854746" y="5228781"/>
            <a:ext cx="647902" cy="766747"/>
          </a:xfrm>
          <a:custGeom>
            <a:avLst/>
            <a:gdLst/>
            <a:ahLst/>
            <a:cxnLst/>
            <a:rect r="r" b="b" t="t" l="l"/>
            <a:pathLst>
              <a:path h="766747" w="647902">
                <a:moveTo>
                  <a:pt x="0" y="0"/>
                </a:moveTo>
                <a:lnTo>
                  <a:pt x="647901" y="0"/>
                </a:lnTo>
                <a:lnTo>
                  <a:pt x="647901" y="766747"/>
                </a:lnTo>
                <a:lnTo>
                  <a:pt x="0" y="7667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5400000">
            <a:off x="1800033" y="5201061"/>
            <a:ext cx="647902" cy="766747"/>
          </a:xfrm>
          <a:custGeom>
            <a:avLst/>
            <a:gdLst/>
            <a:ahLst/>
            <a:cxnLst/>
            <a:rect r="r" b="b" t="t" l="l"/>
            <a:pathLst>
              <a:path h="766747" w="647902">
                <a:moveTo>
                  <a:pt x="0" y="0"/>
                </a:moveTo>
                <a:lnTo>
                  <a:pt x="647902" y="0"/>
                </a:lnTo>
                <a:lnTo>
                  <a:pt x="647902" y="766748"/>
                </a:lnTo>
                <a:lnTo>
                  <a:pt x="0" y="7667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1060307" y="4890798"/>
            <a:ext cx="3134163" cy="509301"/>
          </a:xfrm>
          <a:custGeom>
            <a:avLst/>
            <a:gdLst/>
            <a:ahLst/>
            <a:cxnLst/>
            <a:rect r="r" b="b" t="t" l="l"/>
            <a:pathLst>
              <a:path h="509301" w="3134163">
                <a:moveTo>
                  <a:pt x="0" y="0"/>
                </a:moveTo>
                <a:lnTo>
                  <a:pt x="3134163" y="0"/>
                </a:lnTo>
                <a:lnTo>
                  <a:pt x="3134163" y="509302"/>
                </a:lnTo>
                <a:lnTo>
                  <a:pt x="0" y="509302"/>
                </a:lnTo>
                <a:lnTo>
                  <a:pt x="0" y="0"/>
                </a:lnTo>
                <a:close/>
              </a:path>
            </a:pathLst>
          </a:custGeom>
          <a:blipFill>
            <a:blip r:embed="rId3">
              <a:alphaModFix amt="71000"/>
            </a:blip>
            <a:stretch>
              <a:fillRect l="0" t="0" r="0" b="0"/>
            </a:stretch>
          </a:blipFill>
        </p:spPr>
      </p:sp>
      <p:sp>
        <p:nvSpPr>
          <p:cNvPr name="Freeform 13" id="13"/>
          <p:cNvSpPr/>
          <p:nvPr/>
        </p:nvSpPr>
        <p:spPr>
          <a:xfrm flipH="false" flipV="false" rot="-5400000">
            <a:off x="12303438" y="5228781"/>
            <a:ext cx="647902" cy="766747"/>
          </a:xfrm>
          <a:custGeom>
            <a:avLst/>
            <a:gdLst/>
            <a:ahLst/>
            <a:cxnLst/>
            <a:rect r="r" b="b" t="t" l="l"/>
            <a:pathLst>
              <a:path h="766747" w="647902">
                <a:moveTo>
                  <a:pt x="0" y="0"/>
                </a:moveTo>
                <a:lnTo>
                  <a:pt x="647901" y="0"/>
                </a:lnTo>
                <a:lnTo>
                  <a:pt x="647901" y="766747"/>
                </a:lnTo>
                <a:lnTo>
                  <a:pt x="0" y="7667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4204467" y="4882990"/>
            <a:ext cx="3134163" cy="509301"/>
          </a:xfrm>
          <a:custGeom>
            <a:avLst/>
            <a:gdLst/>
            <a:ahLst/>
            <a:cxnLst/>
            <a:rect r="r" b="b" t="t" l="l"/>
            <a:pathLst>
              <a:path h="509301" w="3134163">
                <a:moveTo>
                  <a:pt x="0" y="0"/>
                </a:moveTo>
                <a:lnTo>
                  <a:pt x="3134163" y="0"/>
                </a:lnTo>
                <a:lnTo>
                  <a:pt x="3134163" y="509301"/>
                </a:lnTo>
                <a:lnTo>
                  <a:pt x="0" y="509301"/>
                </a:lnTo>
                <a:lnTo>
                  <a:pt x="0" y="0"/>
                </a:lnTo>
                <a:close/>
              </a:path>
            </a:pathLst>
          </a:custGeom>
          <a:blipFill>
            <a:blip r:embed="rId3">
              <a:alphaModFix amt="71000"/>
            </a:blip>
            <a:stretch>
              <a:fillRect l="0" t="0" r="0" b="0"/>
            </a:stretch>
          </a:blipFill>
        </p:spPr>
      </p:sp>
      <p:sp>
        <p:nvSpPr>
          <p:cNvPr name="Freeform 15" id="15"/>
          <p:cNvSpPr/>
          <p:nvPr/>
        </p:nvSpPr>
        <p:spPr>
          <a:xfrm flipH="false" flipV="false" rot="-5400000">
            <a:off x="5438073" y="5228781"/>
            <a:ext cx="647902" cy="766747"/>
          </a:xfrm>
          <a:custGeom>
            <a:avLst/>
            <a:gdLst/>
            <a:ahLst/>
            <a:cxnLst/>
            <a:rect r="r" b="b" t="t" l="l"/>
            <a:pathLst>
              <a:path h="766747" w="647902">
                <a:moveTo>
                  <a:pt x="0" y="0"/>
                </a:moveTo>
                <a:lnTo>
                  <a:pt x="647901" y="0"/>
                </a:lnTo>
                <a:lnTo>
                  <a:pt x="647901" y="766747"/>
                </a:lnTo>
                <a:lnTo>
                  <a:pt x="0" y="7667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400000">
            <a:off x="15563941" y="5201061"/>
            <a:ext cx="647902" cy="766747"/>
          </a:xfrm>
          <a:custGeom>
            <a:avLst/>
            <a:gdLst/>
            <a:ahLst/>
            <a:cxnLst/>
            <a:rect r="r" b="b" t="t" l="l"/>
            <a:pathLst>
              <a:path h="766747" w="647902">
                <a:moveTo>
                  <a:pt x="0" y="0"/>
                </a:moveTo>
                <a:lnTo>
                  <a:pt x="647902" y="0"/>
                </a:lnTo>
                <a:lnTo>
                  <a:pt x="647902" y="766748"/>
                </a:lnTo>
                <a:lnTo>
                  <a:pt x="0" y="7667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1601230" y="5059604"/>
            <a:ext cx="1002125" cy="982082"/>
          </a:xfrm>
          <a:custGeom>
            <a:avLst/>
            <a:gdLst/>
            <a:ahLst/>
            <a:cxnLst/>
            <a:rect r="r" b="b" t="t" l="l"/>
            <a:pathLst>
              <a:path h="982082" w="1002125">
                <a:moveTo>
                  <a:pt x="0" y="0"/>
                </a:moveTo>
                <a:lnTo>
                  <a:pt x="1002125" y="0"/>
                </a:lnTo>
                <a:lnTo>
                  <a:pt x="1002125" y="982082"/>
                </a:lnTo>
                <a:lnTo>
                  <a:pt x="0" y="982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2018092" y="5372380"/>
            <a:ext cx="136562" cy="368670"/>
          </a:xfrm>
          <a:custGeom>
            <a:avLst/>
            <a:gdLst/>
            <a:ahLst/>
            <a:cxnLst/>
            <a:rect r="r" b="b" t="t" l="l"/>
            <a:pathLst>
              <a:path h="368670" w="136562">
                <a:moveTo>
                  <a:pt x="0" y="0"/>
                </a:moveTo>
                <a:lnTo>
                  <a:pt x="136562" y="0"/>
                </a:lnTo>
                <a:lnTo>
                  <a:pt x="136562" y="368670"/>
                </a:lnTo>
                <a:lnTo>
                  <a:pt x="0" y="3686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5251305" y="5085585"/>
            <a:ext cx="1002125" cy="982082"/>
          </a:xfrm>
          <a:custGeom>
            <a:avLst/>
            <a:gdLst/>
            <a:ahLst/>
            <a:cxnLst/>
            <a:rect r="r" b="b" t="t" l="l"/>
            <a:pathLst>
              <a:path h="982082" w="1002125">
                <a:moveTo>
                  <a:pt x="0" y="0"/>
                </a:moveTo>
                <a:lnTo>
                  <a:pt x="1002124" y="0"/>
                </a:lnTo>
                <a:lnTo>
                  <a:pt x="1002124" y="982082"/>
                </a:lnTo>
                <a:lnTo>
                  <a:pt x="0" y="982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5646814" y="5400100"/>
            <a:ext cx="230419" cy="368670"/>
          </a:xfrm>
          <a:custGeom>
            <a:avLst/>
            <a:gdLst/>
            <a:ahLst/>
            <a:cxnLst/>
            <a:rect r="r" b="b" t="t" l="l"/>
            <a:pathLst>
              <a:path h="368670" w="230419">
                <a:moveTo>
                  <a:pt x="0" y="0"/>
                </a:moveTo>
                <a:lnTo>
                  <a:pt x="230419" y="0"/>
                </a:lnTo>
                <a:lnTo>
                  <a:pt x="230419" y="368670"/>
                </a:lnTo>
                <a:lnTo>
                  <a:pt x="0" y="3686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1" id="21"/>
          <p:cNvSpPr/>
          <p:nvPr/>
        </p:nvSpPr>
        <p:spPr>
          <a:xfrm flipH="false" flipV="false" rot="0">
            <a:off x="8631504" y="5121114"/>
            <a:ext cx="1002125" cy="982082"/>
          </a:xfrm>
          <a:custGeom>
            <a:avLst/>
            <a:gdLst/>
            <a:ahLst/>
            <a:cxnLst/>
            <a:rect r="r" b="b" t="t" l="l"/>
            <a:pathLst>
              <a:path h="982082" w="1002125">
                <a:moveTo>
                  <a:pt x="0" y="0"/>
                </a:moveTo>
                <a:lnTo>
                  <a:pt x="1002124" y="0"/>
                </a:lnTo>
                <a:lnTo>
                  <a:pt x="1002124" y="982082"/>
                </a:lnTo>
                <a:lnTo>
                  <a:pt x="0" y="982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9017270" y="5427820"/>
            <a:ext cx="253461" cy="368670"/>
          </a:xfrm>
          <a:custGeom>
            <a:avLst/>
            <a:gdLst/>
            <a:ahLst/>
            <a:cxnLst/>
            <a:rect r="r" b="b" t="t" l="l"/>
            <a:pathLst>
              <a:path h="368670" w="253461">
                <a:moveTo>
                  <a:pt x="0" y="0"/>
                </a:moveTo>
                <a:lnTo>
                  <a:pt x="253460" y="0"/>
                </a:lnTo>
                <a:lnTo>
                  <a:pt x="253460" y="368670"/>
                </a:lnTo>
                <a:lnTo>
                  <a:pt x="0" y="3686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3" id="23"/>
          <p:cNvSpPr/>
          <p:nvPr/>
        </p:nvSpPr>
        <p:spPr>
          <a:xfrm flipH="false" flipV="false" rot="0">
            <a:off x="12068011" y="5085585"/>
            <a:ext cx="1002125" cy="982082"/>
          </a:xfrm>
          <a:custGeom>
            <a:avLst/>
            <a:gdLst/>
            <a:ahLst/>
            <a:cxnLst/>
            <a:rect r="r" b="b" t="t" l="l"/>
            <a:pathLst>
              <a:path h="982082" w="1002125">
                <a:moveTo>
                  <a:pt x="0" y="0"/>
                </a:moveTo>
                <a:lnTo>
                  <a:pt x="1002125" y="0"/>
                </a:lnTo>
                <a:lnTo>
                  <a:pt x="1002125" y="982082"/>
                </a:lnTo>
                <a:lnTo>
                  <a:pt x="0" y="982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406564" y="5400100"/>
            <a:ext cx="253461" cy="368670"/>
          </a:xfrm>
          <a:custGeom>
            <a:avLst/>
            <a:gdLst/>
            <a:ahLst/>
            <a:cxnLst/>
            <a:rect r="r" b="b" t="t" l="l"/>
            <a:pathLst>
              <a:path h="368670" w="253461">
                <a:moveTo>
                  <a:pt x="0" y="0"/>
                </a:moveTo>
                <a:lnTo>
                  <a:pt x="253461" y="0"/>
                </a:lnTo>
                <a:lnTo>
                  <a:pt x="253461" y="368670"/>
                </a:lnTo>
                <a:lnTo>
                  <a:pt x="0" y="36867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5" id="25"/>
          <p:cNvSpPr/>
          <p:nvPr/>
        </p:nvSpPr>
        <p:spPr>
          <a:xfrm flipH="false" flipV="false" rot="0">
            <a:off x="15386829" y="5085585"/>
            <a:ext cx="1002125" cy="982082"/>
          </a:xfrm>
          <a:custGeom>
            <a:avLst/>
            <a:gdLst/>
            <a:ahLst/>
            <a:cxnLst/>
            <a:rect r="r" b="b" t="t" l="l"/>
            <a:pathLst>
              <a:path h="982082" w="1002125">
                <a:moveTo>
                  <a:pt x="0" y="0"/>
                </a:moveTo>
                <a:lnTo>
                  <a:pt x="1002125" y="0"/>
                </a:lnTo>
                <a:lnTo>
                  <a:pt x="1002125" y="982082"/>
                </a:lnTo>
                <a:lnTo>
                  <a:pt x="0" y="982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5761161" y="5392291"/>
            <a:ext cx="253461" cy="368670"/>
          </a:xfrm>
          <a:custGeom>
            <a:avLst/>
            <a:gdLst/>
            <a:ahLst/>
            <a:cxnLst/>
            <a:rect r="r" b="b" t="t" l="l"/>
            <a:pathLst>
              <a:path h="368670" w="253461">
                <a:moveTo>
                  <a:pt x="0" y="0"/>
                </a:moveTo>
                <a:lnTo>
                  <a:pt x="253461" y="0"/>
                </a:lnTo>
                <a:lnTo>
                  <a:pt x="253461" y="368670"/>
                </a:lnTo>
                <a:lnTo>
                  <a:pt x="0" y="36867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27" id="27"/>
          <p:cNvGrpSpPr/>
          <p:nvPr/>
        </p:nvGrpSpPr>
        <p:grpSpPr>
          <a:xfrm rot="0">
            <a:off x="559804" y="6174959"/>
            <a:ext cx="3204082" cy="2155286"/>
            <a:chOff x="0" y="0"/>
            <a:chExt cx="652434" cy="438872"/>
          </a:xfrm>
        </p:grpSpPr>
        <p:sp>
          <p:nvSpPr>
            <p:cNvPr name="Freeform 28" id="28"/>
            <p:cNvSpPr/>
            <p:nvPr/>
          </p:nvSpPr>
          <p:spPr>
            <a:xfrm flipH="false" flipV="false" rot="0">
              <a:off x="0" y="0"/>
              <a:ext cx="652434" cy="438872"/>
            </a:xfrm>
            <a:custGeom>
              <a:avLst/>
              <a:gdLst/>
              <a:ahLst/>
              <a:cxnLst/>
              <a:rect r="r" b="b" t="t" l="l"/>
              <a:pathLst>
                <a:path h="438872" w="652434">
                  <a:moveTo>
                    <a:pt x="72488" y="0"/>
                  </a:moveTo>
                  <a:lnTo>
                    <a:pt x="579946" y="0"/>
                  </a:lnTo>
                  <a:cubicBezTo>
                    <a:pt x="599171" y="0"/>
                    <a:pt x="617608" y="7637"/>
                    <a:pt x="631202" y="21231"/>
                  </a:cubicBezTo>
                  <a:cubicBezTo>
                    <a:pt x="644796" y="34825"/>
                    <a:pt x="652434" y="53263"/>
                    <a:pt x="652434" y="72488"/>
                  </a:cubicBezTo>
                  <a:lnTo>
                    <a:pt x="652434" y="366384"/>
                  </a:lnTo>
                  <a:cubicBezTo>
                    <a:pt x="652434" y="406418"/>
                    <a:pt x="619980" y="438872"/>
                    <a:pt x="579946" y="438872"/>
                  </a:cubicBezTo>
                  <a:lnTo>
                    <a:pt x="72488" y="438872"/>
                  </a:lnTo>
                  <a:cubicBezTo>
                    <a:pt x="32454" y="438872"/>
                    <a:pt x="0" y="406418"/>
                    <a:pt x="0" y="366384"/>
                  </a:cubicBezTo>
                  <a:lnTo>
                    <a:pt x="0" y="72488"/>
                  </a:lnTo>
                  <a:cubicBezTo>
                    <a:pt x="0" y="32454"/>
                    <a:pt x="32454" y="0"/>
                    <a:pt x="72488" y="0"/>
                  </a:cubicBezTo>
                  <a:close/>
                </a:path>
              </a:pathLst>
            </a:custGeom>
            <a:solidFill>
              <a:srgbClr val="416BD0"/>
            </a:solidFill>
          </p:spPr>
        </p:sp>
        <p:sp>
          <p:nvSpPr>
            <p:cNvPr name="TextBox 29" id="29"/>
            <p:cNvSpPr txBox="true"/>
            <p:nvPr/>
          </p:nvSpPr>
          <p:spPr>
            <a:xfrm>
              <a:off x="0" y="-28575"/>
              <a:ext cx="652434" cy="467447"/>
            </a:xfrm>
            <a:prstGeom prst="rect">
              <a:avLst/>
            </a:prstGeom>
          </p:spPr>
          <p:txBody>
            <a:bodyPr anchor="ctr" rtlCol="false" tIns="50800" lIns="50800" bIns="50800" rIns="50800"/>
            <a:lstStyle/>
            <a:p>
              <a:pPr algn="ctr">
                <a:lnSpc>
                  <a:spcPts val="2514"/>
                </a:lnSpc>
              </a:pPr>
            </a:p>
          </p:txBody>
        </p:sp>
      </p:grpSp>
      <p:grpSp>
        <p:nvGrpSpPr>
          <p:cNvPr name="Group 30" id="30"/>
          <p:cNvGrpSpPr/>
          <p:nvPr/>
        </p:nvGrpSpPr>
        <p:grpSpPr>
          <a:xfrm rot="0">
            <a:off x="4194711" y="2267940"/>
            <a:ext cx="3115312" cy="2673767"/>
            <a:chOff x="0" y="0"/>
            <a:chExt cx="634358" cy="544448"/>
          </a:xfrm>
        </p:grpSpPr>
        <p:sp>
          <p:nvSpPr>
            <p:cNvPr name="Freeform 31" id="31"/>
            <p:cNvSpPr/>
            <p:nvPr/>
          </p:nvSpPr>
          <p:spPr>
            <a:xfrm flipH="false" flipV="false" rot="0">
              <a:off x="0" y="0"/>
              <a:ext cx="634358" cy="544448"/>
            </a:xfrm>
            <a:custGeom>
              <a:avLst/>
              <a:gdLst/>
              <a:ahLst/>
              <a:cxnLst/>
              <a:rect r="r" b="b" t="t" l="l"/>
              <a:pathLst>
                <a:path h="544448" w="634358">
                  <a:moveTo>
                    <a:pt x="74554" y="0"/>
                  </a:moveTo>
                  <a:lnTo>
                    <a:pt x="559804" y="0"/>
                  </a:lnTo>
                  <a:cubicBezTo>
                    <a:pt x="600979" y="0"/>
                    <a:pt x="634358" y="33379"/>
                    <a:pt x="634358" y="74554"/>
                  </a:cubicBezTo>
                  <a:lnTo>
                    <a:pt x="634358" y="469894"/>
                  </a:lnTo>
                  <a:cubicBezTo>
                    <a:pt x="634358" y="511069"/>
                    <a:pt x="600979" y="544448"/>
                    <a:pt x="559804" y="544448"/>
                  </a:cubicBezTo>
                  <a:lnTo>
                    <a:pt x="74554" y="544448"/>
                  </a:lnTo>
                  <a:cubicBezTo>
                    <a:pt x="33379" y="544448"/>
                    <a:pt x="0" y="511069"/>
                    <a:pt x="0" y="469894"/>
                  </a:cubicBezTo>
                  <a:lnTo>
                    <a:pt x="0" y="74554"/>
                  </a:lnTo>
                  <a:cubicBezTo>
                    <a:pt x="0" y="33379"/>
                    <a:pt x="33379" y="0"/>
                    <a:pt x="74554" y="0"/>
                  </a:cubicBezTo>
                  <a:close/>
                </a:path>
              </a:pathLst>
            </a:custGeom>
            <a:solidFill>
              <a:srgbClr val="416BD0"/>
            </a:solidFill>
          </p:spPr>
        </p:sp>
        <p:sp>
          <p:nvSpPr>
            <p:cNvPr name="TextBox 32" id="32"/>
            <p:cNvSpPr txBox="true"/>
            <p:nvPr/>
          </p:nvSpPr>
          <p:spPr>
            <a:xfrm>
              <a:off x="0" y="-28575"/>
              <a:ext cx="634358" cy="573023"/>
            </a:xfrm>
            <a:prstGeom prst="rect">
              <a:avLst/>
            </a:prstGeom>
          </p:spPr>
          <p:txBody>
            <a:bodyPr anchor="ctr" rtlCol="false" tIns="50800" lIns="50800" bIns="50800" rIns="50800"/>
            <a:lstStyle/>
            <a:p>
              <a:pPr algn="ctr">
                <a:lnSpc>
                  <a:spcPts val="2514"/>
                </a:lnSpc>
              </a:pPr>
            </a:p>
          </p:txBody>
        </p:sp>
      </p:grpSp>
      <p:grpSp>
        <p:nvGrpSpPr>
          <p:cNvPr name="Group 33" id="33"/>
          <p:cNvGrpSpPr/>
          <p:nvPr/>
        </p:nvGrpSpPr>
        <p:grpSpPr>
          <a:xfrm rot="0">
            <a:off x="10903619" y="2028274"/>
            <a:ext cx="3538431" cy="2913433"/>
            <a:chOff x="0" y="0"/>
            <a:chExt cx="720516" cy="593250"/>
          </a:xfrm>
        </p:grpSpPr>
        <p:sp>
          <p:nvSpPr>
            <p:cNvPr name="Freeform 34" id="34"/>
            <p:cNvSpPr/>
            <p:nvPr/>
          </p:nvSpPr>
          <p:spPr>
            <a:xfrm flipH="false" flipV="false" rot="0">
              <a:off x="0" y="0"/>
              <a:ext cx="720516" cy="593250"/>
            </a:xfrm>
            <a:custGeom>
              <a:avLst/>
              <a:gdLst/>
              <a:ahLst/>
              <a:cxnLst/>
              <a:rect r="r" b="b" t="t" l="l"/>
              <a:pathLst>
                <a:path h="593250" w="720516">
                  <a:moveTo>
                    <a:pt x="65639" y="0"/>
                  </a:moveTo>
                  <a:lnTo>
                    <a:pt x="654877" y="0"/>
                  </a:lnTo>
                  <a:cubicBezTo>
                    <a:pt x="691128" y="0"/>
                    <a:pt x="720516" y="29387"/>
                    <a:pt x="720516" y="65639"/>
                  </a:cubicBezTo>
                  <a:lnTo>
                    <a:pt x="720516" y="527611"/>
                  </a:lnTo>
                  <a:cubicBezTo>
                    <a:pt x="720516" y="563863"/>
                    <a:pt x="691128" y="593250"/>
                    <a:pt x="654877" y="593250"/>
                  </a:cubicBezTo>
                  <a:lnTo>
                    <a:pt x="65639" y="593250"/>
                  </a:lnTo>
                  <a:cubicBezTo>
                    <a:pt x="29387" y="593250"/>
                    <a:pt x="0" y="563863"/>
                    <a:pt x="0" y="527611"/>
                  </a:cubicBezTo>
                  <a:lnTo>
                    <a:pt x="0" y="65639"/>
                  </a:lnTo>
                  <a:cubicBezTo>
                    <a:pt x="0" y="29387"/>
                    <a:pt x="29387" y="0"/>
                    <a:pt x="65639" y="0"/>
                  </a:cubicBezTo>
                  <a:close/>
                </a:path>
              </a:pathLst>
            </a:custGeom>
            <a:solidFill>
              <a:srgbClr val="416BD0"/>
            </a:solidFill>
          </p:spPr>
        </p:sp>
        <p:sp>
          <p:nvSpPr>
            <p:cNvPr name="TextBox 35" id="35"/>
            <p:cNvSpPr txBox="true"/>
            <p:nvPr/>
          </p:nvSpPr>
          <p:spPr>
            <a:xfrm>
              <a:off x="0" y="-28575"/>
              <a:ext cx="720516" cy="621825"/>
            </a:xfrm>
            <a:prstGeom prst="rect">
              <a:avLst/>
            </a:prstGeom>
          </p:spPr>
          <p:txBody>
            <a:bodyPr anchor="ctr" rtlCol="false" tIns="50800" lIns="50800" bIns="50800" rIns="50800"/>
            <a:lstStyle/>
            <a:p>
              <a:pPr algn="ctr">
                <a:lnSpc>
                  <a:spcPts val="2514"/>
                </a:lnSpc>
              </a:pPr>
            </a:p>
          </p:txBody>
        </p:sp>
      </p:grpSp>
      <p:grpSp>
        <p:nvGrpSpPr>
          <p:cNvPr name="Group 36" id="36"/>
          <p:cNvGrpSpPr/>
          <p:nvPr/>
        </p:nvGrpSpPr>
        <p:grpSpPr>
          <a:xfrm rot="0">
            <a:off x="7576655" y="6167960"/>
            <a:ext cx="3326963" cy="3335465"/>
            <a:chOff x="0" y="0"/>
            <a:chExt cx="4435951" cy="4447287"/>
          </a:xfrm>
        </p:grpSpPr>
        <p:sp>
          <p:nvSpPr>
            <p:cNvPr name="Freeform 37" id="37"/>
            <p:cNvSpPr/>
            <p:nvPr/>
          </p:nvSpPr>
          <p:spPr>
            <a:xfrm flipH="false" flipV="false" rot="0">
              <a:off x="115834" y="3768219"/>
              <a:ext cx="4178884" cy="679069"/>
            </a:xfrm>
            <a:custGeom>
              <a:avLst/>
              <a:gdLst/>
              <a:ahLst/>
              <a:cxnLst/>
              <a:rect r="r" b="b" t="t" l="l"/>
              <a:pathLst>
                <a:path h="679069" w="4178884">
                  <a:moveTo>
                    <a:pt x="0" y="0"/>
                  </a:moveTo>
                  <a:lnTo>
                    <a:pt x="4178884" y="0"/>
                  </a:lnTo>
                  <a:lnTo>
                    <a:pt x="4178884" y="679068"/>
                  </a:lnTo>
                  <a:lnTo>
                    <a:pt x="0" y="679068"/>
                  </a:lnTo>
                  <a:lnTo>
                    <a:pt x="0" y="0"/>
                  </a:lnTo>
                  <a:close/>
                </a:path>
              </a:pathLst>
            </a:custGeom>
            <a:blipFill>
              <a:blip r:embed="rId3">
                <a:alphaModFix amt="71000"/>
              </a:blip>
              <a:stretch>
                <a:fillRect l="0" t="0" r="0" b="0"/>
              </a:stretch>
            </a:blipFill>
          </p:spPr>
        </p:sp>
        <p:grpSp>
          <p:nvGrpSpPr>
            <p:cNvPr name="Group 38" id="38"/>
            <p:cNvGrpSpPr/>
            <p:nvPr/>
          </p:nvGrpSpPr>
          <p:grpSpPr>
            <a:xfrm rot="0">
              <a:off x="0" y="0"/>
              <a:ext cx="4435951" cy="3810612"/>
              <a:chOff x="0" y="0"/>
              <a:chExt cx="677455" cy="581954"/>
            </a:xfrm>
          </p:grpSpPr>
          <p:sp>
            <p:nvSpPr>
              <p:cNvPr name="Freeform 39" id="39"/>
              <p:cNvSpPr/>
              <p:nvPr/>
            </p:nvSpPr>
            <p:spPr>
              <a:xfrm flipH="false" flipV="false" rot="0">
                <a:off x="0" y="0"/>
                <a:ext cx="677455" cy="581954"/>
              </a:xfrm>
              <a:custGeom>
                <a:avLst/>
                <a:gdLst/>
                <a:ahLst/>
                <a:cxnLst/>
                <a:rect r="r" b="b" t="t" l="l"/>
                <a:pathLst>
                  <a:path h="581954" w="677455">
                    <a:moveTo>
                      <a:pt x="69811" y="0"/>
                    </a:moveTo>
                    <a:lnTo>
                      <a:pt x="607645" y="0"/>
                    </a:lnTo>
                    <a:cubicBezTo>
                      <a:pt x="646200" y="0"/>
                      <a:pt x="677455" y="31255"/>
                      <a:pt x="677455" y="69811"/>
                    </a:cubicBezTo>
                    <a:lnTo>
                      <a:pt x="677455" y="512143"/>
                    </a:lnTo>
                    <a:cubicBezTo>
                      <a:pt x="677455" y="530658"/>
                      <a:pt x="670100" y="548415"/>
                      <a:pt x="657008" y="561507"/>
                    </a:cubicBezTo>
                    <a:cubicBezTo>
                      <a:pt x="643916" y="574599"/>
                      <a:pt x="626160" y="581954"/>
                      <a:pt x="607645" y="581954"/>
                    </a:cubicBezTo>
                    <a:lnTo>
                      <a:pt x="69811" y="581954"/>
                    </a:lnTo>
                    <a:cubicBezTo>
                      <a:pt x="51296" y="581954"/>
                      <a:pt x="33539" y="574599"/>
                      <a:pt x="20447" y="561507"/>
                    </a:cubicBezTo>
                    <a:cubicBezTo>
                      <a:pt x="7355" y="548415"/>
                      <a:pt x="0" y="530658"/>
                      <a:pt x="0" y="512143"/>
                    </a:cubicBezTo>
                    <a:lnTo>
                      <a:pt x="0" y="69811"/>
                    </a:lnTo>
                    <a:cubicBezTo>
                      <a:pt x="0" y="51296"/>
                      <a:pt x="7355" y="33539"/>
                      <a:pt x="20447" y="20447"/>
                    </a:cubicBezTo>
                    <a:cubicBezTo>
                      <a:pt x="33539" y="7355"/>
                      <a:pt x="51296" y="0"/>
                      <a:pt x="69811" y="0"/>
                    </a:cubicBezTo>
                    <a:close/>
                  </a:path>
                </a:pathLst>
              </a:custGeom>
              <a:solidFill>
                <a:srgbClr val="416BD0"/>
              </a:solidFill>
            </p:spPr>
          </p:sp>
          <p:sp>
            <p:nvSpPr>
              <p:cNvPr name="TextBox 40" id="40"/>
              <p:cNvSpPr txBox="true"/>
              <p:nvPr/>
            </p:nvSpPr>
            <p:spPr>
              <a:xfrm>
                <a:off x="0" y="-28575"/>
                <a:ext cx="677455" cy="610529"/>
              </a:xfrm>
              <a:prstGeom prst="rect">
                <a:avLst/>
              </a:prstGeom>
            </p:spPr>
            <p:txBody>
              <a:bodyPr anchor="ctr" rtlCol="false" tIns="50800" lIns="50800" bIns="50800" rIns="50800"/>
              <a:lstStyle/>
              <a:p>
                <a:pPr algn="ctr">
                  <a:lnSpc>
                    <a:spcPts val="2514"/>
                  </a:lnSpc>
                </a:pPr>
              </a:p>
            </p:txBody>
          </p:sp>
        </p:grpSp>
        <p:sp>
          <p:nvSpPr>
            <p:cNvPr name="TextBox 41" id="41"/>
            <p:cNvSpPr txBox="true"/>
            <p:nvPr/>
          </p:nvSpPr>
          <p:spPr>
            <a:xfrm rot="0">
              <a:off x="215982" y="743256"/>
              <a:ext cx="4003988" cy="2495309"/>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data is input into the system for analysis using the </a:t>
              </a:r>
              <a:r>
                <a:rPr lang="en-US" sz="2499">
                  <a:solidFill>
                    <a:srgbClr val="FCFCFB"/>
                  </a:solidFill>
                  <a:latin typeface="Poppins"/>
                  <a:ea typeface="Poppins"/>
                  <a:cs typeface="Poppins"/>
                  <a:sym typeface="Poppins"/>
                </a:rPr>
                <a:t>machine learning</a:t>
              </a:r>
              <a:r>
                <a:rPr lang="en-US" sz="2499">
                  <a:solidFill>
                    <a:srgbClr val="FCFCFB"/>
                  </a:solidFill>
                  <a:latin typeface="Poppins"/>
                  <a:ea typeface="Poppins"/>
                  <a:cs typeface="Poppins"/>
                  <a:sym typeface="Poppins"/>
                </a:rPr>
                <a:t> model.</a:t>
              </a:r>
            </a:p>
          </p:txBody>
        </p:sp>
      </p:grpSp>
      <p:grpSp>
        <p:nvGrpSpPr>
          <p:cNvPr name="Group 42" id="42"/>
          <p:cNvGrpSpPr/>
          <p:nvPr/>
        </p:nvGrpSpPr>
        <p:grpSpPr>
          <a:xfrm rot="0">
            <a:off x="14338109" y="6174959"/>
            <a:ext cx="3709401" cy="3431499"/>
            <a:chOff x="0" y="0"/>
            <a:chExt cx="755330" cy="698742"/>
          </a:xfrm>
        </p:grpSpPr>
        <p:sp>
          <p:nvSpPr>
            <p:cNvPr name="Freeform 43" id="43"/>
            <p:cNvSpPr/>
            <p:nvPr/>
          </p:nvSpPr>
          <p:spPr>
            <a:xfrm flipH="false" flipV="false" rot="0">
              <a:off x="0" y="0"/>
              <a:ext cx="755330" cy="698742"/>
            </a:xfrm>
            <a:custGeom>
              <a:avLst/>
              <a:gdLst/>
              <a:ahLst/>
              <a:cxnLst/>
              <a:rect r="r" b="b" t="t" l="l"/>
              <a:pathLst>
                <a:path h="698742" w="755330">
                  <a:moveTo>
                    <a:pt x="62613" y="0"/>
                  </a:moveTo>
                  <a:lnTo>
                    <a:pt x="692716" y="0"/>
                  </a:lnTo>
                  <a:cubicBezTo>
                    <a:pt x="709322" y="0"/>
                    <a:pt x="725248" y="6597"/>
                    <a:pt x="736991" y="18339"/>
                  </a:cubicBezTo>
                  <a:cubicBezTo>
                    <a:pt x="748733" y="30081"/>
                    <a:pt x="755330" y="46007"/>
                    <a:pt x="755330" y="62613"/>
                  </a:cubicBezTo>
                  <a:lnTo>
                    <a:pt x="755330" y="636128"/>
                  </a:lnTo>
                  <a:cubicBezTo>
                    <a:pt x="755330" y="670709"/>
                    <a:pt x="727297" y="698742"/>
                    <a:pt x="692716" y="698742"/>
                  </a:cubicBezTo>
                  <a:lnTo>
                    <a:pt x="62613" y="698742"/>
                  </a:lnTo>
                  <a:cubicBezTo>
                    <a:pt x="46007" y="698742"/>
                    <a:pt x="30081" y="692145"/>
                    <a:pt x="18339" y="680403"/>
                  </a:cubicBezTo>
                  <a:cubicBezTo>
                    <a:pt x="6597" y="668660"/>
                    <a:pt x="0" y="652734"/>
                    <a:pt x="0" y="636128"/>
                  </a:cubicBezTo>
                  <a:lnTo>
                    <a:pt x="0" y="62613"/>
                  </a:lnTo>
                  <a:cubicBezTo>
                    <a:pt x="0" y="46007"/>
                    <a:pt x="6597" y="30081"/>
                    <a:pt x="18339" y="18339"/>
                  </a:cubicBezTo>
                  <a:cubicBezTo>
                    <a:pt x="30081" y="6597"/>
                    <a:pt x="46007" y="0"/>
                    <a:pt x="62613" y="0"/>
                  </a:cubicBezTo>
                  <a:close/>
                </a:path>
              </a:pathLst>
            </a:custGeom>
            <a:solidFill>
              <a:srgbClr val="416BD0"/>
            </a:solidFill>
          </p:spPr>
        </p:sp>
        <p:sp>
          <p:nvSpPr>
            <p:cNvPr name="TextBox 44" id="44"/>
            <p:cNvSpPr txBox="true"/>
            <p:nvPr/>
          </p:nvSpPr>
          <p:spPr>
            <a:xfrm>
              <a:off x="0" y="-28575"/>
              <a:ext cx="755330" cy="727317"/>
            </a:xfrm>
            <a:prstGeom prst="rect">
              <a:avLst/>
            </a:prstGeom>
          </p:spPr>
          <p:txBody>
            <a:bodyPr anchor="ctr" rtlCol="false" tIns="50800" lIns="50800" bIns="50800" rIns="50800"/>
            <a:lstStyle/>
            <a:p>
              <a:pPr algn="ctr">
                <a:lnSpc>
                  <a:spcPts val="2514"/>
                </a:lnSpc>
              </a:pPr>
            </a:p>
          </p:txBody>
        </p:sp>
      </p:grpSp>
      <p:sp>
        <p:nvSpPr>
          <p:cNvPr name="TextBox 45" id="45"/>
          <p:cNvSpPr txBox="true"/>
          <p:nvPr/>
        </p:nvSpPr>
        <p:spPr>
          <a:xfrm rot="0">
            <a:off x="848544" y="4408884"/>
            <a:ext cx="2393667" cy="44136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Registration</a:t>
            </a:r>
          </a:p>
        </p:txBody>
      </p:sp>
      <p:sp>
        <p:nvSpPr>
          <p:cNvPr name="TextBox 46" id="46"/>
          <p:cNvSpPr txBox="true"/>
          <p:nvPr/>
        </p:nvSpPr>
        <p:spPr>
          <a:xfrm rot="0">
            <a:off x="8172467" y="4377569"/>
            <a:ext cx="1920197" cy="441361"/>
          </a:xfrm>
          <a:prstGeom prst="rect">
            <a:avLst/>
          </a:prstGeom>
        </p:spPr>
        <p:txBody>
          <a:bodyPr anchor="t" rtlCol="false" tIns="0" lIns="0" bIns="0" rIns="0">
            <a:spAutoFit/>
          </a:bodyPr>
          <a:lstStyle/>
          <a:p>
            <a:pPr algn="ctr">
              <a:lnSpc>
                <a:spcPts val="3499"/>
              </a:lnSpc>
              <a:spcBef>
                <a:spcPct val="0"/>
              </a:spcBef>
            </a:pPr>
            <a:r>
              <a:rPr lang="en-US" b="true" sz="2499">
                <a:solidFill>
                  <a:srgbClr val="FCFCFB"/>
                </a:solidFill>
                <a:latin typeface="Poppins Bold"/>
                <a:ea typeface="Poppins Bold"/>
                <a:cs typeface="Poppins Bold"/>
                <a:sym typeface="Poppins Bold"/>
              </a:rPr>
              <a:t>Data Input</a:t>
            </a:r>
          </a:p>
        </p:txBody>
      </p:sp>
      <p:sp>
        <p:nvSpPr>
          <p:cNvPr name="TextBox 47" id="47"/>
          <p:cNvSpPr txBox="true"/>
          <p:nvPr/>
        </p:nvSpPr>
        <p:spPr>
          <a:xfrm rot="0">
            <a:off x="14871908" y="4398582"/>
            <a:ext cx="2031968" cy="441361"/>
          </a:xfrm>
          <a:prstGeom prst="rect">
            <a:avLst/>
          </a:prstGeom>
        </p:spPr>
        <p:txBody>
          <a:bodyPr anchor="t" rtlCol="false" tIns="0" lIns="0" bIns="0" rIns="0">
            <a:spAutoFit/>
          </a:bodyPr>
          <a:lstStyle/>
          <a:p>
            <a:pPr algn="ctr">
              <a:lnSpc>
                <a:spcPts val="3499"/>
              </a:lnSpc>
              <a:spcBef>
                <a:spcPct val="0"/>
              </a:spcBef>
            </a:pPr>
            <a:r>
              <a:rPr lang="en-US" b="true" sz="2499">
                <a:solidFill>
                  <a:srgbClr val="FCFCFB"/>
                </a:solidFill>
                <a:latin typeface="Poppins Bold"/>
                <a:ea typeface="Poppins Bold"/>
                <a:cs typeface="Poppins Bold"/>
                <a:sym typeface="Poppins Bold"/>
              </a:rPr>
              <a:t>Results</a:t>
            </a:r>
          </a:p>
        </p:txBody>
      </p:sp>
      <p:sp>
        <p:nvSpPr>
          <p:cNvPr name="TextBox 48" id="48"/>
          <p:cNvSpPr txBox="true"/>
          <p:nvPr/>
        </p:nvSpPr>
        <p:spPr>
          <a:xfrm rot="0">
            <a:off x="11281328" y="6300485"/>
            <a:ext cx="2575491" cy="441361"/>
          </a:xfrm>
          <a:prstGeom prst="rect">
            <a:avLst/>
          </a:prstGeom>
        </p:spPr>
        <p:txBody>
          <a:bodyPr anchor="t" rtlCol="false" tIns="0" lIns="0" bIns="0" rIns="0">
            <a:spAutoFit/>
          </a:bodyPr>
          <a:lstStyle/>
          <a:p>
            <a:pPr algn="ctr">
              <a:lnSpc>
                <a:spcPts val="3499"/>
              </a:lnSpc>
              <a:spcBef>
                <a:spcPct val="0"/>
              </a:spcBef>
            </a:pPr>
            <a:r>
              <a:rPr lang="en-US" b="true" sz="2499">
                <a:solidFill>
                  <a:srgbClr val="FCFCFB"/>
                </a:solidFill>
                <a:latin typeface="Poppins Bold"/>
                <a:ea typeface="Poppins Bold"/>
                <a:cs typeface="Poppins Bold"/>
                <a:sym typeface="Poppins Bold"/>
              </a:rPr>
              <a:t>Model Analysis</a:t>
            </a:r>
          </a:p>
        </p:txBody>
      </p:sp>
      <p:sp>
        <p:nvSpPr>
          <p:cNvPr name="TextBox 49" id="49"/>
          <p:cNvSpPr txBox="true"/>
          <p:nvPr/>
        </p:nvSpPr>
        <p:spPr>
          <a:xfrm rot="0">
            <a:off x="681276" y="6676339"/>
            <a:ext cx="2961138" cy="1133475"/>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potential client registers themselves.</a:t>
            </a:r>
          </a:p>
        </p:txBody>
      </p:sp>
      <p:sp>
        <p:nvSpPr>
          <p:cNvPr name="TextBox 50" id="50"/>
          <p:cNvSpPr txBox="true"/>
          <p:nvPr/>
        </p:nvSpPr>
        <p:spPr>
          <a:xfrm rot="0">
            <a:off x="4366943" y="2482906"/>
            <a:ext cx="2790161" cy="2247683"/>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applicant submits the required administrative documents and medical data.</a:t>
            </a:r>
          </a:p>
        </p:txBody>
      </p:sp>
      <p:sp>
        <p:nvSpPr>
          <p:cNvPr name="TextBox 51" id="51"/>
          <p:cNvSpPr txBox="true"/>
          <p:nvPr/>
        </p:nvSpPr>
        <p:spPr>
          <a:xfrm rot="0">
            <a:off x="11007560" y="2322585"/>
            <a:ext cx="3330549" cy="2619122"/>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model runs and analyzes the patient's d</a:t>
            </a:r>
            <a:r>
              <a:rPr lang="en-US" sz="2499">
                <a:solidFill>
                  <a:srgbClr val="FCFCFB"/>
                </a:solidFill>
                <a:latin typeface="Poppins"/>
                <a:ea typeface="Poppins"/>
                <a:cs typeface="Poppins"/>
                <a:sym typeface="Poppins"/>
              </a:rPr>
              <a:t>a</a:t>
            </a:r>
            <a:r>
              <a:rPr lang="en-US" sz="2499">
                <a:solidFill>
                  <a:srgbClr val="FCFCFB"/>
                </a:solidFill>
                <a:latin typeface="Poppins"/>
                <a:ea typeface="Poppins"/>
                <a:cs typeface="Poppins"/>
                <a:sym typeface="Poppins"/>
              </a:rPr>
              <a:t>ta.</a:t>
            </a:r>
          </a:p>
          <a:p>
            <a:pPr algn="ctr">
              <a:lnSpc>
                <a:spcPts val="2999"/>
              </a:lnSpc>
            </a:pPr>
          </a:p>
          <a:p>
            <a:pPr algn="ctr">
              <a:lnSpc>
                <a:spcPts val="2999"/>
              </a:lnSpc>
            </a:pPr>
            <a:r>
              <a:rPr lang="en-US" sz="2499" b="true">
                <a:solidFill>
                  <a:srgbClr val="FCFCFB"/>
                </a:solidFill>
                <a:latin typeface="Poppins Bold"/>
                <a:ea typeface="Poppins Bold"/>
                <a:cs typeface="Poppins Bold"/>
                <a:sym typeface="Poppins Bold"/>
              </a:rPr>
              <a:t>Result: </a:t>
            </a:r>
            <a:r>
              <a:rPr lang="en-US" sz="2499">
                <a:solidFill>
                  <a:srgbClr val="FCFCFB"/>
                </a:solidFill>
                <a:latin typeface="Poppins"/>
                <a:ea typeface="Poppins"/>
                <a:cs typeface="Poppins"/>
                <a:sym typeface="Poppins"/>
              </a:rPr>
              <a:t>Risk or no risk with a percentage.</a:t>
            </a:r>
          </a:p>
          <a:p>
            <a:pPr algn="ctr">
              <a:lnSpc>
                <a:spcPts val="2999"/>
              </a:lnSpc>
            </a:pPr>
          </a:p>
        </p:txBody>
      </p:sp>
      <p:sp>
        <p:nvSpPr>
          <p:cNvPr name="TextBox 52" id="52"/>
          <p:cNvSpPr txBox="true"/>
          <p:nvPr/>
        </p:nvSpPr>
        <p:spPr>
          <a:xfrm rot="0">
            <a:off x="14399744" y="6234933"/>
            <a:ext cx="3647767" cy="3362000"/>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data is used to assess potential risks, which will then be used to calculate premium policies and decide whether to approve or deny the applicant’s submission.</a:t>
            </a:r>
          </a:p>
        </p:txBody>
      </p:sp>
      <p:sp>
        <p:nvSpPr>
          <p:cNvPr name="TextBox 53" id="53"/>
          <p:cNvSpPr txBox="true"/>
          <p:nvPr/>
        </p:nvSpPr>
        <p:spPr>
          <a:xfrm rot="0">
            <a:off x="4418004" y="6324842"/>
            <a:ext cx="2602766" cy="441361"/>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Administration</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31000" y="1536265"/>
            <a:ext cx="3957068" cy="4050086"/>
            <a:chOff x="0" y="0"/>
            <a:chExt cx="5276090" cy="5400114"/>
          </a:xfrm>
        </p:grpSpPr>
        <p:sp>
          <p:nvSpPr>
            <p:cNvPr name="Freeform 3" id="3"/>
            <p:cNvSpPr/>
            <p:nvPr/>
          </p:nvSpPr>
          <p:spPr>
            <a:xfrm flipH="false" flipV="false" rot="0">
              <a:off x="548603" y="4721045"/>
              <a:ext cx="4178884" cy="679069"/>
            </a:xfrm>
            <a:custGeom>
              <a:avLst/>
              <a:gdLst/>
              <a:ahLst/>
              <a:cxnLst/>
              <a:rect r="r" b="b" t="t" l="l"/>
              <a:pathLst>
                <a:path h="679069" w="4178884">
                  <a:moveTo>
                    <a:pt x="0" y="0"/>
                  </a:moveTo>
                  <a:lnTo>
                    <a:pt x="4178884" y="0"/>
                  </a:lnTo>
                  <a:lnTo>
                    <a:pt x="4178884" y="679069"/>
                  </a:lnTo>
                  <a:lnTo>
                    <a:pt x="0" y="679069"/>
                  </a:lnTo>
                  <a:lnTo>
                    <a:pt x="0" y="0"/>
                  </a:lnTo>
                  <a:close/>
                </a:path>
              </a:pathLst>
            </a:custGeom>
            <a:blipFill>
              <a:blip r:embed="rId2">
                <a:alphaModFix amt="71000"/>
              </a:blip>
              <a:stretch>
                <a:fillRect l="0" t="0" r="0" b="0"/>
              </a:stretch>
            </a:blipFill>
          </p:spPr>
        </p:sp>
        <p:grpSp>
          <p:nvGrpSpPr>
            <p:cNvPr name="Group 4" id="4"/>
            <p:cNvGrpSpPr/>
            <p:nvPr/>
          </p:nvGrpSpPr>
          <p:grpSpPr>
            <a:xfrm rot="0">
              <a:off x="41307" y="797015"/>
              <a:ext cx="5144267" cy="3936731"/>
              <a:chOff x="0" y="0"/>
              <a:chExt cx="785629" cy="601215"/>
            </a:xfrm>
          </p:grpSpPr>
          <p:sp>
            <p:nvSpPr>
              <p:cNvPr name="Freeform 5" id="5"/>
              <p:cNvSpPr/>
              <p:nvPr/>
            </p:nvSpPr>
            <p:spPr>
              <a:xfrm flipH="false" flipV="false" rot="0">
                <a:off x="0" y="0"/>
                <a:ext cx="785629" cy="601215"/>
              </a:xfrm>
              <a:custGeom>
                <a:avLst/>
                <a:gdLst/>
                <a:ahLst/>
                <a:cxnLst/>
                <a:rect r="r" b="b" t="t" l="l"/>
                <a:pathLst>
                  <a:path h="601215" w="785629">
                    <a:moveTo>
                      <a:pt x="60198" y="0"/>
                    </a:moveTo>
                    <a:lnTo>
                      <a:pt x="725430" y="0"/>
                    </a:lnTo>
                    <a:cubicBezTo>
                      <a:pt x="741396" y="0"/>
                      <a:pt x="756708" y="6342"/>
                      <a:pt x="767997" y="17632"/>
                    </a:cubicBezTo>
                    <a:cubicBezTo>
                      <a:pt x="779286" y="28921"/>
                      <a:pt x="785629" y="44233"/>
                      <a:pt x="785629" y="60198"/>
                    </a:cubicBezTo>
                    <a:lnTo>
                      <a:pt x="785629" y="541016"/>
                    </a:lnTo>
                    <a:cubicBezTo>
                      <a:pt x="785629" y="556982"/>
                      <a:pt x="779286" y="572294"/>
                      <a:pt x="767997" y="583583"/>
                    </a:cubicBezTo>
                    <a:cubicBezTo>
                      <a:pt x="756708" y="594872"/>
                      <a:pt x="741396" y="601215"/>
                      <a:pt x="725430" y="601215"/>
                    </a:cubicBezTo>
                    <a:lnTo>
                      <a:pt x="60198" y="601215"/>
                    </a:lnTo>
                    <a:cubicBezTo>
                      <a:pt x="44233" y="601215"/>
                      <a:pt x="28921" y="594872"/>
                      <a:pt x="17632" y="583583"/>
                    </a:cubicBezTo>
                    <a:cubicBezTo>
                      <a:pt x="6342" y="572294"/>
                      <a:pt x="0" y="556982"/>
                      <a:pt x="0" y="541016"/>
                    </a:cubicBezTo>
                    <a:lnTo>
                      <a:pt x="0" y="60198"/>
                    </a:lnTo>
                    <a:cubicBezTo>
                      <a:pt x="0" y="44233"/>
                      <a:pt x="6342" y="28921"/>
                      <a:pt x="17632" y="17632"/>
                    </a:cubicBezTo>
                    <a:cubicBezTo>
                      <a:pt x="28921" y="6342"/>
                      <a:pt x="44233" y="0"/>
                      <a:pt x="60198" y="0"/>
                    </a:cubicBezTo>
                    <a:close/>
                  </a:path>
                </a:pathLst>
              </a:custGeom>
              <a:solidFill>
                <a:srgbClr val="000000">
                  <a:alpha val="0"/>
                </a:srgbClr>
              </a:solidFill>
              <a:ln w="76200" cap="rnd">
                <a:solidFill>
                  <a:srgbClr val="416BD0"/>
                </a:solidFill>
                <a:prstDash val="solid"/>
                <a:round/>
              </a:ln>
            </p:spPr>
          </p:sp>
          <p:sp>
            <p:nvSpPr>
              <p:cNvPr name="TextBox 6" id="6"/>
              <p:cNvSpPr txBox="true"/>
              <p:nvPr/>
            </p:nvSpPr>
            <p:spPr>
              <a:xfrm>
                <a:off x="0" y="-28575"/>
                <a:ext cx="785629" cy="629790"/>
              </a:xfrm>
              <a:prstGeom prst="rect">
                <a:avLst/>
              </a:prstGeom>
            </p:spPr>
            <p:txBody>
              <a:bodyPr anchor="ctr" rtlCol="false" tIns="50800" lIns="50800" bIns="50800" rIns="50800"/>
              <a:lstStyle/>
              <a:p>
                <a:pPr algn="ctr">
                  <a:lnSpc>
                    <a:spcPts val="2514"/>
                  </a:lnSpc>
                </a:pPr>
              </a:p>
            </p:txBody>
          </p:sp>
        </p:grpSp>
        <p:sp>
          <p:nvSpPr>
            <p:cNvPr name="TextBox 7" id="7"/>
            <p:cNvSpPr txBox="true"/>
            <p:nvPr/>
          </p:nvSpPr>
          <p:spPr>
            <a:xfrm rot="0">
              <a:off x="0" y="1034232"/>
              <a:ext cx="5276090" cy="3485813"/>
            </a:xfrm>
            <a:prstGeom prst="rect">
              <a:avLst/>
            </a:prstGeom>
          </p:spPr>
          <p:txBody>
            <a:bodyPr anchor="t" rtlCol="false" tIns="0" lIns="0" bIns="0" rIns="0">
              <a:spAutoFit/>
            </a:bodyPr>
            <a:lstStyle/>
            <a:p>
              <a:pPr algn="l" marL="539749" indent="-269875" lvl="1">
                <a:lnSpc>
                  <a:spcPts val="2999"/>
                </a:lnSpc>
                <a:buFont typeface="Arial"/>
                <a:buChar char="•"/>
              </a:pPr>
              <a:r>
                <a:rPr lang="en-US" sz="2499">
                  <a:solidFill>
                    <a:srgbClr val="03045A"/>
                  </a:solidFill>
                  <a:latin typeface="Poppins"/>
                  <a:ea typeface="Poppins"/>
                  <a:cs typeface="Poppins"/>
                  <a:sym typeface="Poppins"/>
                </a:rPr>
                <a:t>Logistic Regression</a:t>
              </a:r>
            </a:p>
            <a:p>
              <a:pPr algn="l" marL="539749" indent="-269875" lvl="1">
                <a:lnSpc>
                  <a:spcPts val="2999"/>
                </a:lnSpc>
                <a:buFont typeface="Arial"/>
                <a:buChar char="•"/>
              </a:pPr>
              <a:r>
                <a:rPr lang="en-US" sz="2499">
                  <a:solidFill>
                    <a:srgbClr val="03045A"/>
                  </a:solidFill>
                  <a:latin typeface="Poppins"/>
                  <a:ea typeface="Poppins"/>
                  <a:cs typeface="Poppins"/>
                  <a:sym typeface="Poppins"/>
                </a:rPr>
                <a:t>Decision Tree</a:t>
              </a:r>
            </a:p>
            <a:p>
              <a:pPr algn="l" marL="539749" indent="-269875" lvl="1">
                <a:lnSpc>
                  <a:spcPts val="2999"/>
                </a:lnSpc>
                <a:buFont typeface="Arial"/>
                <a:buChar char="•"/>
              </a:pPr>
              <a:r>
                <a:rPr lang="en-US" sz="2499">
                  <a:solidFill>
                    <a:srgbClr val="03045A"/>
                  </a:solidFill>
                  <a:latin typeface="Poppins"/>
                  <a:ea typeface="Poppins"/>
                  <a:cs typeface="Poppins"/>
                  <a:sym typeface="Poppins"/>
                </a:rPr>
                <a:t>Random Forest</a:t>
              </a:r>
            </a:p>
            <a:p>
              <a:pPr algn="l" marL="539749" indent="-269875" lvl="1">
                <a:lnSpc>
                  <a:spcPts val="2999"/>
                </a:lnSpc>
                <a:buFont typeface="Arial"/>
                <a:buChar char="•"/>
              </a:pPr>
              <a:r>
                <a:rPr lang="en-US" sz="2499">
                  <a:solidFill>
                    <a:srgbClr val="03045A"/>
                  </a:solidFill>
                  <a:latin typeface="Poppins"/>
                  <a:ea typeface="Poppins"/>
                  <a:cs typeface="Poppins"/>
                  <a:sym typeface="Poppins"/>
                </a:rPr>
                <a:t>Support Vector Machine (SVM)</a:t>
              </a:r>
            </a:p>
            <a:p>
              <a:pPr algn="l" marL="539749" indent="-269875" lvl="1">
                <a:lnSpc>
                  <a:spcPts val="2999"/>
                </a:lnSpc>
                <a:buFont typeface="Arial"/>
                <a:buChar char="•"/>
              </a:pPr>
              <a:r>
                <a:rPr lang="en-US" sz="2499">
                  <a:solidFill>
                    <a:srgbClr val="03045A"/>
                  </a:solidFill>
                  <a:latin typeface="Poppins"/>
                  <a:ea typeface="Poppins"/>
                  <a:cs typeface="Poppins"/>
                  <a:sym typeface="Poppins"/>
                </a:rPr>
                <a:t>K-Nearest Neighbor (K-NN)</a:t>
              </a:r>
            </a:p>
          </p:txBody>
        </p:sp>
        <p:sp>
          <p:nvSpPr>
            <p:cNvPr name="TextBox 8" id="8"/>
            <p:cNvSpPr txBox="true"/>
            <p:nvPr/>
          </p:nvSpPr>
          <p:spPr>
            <a:xfrm rot="0">
              <a:off x="775465" y="-66675"/>
              <a:ext cx="3725160" cy="566256"/>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Model Building</a:t>
              </a:r>
            </a:p>
          </p:txBody>
        </p:sp>
      </p:grpSp>
      <p:grpSp>
        <p:nvGrpSpPr>
          <p:cNvPr name="Group 9" id="9"/>
          <p:cNvGrpSpPr/>
          <p:nvPr/>
        </p:nvGrpSpPr>
        <p:grpSpPr>
          <a:xfrm rot="0">
            <a:off x="783375" y="5779682"/>
            <a:ext cx="3966593" cy="3712882"/>
            <a:chOff x="0" y="0"/>
            <a:chExt cx="5288790" cy="4950509"/>
          </a:xfrm>
        </p:grpSpPr>
        <p:sp>
          <p:nvSpPr>
            <p:cNvPr name="Freeform 10" id="10"/>
            <p:cNvSpPr/>
            <p:nvPr/>
          </p:nvSpPr>
          <p:spPr>
            <a:xfrm flipH="false" flipV="false" rot="0">
              <a:off x="12700" y="4271441"/>
              <a:ext cx="5276090" cy="679069"/>
            </a:xfrm>
            <a:custGeom>
              <a:avLst/>
              <a:gdLst/>
              <a:ahLst/>
              <a:cxnLst/>
              <a:rect r="r" b="b" t="t" l="l"/>
              <a:pathLst>
                <a:path h="679069" w="5276090">
                  <a:moveTo>
                    <a:pt x="0" y="0"/>
                  </a:moveTo>
                  <a:lnTo>
                    <a:pt x="5276090" y="0"/>
                  </a:lnTo>
                  <a:lnTo>
                    <a:pt x="5276090" y="679068"/>
                  </a:lnTo>
                  <a:lnTo>
                    <a:pt x="0" y="679068"/>
                  </a:lnTo>
                  <a:lnTo>
                    <a:pt x="0" y="0"/>
                  </a:lnTo>
                  <a:close/>
                </a:path>
              </a:pathLst>
            </a:custGeom>
            <a:blipFill>
              <a:blip r:embed="rId2">
                <a:alphaModFix amt="71000"/>
              </a:blip>
              <a:stretch>
                <a:fillRect l="0" t="-13127" r="0" b="-13127"/>
              </a:stretch>
            </a:blipFill>
          </p:spPr>
        </p:sp>
        <p:grpSp>
          <p:nvGrpSpPr>
            <p:cNvPr name="Group 11" id="11"/>
            <p:cNvGrpSpPr/>
            <p:nvPr/>
          </p:nvGrpSpPr>
          <p:grpSpPr>
            <a:xfrm rot="0">
              <a:off x="0" y="744518"/>
              <a:ext cx="5244356" cy="3565023"/>
              <a:chOff x="0" y="0"/>
              <a:chExt cx="800914" cy="544448"/>
            </a:xfrm>
          </p:grpSpPr>
          <p:sp>
            <p:nvSpPr>
              <p:cNvPr name="Freeform 12" id="12"/>
              <p:cNvSpPr/>
              <p:nvPr/>
            </p:nvSpPr>
            <p:spPr>
              <a:xfrm flipH="false" flipV="false" rot="0">
                <a:off x="0" y="0"/>
                <a:ext cx="800914" cy="544448"/>
              </a:xfrm>
              <a:custGeom>
                <a:avLst/>
                <a:gdLst/>
                <a:ahLst/>
                <a:cxnLst/>
                <a:rect r="r" b="b" t="t" l="l"/>
                <a:pathLst>
                  <a:path h="544448" w="800914">
                    <a:moveTo>
                      <a:pt x="59050" y="0"/>
                    </a:moveTo>
                    <a:lnTo>
                      <a:pt x="741865" y="0"/>
                    </a:lnTo>
                    <a:cubicBezTo>
                      <a:pt x="757526" y="0"/>
                      <a:pt x="772545" y="6221"/>
                      <a:pt x="783619" y="17295"/>
                    </a:cubicBezTo>
                    <a:cubicBezTo>
                      <a:pt x="794693" y="28369"/>
                      <a:pt x="800914" y="43389"/>
                      <a:pt x="800914" y="59050"/>
                    </a:cubicBezTo>
                    <a:lnTo>
                      <a:pt x="800914" y="485398"/>
                    </a:lnTo>
                    <a:cubicBezTo>
                      <a:pt x="800914" y="518010"/>
                      <a:pt x="774477" y="544448"/>
                      <a:pt x="741865" y="544448"/>
                    </a:cubicBezTo>
                    <a:lnTo>
                      <a:pt x="59050" y="544448"/>
                    </a:lnTo>
                    <a:cubicBezTo>
                      <a:pt x="43389" y="544448"/>
                      <a:pt x="28369" y="538226"/>
                      <a:pt x="17295" y="527153"/>
                    </a:cubicBezTo>
                    <a:cubicBezTo>
                      <a:pt x="6221" y="516079"/>
                      <a:pt x="0" y="501059"/>
                      <a:pt x="0" y="485398"/>
                    </a:cubicBezTo>
                    <a:lnTo>
                      <a:pt x="0" y="59050"/>
                    </a:lnTo>
                    <a:cubicBezTo>
                      <a:pt x="0" y="43389"/>
                      <a:pt x="6221" y="28369"/>
                      <a:pt x="17295" y="17295"/>
                    </a:cubicBezTo>
                    <a:cubicBezTo>
                      <a:pt x="28369" y="6221"/>
                      <a:pt x="43389" y="0"/>
                      <a:pt x="59050" y="0"/>
                    </a:cubicBezTo>
                    <a:close/>
                  </a:path>
                </a:pathLst>
              </a:custGeom>
              <a:solidFill>
                <a:srgbClr val="000000">
                  <a:alpha val="0"/>
                </a:srgbClr>
              </a:solidFill>
              <a:ln w="76200" cap="rnd">
                <a:solidFill>
                  <a:srgbClr val="416BD0"/>
                </a:solidFill>
                <a:prstDash val="solid"/>
                <a:round/>
              </a:ln>
            </p:spPr>
          </p:sp>
          <p:sp>
            <p:nvSpPr>
              <p:cNvPr name="TextBox 13" id="13"/>
              <p:cNvSpPr txBox="true"/>
              <p:nvPr/>
            </p:nvSpPr>
            <p:spPr>
              <a:xfrm>
                <a:off x="0" y="-28575"/>
                <a:ext cx="800914" cy="573023"/>
              </a:xfrm>
              <a:prstGeom prst="rect">
                <a:avLst/>
              </a:prstGeom>
            </p:spPr>
            <p:txBody>
              <a:bodyPr anchor="ctr" rtlCol="false" tIns="50800" lIns="50800" bIns="50800" rIns="50800"/>
              <a:lstStyle/>
              <a:p>
                <a:pPr algn="ctr">
                  <a:lnSpc>
                    <a:spcPts val="2514"/>
                  </a:lnSpc>
                </a:pPr>
              </a:p>
            </p:txBody>
          </p:sp>
        </p:grpSp>
        <p:sp>
          <p:nvSpPr>
            <p:cNvPr name="TextBox 14" id="14"/>
            <p:cNvSpPr txBox="true"/>
            <p:nvPr/>
          </p:nvSpPr>
          <p:spPr>
            <a:xfrm rot="0">
              <a:off x="302249" y="1269850"/>
              <a:ext cx="4696993" cy="2495309"/>
            </a:xfrm>
            <a:prstGeom prst="rect">
              <a:avLst/>
            </a:prstGeom>
          </p:spPr>
          <p:txBody>
            <a:bodyPr anchor="t" rtlCol="false" tIns="0" lIns="0" bIns="0" rIns="0">
              <a:spAutoFit/>
            </a:bodyPr>
            <a:lstStyle/>
            <a:p>
              <a:pPr algn="l" marL="539749" indent="-269875" lvl="1">
                <a:lnSpc>
                  <a:spcPts val="2999"/>
                </a:lnSpc>
                <a:buFont typeface="Arial"/>
                <a:buChar char="•"/>
              </a:pPr>
              <a:r>
                <a:rPr lang="en-US" sz="2499">
                  <a:solidFill>
                    <a:srgbClr val="03045A"/>
                  </a:solidFill>
                  <a:latin typeface="Poppins"/>
                  <a:ea typeface="Poppins"/>
                  <a:cs typeface="Poppins"/>
                  <a:sym typeface="Poppins"/>
                </a:rPr>
                <a:t>Soft Voting Classifier</a:t>
              </a:r>
            </a:p>
            <a:p>
              <a:pPr algn="l" marL="539749" indent="-269875" lvl="1">
                <a:lnSpc>
                  <a:spcPts val="2999"/>
                </a:lnSpc>
                <a:buFont typeface="Arial"/>
                <a:buChar char="•"/>
              </a:pPr>
              <a:r>
                <a:rPr lang="en-US" sz="2499">
                  <a:solidFill>
                    <a:srgbClr val="03045A"/>
                  </a:solidFill>
                  <a:latin typeface="Poppins"/>
                  <a:ea typeface="Poppins"/>
                  <a:cs typeface="Poppins"/>
                  <a:sym typeface="Poppins"/>
                </a:rPr>
                <a:t>Hard Voting Classifier</a:t>
              </a:r>
            </a:p>
            <a:p>
              <a:pPr algn="l" marL="539749" indent="-269875" lvl="1">
                <a:lnSpc>
                  <a:spcPts val="2999"/>
                </a:lnSpc>
                <a:buFont typeface="Arial"/>
                <a:buChar char="•"/>
              </a:pPr>
              <a:r>
                <a:rPr lang="en-US" sz="2499">
                  <a:solidFill>
                    <a:srgbClr val="03045A"/>
                  </a:solidFill>
                  <a:latin typeface="Poppins"/>
                  <a:ea typeface="Poppins"/>
                  <a:cs typeface="Poppins"/>
                  <a:sym typeface="Poppins"/>
                </a:rPr>
                <a:t>Stacking Classifier</a:t>
              </a:r>
            </a:p>
          </p:txBody>
        </p:sp>
        <p:sp>
          <p:nvSpPr>
            <p:cNvPr name="TextBox 15" id="15"/>
            <p:cNvSpPr txBox="true"/>
            <p:nvPr/>
          </p:nvSpPr>
          <p:spPr>
            <a:xfrm rot="0">
              <a:off x="134238" y="-66675"/>
              <a:ext cx="5007614" cy="566256"/>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Ensemble Learning</a:t>
              </a:r>
            </a:p>
          </p:txBody>
        </p:sp>
      </p:grpSp>
      <p:sp>
        <p:nvSpPr>
          <p:cNvPr name="Freeform 16" id="16"/>
          <p:cNvSpPr/>
          <p:nvPr/>
        </p:nvSpPr>
        <p:spPr>
          <a:xfrm flipH="false" flipV="false" rot="0">
            <a:off x="14716480" y="-780586"/>
            <a:ext cx="4842941" cy="11848173"/>
          </a:xfrm>
          <a:custGeom>
            <a:avLst/>
            <a:gdLst/>
            <a:ahLst/>
            <a:cxnLst/>
            <a:rect r="r" b="b" t="t" l="l"/>
            <a:pathLst>
              <a:path h="11848173" w="4842941">
                <a:moveTo>
                  <a:pt x="0" y="0"/>
                </a:moveTo>
                <a:lnTo>
                  <a:pt x="4842941" y="0"/>
                </a:lnTo>
                <a:lnTo>
                  <a:pt x="4842941" y="11848172"/>
                </a:lnTo>
                <a:lnTo>
                  <a:pt x="0" y="118481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false" rot="0">
            <a:off x="14146657" y="4159908"/>
            <a:ext cx="1139647" cy="343849"/>
          </a:xfrm>
          <a:custGeom>
            <a:avLst/>
            <a:gdLst/>
            <a:ahLst/>
            <a:cxnLst/>
            <a:rect r="r" b="b" t="t" l="l"/>
            <a:pathLst>
              <a:path h="343849" w="1139647">
                <a:moveTo>
                  <a:pt x="1139646" y="0"/>
                </a:moveTo>
                <a:lnTo>
                  <a:pt x="0" y="0"/>
                </a:lnTo>
                <a:lnTo>
                  <a:pt x="0" y="343848"/>
                </a:lnTo>
                <a:lnTo>
                  <a:pt x="1139646" y="343848"/>
                </a:lnTo>
                <a:lnTo>
                  <a:pt x="1139646" y="0"/>
                </a:lnTo>
                <a:close/>
              </a:path>
            </a:pathLst>
          </a:custGeom>
          <a:blipFill>
            <a:blip r:embed="rId5">
              <a:extLst>
                <a:ext uri="{96DAC541-7B7A-43D3-8B79-37D633B846F1}">
                  <asvg:svgBlip xmlns:asvg="http://schemas.microsoft.com/office/drawing/2016/SVG/main" r:embed="rId6"/>
                </a:ext>
              </a:extLst>
            </a:blip>
            <a:stretch>
              <a:fillRect l="0" t="0" r="-104552" b="0"/>
            </a:stretch>
          </a:blipFill>
        </p:spPr>
      </p:sp>
      <p:grpSp>
        <p:nvGrpSpPr>
          <p:cNvPr name="Group 18" id="18"/>
          <p:cNvGrpSpPr/>
          <p:nvPr/>
        </p:nvGrpSpPr>
        <p:grpSpPr>
          <a:xfrm rot="0">
            <a:off x="13932337" y="467009"/>
            <a:ext cx="3326963" cy="3335465"/>
            <a:chOff x="0" y="0"/>
            <a:chExt cx="4435951" cy="4447287"/>
          </a:xfrm>
        </p:grpSpPr>
        <p:sp>
          <p:nvSpPr>
            <p:cNvPr name="Freeform 19" id="19"/>
            <p:cNvSpPr/>
            <p:nvPr/>
          </p:nvSpPr>
          <p:spPr>
            <a:xfrm flipH="false" flipV="false" rot="0">
              <a:off x="115834" y="3768219"/>
              <a:ext cx="4178884" cy="679069"/>
            </a:xfrm>
            <a:custGeom>
              <a:avLst/>
              <a:gdLst/>
              <a:ahLst/>
              <a:cxnLst/>
              <a:rect r="r" b="b" t="t" l="l"/>
              <a:pathLst>
                <a:path h="679069" w="4178884">
                  <a:moveTo>
                    <a:pt x="0" y="0"/>
                  </a:moveTo>
                  <a:lnTo>
                    <a:pt x="4178884" y="0"/>
                  </a:lnTo>
                  <a:lnTo>
                    <a:pt x="4178884" y="679068"/>
                  </a:lnTo>
                  <a:lnTo>
                    <a:pt x="0" y="679068"/>
                  </a:lnTo>
                  <a:lnTo>
                    <a:pt x="0" y="0"/>
                  </a:lnTo>
                  <a:close/>
                </a:path>
              </a:pathLst>
            </a:custGeom>
            <a:blipFill>
              <a:blip r:embed="rId2">
                <a:alphaModFix amt="71000"/>
              </a:blip>
              <a:stretch>
                <a:fillRect l="0" t="0" r="0" b="0"/>
              </a:stretch>
            </a:blipFill>
          </p:spPr>
        </p:sp>
        <p:grpSp>
          <p:nvGrpSpPr>
            <p:cNvPr name="Group 20" id="20"/>
            <p:cNvGrpSpPr/>
            <p:nvPr/>
          </p:nvGrpSpPr>
          <p:grpSpPr>
            <a:xfrm rot="0">
              <a:off x="0" y="0"/>
              <a:ext cx="4435951" cy="3810612"/>
              <a:chOff x="0" y="0"/>
              <a:chExt cx="677455" cy="581954"/>
            </a:xfrm>
          </p:grpSpPr>
          <p:sp>
            <p:nvSpPr>
              <p:cNvPr name="Freeform 21" id="21"/>
              <p:cNvSpPr/>
              <p:nvPr/>
            </p:nvSpPr>
            <p:spPr>
              <a:xfrm flipH="false" flipV="false" rot="0">
                <a:off x="0" y="0"/>
                <a:ext cx="677455" cy="581954"/>
              </a:xfrm>
              <a:custGeom>
                <a:avLst/>
                <a:gdLst/>
                <a:ahLst/>
                <a:cxnLst/>
                <a:rect r="r" b="b" t="t" l="l"/>
                <a:pathLst>
                  <a:path h="581954" w="677455">
                    <a:moveTo>
                      <a:pt x="69811" y="0"/>
                    </a:moveTo>
                    <a:lnTo>
                      <a:pt x="607645" y="0"/>
                    </a:lnTo>
                    <a:cubicBezTo>
                      <a:pt x="646200" y="0"/>
                      <a:pt x="677455" y="31255"/>
                      <a:pt x="677455" y="69811"/>
                    </a:cubicBezTo>
                    <a:lnTo>
                      <a:pt x="677455" y="512143"/>
                    </a:lnTo>
                    <a:cubicBezTo>
                      <a:pt x="677455" y="530658"/>
                      <a:pt x="670100" y="548415"/>
                      <a:pt x="657008" y="561507"/>
                    </a:cubicBezTo>
                    <a:cubicBezTo>
                      <a:pt x="643916" y="574599"/>
                      <a:pt x="626160" y="581954"/>
                      <a:pt x="607645" y="581954"/>
                    </a:cubicBezTo>
                    <a:lnTo>
                      <a:pt x="69811" y="581954"/>
                    </a:lnTo>
                    <a:cubicBezTo>
                      <a:pt x="51296" y="581954"/>
                      <a:pt x="33539" y="574599"/>
                      <a:pt x="20447" y="561507"/>
                    </a:cubicBezTo>
                    <a:cubicBezTo>
                      <a:pt x="7355" y="548415"/>
                      <a:pt x="0" y="530658"/>
                      <a:pt x="0" y="512143"/>
                    </a:cubicBezTo>
                    <a:lnTo>
                      <a:pt x="0" y="69811"/>
                    </a:lnTo>
                    <a:cubicBezTo>
                      <a:pt x="0" y="51296"/>
                      <a:pt x="7355" y="33539"/>
                      <a:pt x="20447" y="20447"/>
                    </a:cubicBezTo>
                    <a:cubicBezTo>
                      <a:pt x="33539" y="7355"/>
                      <a:pt x="51296" y="0"/>
                      <a:pt x="69811" y="0"/>
                    </a:cubicBezTo>
                    <a:close/>
                  </a:path>
                </a:pathLst>
              </a:custGeom>
              <a:solidFill>
                <a:srgbClr val="416BD0"/>
              </a:solidFill>
            </p:spPr>
          </p:sp>
          <p:sp>
            <p:nvSpPr>
              <p:cNvPr name="TextBox 22" id="22"/>
              <p:cNvSpPr txBox="true"/>
              <p:nvPr/>
            </p:nvSpPr>
            <p:spPr>
              <a:xfrm>
                <a:off x="0" y="-28575"/>
                <a:ext cx="677455" cy="610529"/>
              </a:xfrm>
              <a:prstGeom prst="rect">
                <a:avLst/>
              </a:prstGeom>
            </p:spPr>
            <p:txBody>
              <a:bodyPr anchor="ctr" rtlCol="false" tIns="50800" lIns="50800" bIns="50800" rIns="50800"/>
              <a:lstStyle/>
              <a:p>
                <a:pPr algn="ctr">
                  <a:lnSpc>
                    <a:spcPts val="2514"/>
                  </a:lnSpc>
                </a:pPr>
              </a:p>
            </p:txBody>
          </p:sp>
        </p:grpSp>
        <p:sp>
          <p:nvSpPr>
            <p:cNvPr name="TextBox 23" id="23"/>
            <p:cNvSpPr txBox="true"/>
            <p:nvPr/>
          </p:nvSpPr>
          <p:spPr>
            <a:xfrm rot="0">
              <a:off x="215982" y="743256"/>
              <a:ext cx="4003988" cy="2495309"/>
            </a:xfrm>
            <a:prstGeom prst="rect">
              <a:avLst/>
            </a:prstGeom>
          </p:spPr>
          <p:txBody>
            <a:bodyPr anchor="t" rtlCol="false" tIns="0" lIns="0" bIns="0" rIns="0">
              <a:spAutoFit/>
            </a:bodyPr>
            <a:lstStyle/>
            <a:p>
              <a:pPr algn="ctr">
                <a:lnSpc>
                  <a:spcPts val="2999"/>
                </a:lnSpc>
              </a:pPr>
              <a:r>
                <a:rPr lang="en-US" sz="2499">
                  <a:solidFill>
                    <a:srgbClr val="FCFCFB"/>
                  </a:solidFill>
                  <a:latin typeface="Poppins"/>
                  <a:ea typeface="Poppins"/>
                  <a:cs typeface="Poppins"/>
                  <a:sym typeface="Poppins"/>
                </a:rPr>
                <a:t>The data is input into the system for analysis using the </a:t>
              </a:r>
              <a:r>
                <a:rPr lang="en-US" sz="2499">
                  <a:solidFill>
                    <a:srgbClr val="FCFCFB"/>
                  </a:solidFill>
                  <a:latin typeface="Poppins"/>
                  <a:ea typeface="Poppins"/>
                  <a:cs typeface="Poppins"/>
                  <a:sym typeface="Poppins"/>
                </a:rPr>
                <a:t>machine learning</a:t>
              </a:r>
              <a:r>
                <a:rPr lang="en-US" sz="2499">
                  <a:solidFill>
                    <a:srgbClr val="FCFCFB"/>
                  </a:solidFill>
                  <a:latin typeface="Poppins"/>
                  <a:ea typeface="Poppins"/>
                  <a:cs typeface="Poppins"/>
                  <a:sym typeface="Poppins"/>
                </a:rPr>
                <a:t> model.</a:t>
              </a:r>
            </a:p>
          </p:txBody>
        </p:sp>
      </p:grpSp>
      <p:graphicFrame>
        <p:nvGraphicFramePr>
          <p:cNvPr name="Table 24" id="24"/>
          <p:cNvGraphicFramePr>
            <a:graphicFrameLocks noGrp="true"/>
          </p:cNvGraphicFramePr>
          <p:nvPr/>
        </p:nvGraphicFramePr>
        <p:xfrm>
          <a:off x="7221665" y="1775759"/>
          <a:ext cx="6131386" cy="6076950"/>
        </p:xfrm>
        <a:graphic>
          <a:graphicData uri="http://schemas.openxmlformats.org/drawingml/2006/table">
            <a:tbl>
              <a:tblPr/>
              <a:tblGrid>
                <a:gridCol w="3222331"/>
                <a:gridCol w="2909056"/>
              </a:tblGrid>
              <a:tr h="1194790">
                <a:tc>
                  <a:txBody>
                    <a:bodyPr anchor="t" rtlCol="false"/>
                    <a:lstStyle/>
                    <a:p>
                      <a:pPr algn="ctr">
                        <a:lnSpc>
                          <a:spcPts val="2800"/>
                        </a:lnSpc>
                        <a:defRPr/>
                      </a:pPr>
                      <a:r>
                        <a:rPr lang="en-US" sz="2000" b="true">
                          <a:solidFill>
                            <a:srgbClr val="FFFFFF"/>
                          </a:solidFill>
                          <a:latin typeface="Open Sauce Bold"/>
                          <a:ea typeface="Open Sauce Bold"/>
                          <a:cs typeface="Open Sauce Bold"/>
                          <a:sym typeface="Open Sauce Bold"/>
                        </a:rPr>
                        <a:t>Model</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3045A"/>
                    </a:solidFill>
                  </a:tcPr>
                </a:tc>
                <a:tc>
                  <a:txBody>
                    <a:bodyPr anchor="t" rtlCol="false"/>
                    <a:lstStyle/>
                    <a:p>
                      <a:pPr algn="ctr">
                        <a:lnSpc>
                          <a:spcPts val="2800"/>
                        </a:lnSpc>
                        <a:defRPr/>
                      </a:pPr>
                      <a:r>
                        <a:rPr lang="en-US" sz="2000" b="true">
                          <a:solidFill>
                            <a:srgbClr val="FFFFFF"/>
                          </a:solidFill>
                          <a:latin typeface="Open Sauce Bold"/>
                          <a:ea typeface="Open Sauce Bold"/>
                          <a:cs typeface="Open Sauce Bold"/>
                          <a:sym typeface="Open Sauce Bold"/>
                        </a:rPr>
                        <a:t>Accuracy Cross-Validation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3045A"/>
                    </a:solidFill>
                  </a:tcPr>
                </a:tc>
              </a:tr>
              <a:tr h="813693">
                <a:tc>
                  <a:txBody>
                    <a:bodyPr anchor="t" rtlCol="false"/>
                    <a:lstStyle/>
                    <a:p>
                      <a:pPr algn="ctr">
                        <a:lnSpc>
                          <a:spcPts val="2800"/>
                        </a:lnSpc>
                        <a:defRPr/>
                      </a:pPr>
                      <a:r>
                        <a:rPr lang="en-US" sz="2000">
                          <a:solidFill>
                            <a:srgbClr val="FFFFFF"/>
                          </a:solidFill>
                          <a:latin typeface="Open Sauce"/>
                          <a:ea typeface="Open Sauce"/>
                          <a:cs typeface="Open Sauce"/>
                          <a:sym typeface="Open Sauce"/>
                        </a:rPr>
                        <a:t>SVM</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855BF"/>
                    </a:solidFill>
                  </a:tcPr>
                </a:tc>
                <a:tc>
                  <a:txBody>
                    <a:bodyPr anchor="t" rtlCol="false"/>
                    <a:lstStyle/>
                    <a:p>
                      <a:pPr algn="ctr">
                        <a:lnSpc>
                          <a:spcPts val="2800"/>
                        </a:lnSpc>
                        <a:defRPr/>
                      </a:pPr>
                      <a:r>
                        <a:rPr lang="en-US" sz="2000">
                          <a:solidFill>
                            <a:srgbClr val="FFFFFF"/>
                          </a:solidFill>
                          <a:latin typeface="Open Sauce"/>
                          <a:ea typeface="Open Sauce"/>
                          <a:cs typeface="Open Sauce"/>
                          <a:sym typeface="Open Sauce"/>
                        </a:rPr>
                        <a:t>0.8841</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416BD0"/>
                    </a:solidFill>
                  </a:tcPr>
                </a:tc>
              </a:tr>
              <a:tr h="813693">
                <a:tc>
                  <a:txBody>
                    <a:bodyPr anchor="t" rtlCol="false"/>
                    <a:lstStyle/>
                    <a:p>
                      <a:pPr algn="ctr">
                        <a:lnSpc>
                          <a:spcPts val="2800"/>
                        </a:lnSpc>
                        <a:defRPr/>
                      </a:pPr>
                      <a:r>
                        <a:rPr lang="en-US" sz="2000">
                          <a:solidFill>
                            <a:srgbClr val="FFFFFF"/>
                          </a:solidFill>
                          <a:latin typeface="Open Sauce"/>
                          <a:ea typeface="Open Sauce"/>
                          <a:cs typeface="Open Sauce"/>
                          <a:sym typeface="Open Sauce"/>
                        </a:rPr>
                        <a:t>Random Forest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855BF"/>
                    </a:solidFill>
                  </a:tcPr>
                </a:tc>
                <a:tc>
                  <a:txBody>
                    <a:bodyPr anchor="t" rtlCol="false"/>
                    <a:lstStyle/>
                    <a:p>
                      <a:pPr algn="ctr">
                        <a:lnSpc>
                          <a:spcPts val="2800"/>
                        </a:lnSpc>
                        <a:defRPr/>
                      </a:pPr>
                      <a:r>
                        <a:rPr lang="en-US" sz="2000">
                          <a:solidFill>
                            <a:srgbClr val="FFFFFF"/>
                          </a:solidFill>
                          <a:latin typeface="Open Sauce"/>
                          <a:ea typeface="Open Sauce"/>
                          <a:cs typeface="Open Sauce"/>
                          <a:sym typeface="Open Sauce"/>
                        </a:rPr>
                        <a:t>0.8768</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416BD0"/>
                    </a:solidFill>
                  </a:tcPr>
                </a:tc>
              </a:tr>
              <a:tr h="813693">
                <a:tc>
                  <a:txBody>
                    <a:bodyPr anchor="t" rtlCol="false"/>
                    <a:lstStyle/>
                    <a:p>
                      <a:pPr algn="ctr">
                        <a:lnSpc>
                          <a:spcPts val="2800"/>
                        </a:lnSpc>
                        <a:defRPr/>
                      </a:pPr>
                      <a:r>
                        <a:rPr lang="en-US" sz="2000">
                          <a:solidFill>
                            <a:srgbClr val="FFFFFF"/>
                          </a:solidFill>
                          <a:latin typeface="Open Sauce"/>
                          <a:ea typeface="Open Sauce"/>
                          <a:cs typeface="Open Sauce"/>
                          <a:sym typeface="Open Sauce"/>
                        </a:rPr>
                        <a:t>Logistic Regression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855BF"/>
                    </a:solidFill>
                  </a:tcPr>
                </a:tc>
                <a:tc>
                  <a:txBody>
                    <a:bodyPr anchor="t" rtlCol="false"/>
                    <a:lstStyle/>
                    <a:p>
                      <a:pPr algn="ctr">
                        <a:lnSpc>
                          <a:spcPts val="2800"/>
                        </a:lnSpc>
                        <a:defRPr/>
                      </a:pPr>
                      <a:r>
                        <a:rPr lang="en-US" sz="2000">
                          <a:solidFill>
                            <a:srgbClr val="FFFFFF"/>
                          </a:solidFill>
                          <a:latin typeface="Open Sauce"/>
                          <a:ea typeface="Open Sauce"/>
                          <a:cs typeface="Open Sauce"/>
                          <a:sym typeface="Open Sauce"/>
                        </a:rPr>
                        <a:t>0.8549</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416BD0"/>
                    </a:solidFill>
                  </a:tcPr>
                </a:tc>
              </a:tr>
              <a:tr h="813693">
                <a:tc>
                  <a:txBody>
                    <a:bodyPr anchor="t" rtlCol="false"/>
                    <a:lstStyle/>
                    <a:p>
                      <a:pPr algn="ctr">
                        <a:lnSpc>
                          <a:spcPts val="2800"/>
                        </a:lnSpc>
                        <a:defRPr/>
                      </a:pPr>
                      <a:r>
                        <a:rPr lang="en-US" sz="2000" b="true">
                          <a:solidFill>
                            <a:srgbClr val="FFFFFF"/>
                          </a:solidFill>
                          <a:latin typeface="Open Sauce Bold"/>
                          <a:ea typeface="Open Sauce Bold"/>
                          <a:cs typeface="Open Sauce Bold"/>
                          <a:sym typeface="Open Sauce Bold"/>
                        </a:rPr>
                        <a:t>Soft Voting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3045A"/>
                    </a:solidFill>
                  </a:tcPr>
                </a:tc>
                <a:tc>
                  <a:txBody>
                    <a:bodyPr anchor="t" rtlCol="false"/>
                    <a:lstStyle/>
                    <a:p>
                      <a:pPr algn="ctr">
                        <a:lnSpc>
                          <a:spcPts val="2800"/>
                        </a:lnSpc>
                        <a:defRPr/>
                      </a:pPr>
                      <a:r>
                        <a:rPr lang="en-US" sz="2000" b="true">
                          <a:solidFill>
                            <a:srgbClr val="FFFFFF"/>
                          </a:solidFill>
                          <a:latin typeface="Open Sauce Bold"/>
                          <a:ea typeface="Open Sauce Bold"/>
                          <a:cs typeface="Open Sauce Bold"/>
                          <a:sym typeface="Open Sauce Bold"/>
                        </a:rPr>
                        <a:t>0.8878</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03045A"/>
                    </a:solidFill>
                  </a:tcPr>
                </a:tc>
              </a:tr>
              <a:tr h="813693">
                <a:tc>
                  <a:txBody>
                    <a:bodyPr anchor="t" rtlCol="false"/>
                    <a:lstStyle/>
                    <a:p>
                      <a:pPr algn="ctr">
                        <a:lnSpc>
                          <a:spcPts val="2800"/>
                        </a:lnSpc>
                        <a:defRPr/>
                      </a:pPr>
                      <a:r>
                        <a:rPr lang="en-US" sz="2000">
                          <a:solidFill>
                            <a:srgbClr val="FFFFFF"/>
                          </a:solidFill>
                          <a:latin typeface="Open Sauce"/>
                          <a:ea typeface="Open Sauce"/>
                          <a:cs typeface="Open Sauce"/>
                          <a:sym typeface="Open Sauce"/>
                        </a:rPr>
                        <a:t>Hard Voting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855BF"/>
                    </a:solidFill>
                  </a:tcPr>
                </a:tc>
                <a:tc>
                  <a:txBody>
                    <a:bodyPr anchor="t" rtlCol="false"/>
                    <a:lstStyle/>
                    <a:p>
                      <a:pPr algn="ctr">
                        <a:lnSpc>
                          <a:spcPts val="2800"/>
                        </a:lnSpc>
                        <a:defRPr/>
                      </a:pPr>
                      <a:r>
                        <a:rPr lang="en-US" sz="2000">
                          <a:solidFill>
                            <a:srgbClr val="FFFFFF"/>
                          </a:solidFill>
                          <a:latin typeface="Open Sauce"/>
                          <a:ea typeface="Open Sauce"/>
                          <a:cs typeface="Open Sauce"/>
                          <a:sym typeface="Open Sauce"/>
                        </a:rPr>
                        <a:t>0.8829</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416BD0"/>
                    </a:solidFill>
                  </a:tcPr>
                </a:tc>
              </a:tr>
              <a:tr h="813693">
                <a:tc>
                  <a:txBody>
                    <a:bodyPr anchor="t" rtlCol="false"/>
                    <a:lstStyle/>
                    <a:p>
                      <a:pPr algn="ctr">
                        <a:lnSpc>
                          <a:spcPts val="2800"/>
                        </a:lnSpc>
                        <a:defRPr/>
                      </a:pPr>
                      <a:r>
                        <a:rPr lang="en-US" sz="2000">
                          <a:solidFill>
                            <a:srgbClr val="FFFFFF"/>
                          </a:solidFill>
                          <a:latin typeface="Open Sauce"/>
                          <a:ea typeface="Open Sauce"/>
                          <a:cs typeface="Open Sauce"/>
                          <a:sym typeface="Open Sauce"/>
                        </a:rPr>
                        <a:t>Stacking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2855BF"/>
                    </a:solidFill>
                  </a:tcPr>
                </a:tc>
                <a:tc>
                  <a:txBody>
                    <a:bodyPr anchor="t" rtlCol="false"/>
                    <a:lstStyle/>
                    <a:p>
                      <a:pPr algn="ctr">
                        <a:lnSpc>
                          <a:spcPts val="2800"/>
                        </a:lnSpc>
                        <a:defRPr/>
                      </a:pPr>
                      <a:r>
                        <a:rPr lang="en-US" sz="2000">
                          <a:solidFill>
                            <a:srgbClr val="FFFFFF"/>
                          </a:solidFill>
                          <a:latin typeface="Open Sauce"/>
                          <a:ea typeface="Open Sauce"/>
                          <a:cs typeface="Open Sauce"/>
                          <a:sym typeface="Open Sauce"/>
                        </a:rPr>
                        <a:t>0.8854</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416BD0"/>
                    </a:solidFill>
                  </a:tcPr>
                </a:tc>
              </a:tr>
            </a:tbl>
          </a:graphicData>
        </a:graphic>
      </p:graphicFrame>
      <p:sp>
        <p:nvSpPr>
          <p:cNvPr name="Freeform 25" id="25"/>
          <p:cNvSpPr/>
          <p:nvPr/>
        </p:nvSpPr>
        <p:spPr>
          <a:xfrm flipH="false" flipV="true" rot="5075190">
            <a:off x="11455051" y="6706926"/>
            <a:ext cx="2598582" cy="808809"/>
          </a:xfrm>
          <a:custGeom>
            <a:avLst/>
            <a:gdLst/>
            <a:ahLst/>
            <a:cxnLst/>
            <a:rect r="r" b="b" t="t" l="l"/>
            <a:pathLst>
              <a:path h="808809" w="2598582">
                <a:moveTo>
                  <a:pt x="0" y="808809"/>
                </a:moveTo>
                <a:lnTo>
                  <a:pt x="2598582" y="808809"/>
                </a:lnTo>
                <a:lnTo>
                  <a:pt x="2598582" y="0"/>
                </a:lnTo>
                <a:lnTo>
                  <a:pt x="0" y="0"/>
                </a:lnTo>
                <a:lnTo>
                  <a:pt x="0" y="808809"/>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6" id="26"/>
          <p:cNvSpPr txBox="true"/>
          <p:nvPr/>
        </p:nvSpPr>
        <p:spPr>
          <a:xfrm rot="0">
            <a:off x="7474919" y="8406660"/>
            <a:ext cx="5624877" cy="1085904"/>
          </a:xfrm>
          <a:prstGeom prst="rect">
            <a:avLst/>
          </a:prstGeom>
        </p:spPr>
        <p:txBody>
          <a:bodyPr anchor="t" rtlCol="false" tIns="0" lIns="0" bIns="0" rIns="0">
            <a:spAutoFit/>
          </a:bodyPr>
          <a:lstStyle/>
          <a:p>
            <a:pPr algn="ctr">
              <a:lnSpc>
                <a:spcPts val="2879"/>
              </a:lnSpc>
            </a:pPr>
            <a:r>
              <a:rPr lang="en-US" sz="2400">
                <a:solidFill>
                  <a:srgbClr val="03045A"/>
                </a:solidFill>
                <a:latin typeface="Open Sauce"/>
                <a:ea typeface="Open Sauce"/>
                <a:cs typeface="Open Sauce"/>
                <a:sym typeface="Open Sauce"/>
              </a:rPr>
              <a:t>So, the best model to use in prediction is the </a:t>
            </a:r>
            <a:r>
              <a:rPr lang="en-US" sz="2400" b="true">
                <a:solidFill>
                  <a:srgbClr val="03045A"/>
                </a:solidFill>
                <a:latin typeface="Open Sauce Bold"/>
                <a:ea typeface="Open Sauce Bold"/>
                <a:cs typeface="Open Sauce Bold"/>
                <a:sym typeface="Open Sauce Bold"/>
              </a:rPr>
              <a:t>soft voting</a:t>
            </a:r>
            <a:r>
              <a:rPr lang="en-US" sz="2400">
                <a:solidFill>
                  <a:srgbClr val="03045A"/>
                </a:solidFill>
                <a:latin typeface="Open Sauce"/>
                <a:ea typeface="Open Sauce"/>
                <a:cs typeface="Open Sauce"/>
                <a:sym typeface="Open Sauce"/>
              </a:rPr>
              <a:t> ensemble model.</a:t>
            </a:r>
          </a:p>
        </p:txBody>
      </p:sp>
      <p:grpSp>
        <p:nvGrpSpPr>
          <p:cNvPr name="Group 27" id="27"/>
          <p:cNvGrpSpPr/>
          <p:nvPr/>
        </p:nvGrpSpPr>
        <p:grpSpPr>
          <a:xfrm rot="0">
            <a:off x="4716357" y="3445965"/>
            <a:ext cx="2180957" cy="4204446"/>
            <a:chOff x="0" y="0"/>
            <a:chExt cx="2907942" cy="5605928"/>
          </a:xfrm>
        </p:grpSpPr>
        <p:sp>
          <p:nvSpPr>
            <p:cNvPr name="AutoShape 28" id="28"/>
            <p:cNvSpPr/>
            <p:nvPr/>
          </p:nvSpPr>
          <p:spPr>
            <a:xfrm>
              <a:off x="843" y="5521984"/>
              <a:ext cx="1609977" cy="14095"/>
            </a:xfrm>
            <a:prstGeom prst="line">
              <a:avLst/>
            </a:prstGeom>
            <a:ln cap="flat" w="139700">
              <a:solidFill>
                <a:srgbClr val="416BD0"/>
              </a:solidFill>
              <a:prstDash val="solid"/>
              <a:headEnd type="none" len="sm" w="sm"/>
              <a:tailEnd type="none" len="sm" w="sm"/>
            </a:ln>
          </p:spPr>
        </p:sp>
        <p:sp>
          <p:nvSpPr>
            <p:cNvPr name="AutoShape 29" id="29"/>
            <p:cNvSpPr/>
            <p:nvPr/>
          </p:nvSpPr>
          <p:spPr>
            <a:xfrm>
              <a:off x="611" y="69847"/>
              <a:ext cx="1609977" cy="14095"/>
            </a:xfrm>
            <a:prstGeom prst="line">
              <a:avLst/>
            </a:prstGeom>
            <a:ln cap="flat" w="139700">
              <a:solidFill>
                <a:srgbClr val="416BD0"/>
              </a:solidFill>
              <a:prstDash val="solid"/>
              <a:headEnd type="none" len="sm" w="sm"/>
              <a:tailEnd type="none" len="sm" w="sm"/>
            </a:ln>
          </p:spPr>
        </p:sp>
        <p:sp>
          <p:nvSpPr>
            <p:cNvPr name="AutoShape 30" id="30"/>
            <p:cNvSpPr/>
            <p:nvPr/>
          </p:nvSpPr>
          <p:spPr>
            <a:xfrm flipV="true">
              <a:off x="1610821" y="12698"/>
              <a:ext cx="0" cy="5593229"/>
            </a:xfrm>
            <a:prstGeom prst="line">
              <a:avLst/>
            </a:prstGeom>
            <a:ln cap="flat" w="88900">
              <a:solidFill>
                <a:srgbClr val="416BD0"/>
              </a:solidFill>
              <a:prstDash val="solid"/>
              <a:headEnd type="none" len="sm" w="sm"/>
              <a:tailEnd type="none" len="sm" w="sm"/>
            </a:ln>
          </p:spPr>
        </p:sp>
        <p:sp>
          <p:nvSpPr>
            <p:cNvPr name="AutoShape 31" id="31"/>
            <p:cNvSpPr/>
            <p:nvPr/>
          </p:nvSpPr>
          <p:spPr>
            <a:xfrm>
              <a:off x="1610589" y="2483058"/>
              <a:ext cx="1297354" cy="0"/>
            </a:xfrm>
            <a:prstGeom prst="line">
              <a:avLst/>
            </a:prstGeom>
            <a:ln cap="flat" w="139700">
              <a:solidFill>
                <a:srgbClr val="416BD0"/>
              </a:solidFill>
              <a:prstDash val="solid"/>
              <a:headEnd type="none" len="sm" w="sm"/>
              <a:tailEnd type="arrow" len="sm" w="med"/>
            </a:ln>
          </p:spPr>
        </p:sp>
      </p:grpSp>
      <p:sp>
        <p:nvSpPr>
          <p:cNvPr name="Freeform 32" id="32"/>
          <p:cNvSpPr/>
          <p:nvPr/>
        </p:nvSpPr>
        <p:spPr>
          <a:xfrm flipH="true" flipV="false" rot="0">
            <a:off x="-762612" y="-589294"/>
            <a:ext cx="14042134" cy="1228687"/>
          </a:xfrm>
          <a:custGeom>
            <a:avLst/>
            <a:gdLst/>
            <a:ahLst/>
            <a:cxnLst/>
            <a:rect r="r" b="b" t="t" l="l"/>
            <a:pathLst>
              <a:path h="1228687" w="14042134">
                <a:moveTo>
                  <a:pt x="14042133" y="0"/>
                </a:moveTo>
                <a:lnTo>
                  <a:pt x="0" y="0"/>
                </a:lnTo>
                <a:lnTo>
                  <a:pt x="0" y="1228687"/>
                </a:lnTo>
                <a:lnTo>
                  <a:pt x="14042133" y="1228687"/>
                </a:lnTo>
                <a:lnTo>
                  <a:pt x="14042133"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3" id="33"/>
          <p:cNvSpPr/>
          <p:nvPr/>
        </p:nvSpPr>
        <p:spPr>
          <a:xfrm flipH="true" flipV="false" rot="0">
            <a:off x="5688631" y="9086376"/>
            <a:ext cx="1139647" cy="343849"/>
          </a:xfrm>
          <a:custGeom>
            <a:avLst/>
            <a:gdLst/>
            <a:ahLst/>
            <a:cxnLst/>
            <a:rect r="r" b="b" t="t" l="l"/>
            <a:pathLst>
              <a:path h="343849" w="1139647">
                <a:moveTo>
                  <a:pt x="1139647" y="0"/>
                </a:moveTo>
                <a:lnTo>
                  <a:pt x="0" y="0"/>
                </a:lnTo>
                <a:lnTo>
                  <a:pt x="0" y="343848"/>
                </a:lnTo>
                <a:lnTo>
                  <a:pt x="1139647" y="343848"/>
                </a:lnTo>
                <a:lnTo>
                  <a:pt x="1139647" y="0"/>
                </a:lnTo>
                <a:close/>
              </a:path>
            </a:pathLst>
          </a:custGeom>
          <a:blipFill>
            <a:blip r:embed="rId5">
              <a:extLst>
                <a:ext uri="{96DAC541-7B7A-43D3-8B79-37D633B846F1}">
                  <asvg:svgBlip xmlns:asvg="http://schemas.microsoft.com/office/drawing/2016/SVG/main" r:embed="rId6"/>
                </a:ext>
              </a:extLst>
            </a:blip>
            <a:stretch>
              <a:fillRect l="0" t="0" r="-104552" b="0"/>
            </a:stretch>
          </a:blipFill>
        </p:spPr>
      </p:sp>
    </p:spTree>
  </p:cSld>
  <p:clrMapOvr>
    <a:masterClrMapping/>
  </p:clrMapOvr>
  <p:transition spd="slow">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65455" y="8653516"/>
            <a:ext cx="4418993" cy="718086"/>
          </a:xfrm>
          <a:custGeom>
            <a:avLst/>
            <a:gdLst/>
            <a:ahLst/>
            <a:cxnLst/>
            <a:rect r="r" b="b" t="t" l="l"/>
            <a:pathLst>
              <a:path h="718086" w="4418993">
                <a:moveTo>
                  <a:pt x="0" y="0"/>
                </a:moveTo>
                <a:lnTo>
                  <a:pt x="4418993" y="0"/>
                </a:lnTo>
                <a:lnTo>
                  <a:pt x="4418993" y="718086"/>
                </a:lnTo>
                <a:lnTo>
                  <a:pt x="0" y="718086"/>
                </a:lnTo>
                <a:lnTo>
                  <a:pt x="0" y="0"/>
                </a:lnTo>
                <a:close/>
              </a:path>
            </a:pathLst>
          </a:custGeom>
          <a:blipFill>
            <a:blip r:embed="rId2">
              <a:alphaModFix amt="71000"/>
            </a:blip>
            <a:stretch>
              <a:fillRect l="0" t="0" r="0" b="0"/>
            </a:stretch>
          </a:blipFill>
        </p:spPr>
      </p:sp>
      <p:sp>
        <p:nvSpPr>
          <p:cNvPr name="Freeform 3" id="3"/>
          <p:cNvSpPr/>
          <p:nvPr/>
        </p:nvSpPr>
        <p:spPr>
          <a:xfrm flipH="false" flipV="false" rot="0">
            <a:off x="12619476" y="8666851"/>
            <a:ext cx="4418993" cy="718086"/>
          </a:xfrm>
          <a:custGeom>
            <a:avLst/>
            <a:gdLst/>
            <a:ahLst/>
            <a:cxnLst/>
            <a:rect r="r" b="b" t="t" l="l"/>
            <a:pathLst>
              <a:path h="718086" w="4418993">
                <a:moveTo>
                  <a:pt x="0" y="0"/>
                </a:moveTo>
                <a:lnTo>
                  <a:pt x="4418993" y="0"/>
                </a:lnTo>
                <a:lnTo>
                  <a:pt x="4418993" y="718086"/>
                </a:lnTo>
                <a:lnTo>
                  <a:pt x="0" y="718086"/>
                </a:lnTo>
                <a:lnTo>
                  <a:pt x="0" y="0"/>
                </a:lnTo>
                <a:close/>
              </a:path>
            </a:pathLst>
          </a:custGeom>
          <a:blipFill>
            <a:blip r:embed="rId2">
              <a:alphaModFix amt="71000"/>
            </a:blip>
            <a:stretch>
              <a:fillRect l="0" t="0" r="0" b="0"/>
            </a:stretch>
          </a:blipFill>
        </p:spPr>
      </p:sp>
      <p:sp>
        <p:nvSpPr>
          <p:cNvPr name="Freeform 4" id="4"/>
          <p:cNvSpPr/>
          <p:nvPr/>
        </p:nvSpPr>
        <p:spPr>
          <a:xfrm flipH="true" flipV="false" rot="0">
            <a:off x="9373672" y="8975858"/>
            <a:ext cx="11202433" cy="1649928"/>
          </a:xfrm>
          <a:custGeom>
            <a:avLst/>
            <a:gdLst/>
            <a:ahLst/>
            <a:cxnLst/>
            <a:rect r="r" b="b" t="t" l="l"/>
            <a:pathLst>
              <a:path h="1649928" w="11202433">
                <a:moveTo>
                  <a:pt x="11202433" y="0"/>
                </a:moveTo>
                <a:lnTo>
                  <a:pt x="0" y="0"/>
                </a:lnTo>
                <a:lnTo>
                  <a:pt x="0" y="1649928"/>
                </a:lnTo>
                <a:lnTo>
                  <a:pt x="11202433" y="1649928"/>
                </a:lnTo>
                <a:lnTo>
                  <a:pt x="11202433" y="0"/>
                </a:lnTo>
                <a:close/>
              </a:path>
            </a:pathLst>
          </a:custGeom>
          <a:blipFill>
            <a:blip r:embed="rId3">
              <a:extLst>
                <a:ext uri="{96DAC541-7B7A-43D3-8B79-37D633B846F1}">
                  <asvg:svgBlip xmlns:asvg="http://schemas.microsoft.com/office/drawing/2016/SVG/main" r:embed="rId4"/>
                </a:ext>
              </a:extLst>
            </a:blip>
            <a:stretch>
              <a:fillRect l="0" t="0" r="-32389" b="0"/>
            </a:stretch>
          </a:blipFill>
        </p:spPr>
      </p:sp>
      <p:sp>
        <p:nvSpPr>
          <p:cNvPr name="Freeform 5" id="5"/>
          <p:cNvSpPr/>
          <p:nvPr/>
        </p:nvSpPr>
        <p:spPr>
          <a:xfrm flipH="true" flipV="false" rot="0">
            <a:off x="5554395" y="8928233"/>
            <a:ext cx="4380391" cy="2064230"/>
          </a:xfrm>
          <a:custGeom>
            <a:avLst/>
            <a:gdLst/>
            <a:ahLst/>
            <a:cxnLst/>
            <a:rect r="r" b="b" t="t" l="l"/>
            <a:pathLst>
              <a:path h="2064230" w="4380391">
                <a:moveTo>
                  <a:pt x="4380391" y="0"/>
                </a:moveTo>
                <a:lnTo>
                  <a:pt x="0" y="0"/>
                </a:lnTo>
                <a:lnTo>
                  <a:pt x="0" y="2064230"/>
                </a:lnTo>
                <a:lnTo>
                  <a:pt x="4380391" y="2064230"/>
                </a:lnTo>
                <a:lnTo>
                  <a:pt x="4380391" y="0"/>
                </a:lnTo>
                <a:close/>
              </a:path>
            </a:pathLst>
          </a:custGeom>
          <a:blipFill>
            <a:blip r:embed="rId5">
              <a:extLst>
                <a:ext uri="{96DAC541-7B7A-43D3-8B79-37D633B846F1}">
                  <asvg:svgBlip xmlns:asvg="http://schemas.microsoft.com/office/drawing/2016/SVG/main" r:embed="rId6"/>
                </a:ext>
              </a:extLst>
            </a:blip>
            <a:stretch>
              <a:fillRect l="-323589" t="0" r="0" b="0"/>
            </a:stretch>
          </a:blipFill>
        </p:spPr>
      </p:sp>
      <p:sp>
        <p:nvSpPr>
          <p:cNvPr name="Freeform 6" id="6"/>
          <p:cNvSpPr/>
          <p:nvPr/>
        </p:nvSpPr>
        <p:spPr>
          <a:xfrm flipH="true" flipV="false" rot="0">
            <a:off x="-1512046" y="8768707"/>
            <a:ext cx="4380391" cy="2064230"/>
          </a:xfrm>
          <a:custGeom>
            <a:avLst/>
            <a:gdLst/>
            <a:ahLst/>
            <a:cxnLst/>
            <a:rect r="r" b="b" t="t" l="l"/>
            <a:pathLst>
              <a:path h="2064230" w="4380391">
                <a:moveTo>
                  <a:pt x="4380391" y="0"/>
                </a:moveTo>
                <a:lnTo>
                  <a:pt x="0" y="0"/>
                </a:lnTo>
                <a:lnTo>
                  <a:pt x="0" y="2064230"/>
                </a:lnTo>
                <a:lnTo>
                  <a:pt x="4380391" y="2064230"/>
                </a:lnTo>
                <a:lnTo>
                  <a:pt x="4380391" y="0"/>
                </a:lnTo>
                <a:close/>
              </a:path>
            </a:pathLst>
          </a:custGeom>
          <a:blipFill>
            <a:blip r:embed="rId7">
              <a:extLst>
                <a:ext uri="{96DAC541-7B7A-43D3-8B79-37D633B846F1}">
                  <asvg:svgBlip xmlns:asvg="http://schemas.microsoft.com/office/drawing/2016/SVG/main" r:embed="rId8"/>
                </a:ext>
              </a:extLst>
            </a:blip>
            <a:stretch>
              <a:fillRect l="-323589" t="0" r="0" b="0"/>
            </a:stretch>
          </a:blipFill>
        </p:spPr>
      </p:sp>
      <p:sp>
        <p:nvSpPr>
          <p:cNvPr name="Freeform 7" id="7"/>
          <p:cNvSpPr/>
          <p:nvPr/>
        </p:nvSpPr>
        <p:spPr>
          <a:xfrm flipH="true" flipV="false" rot="0">
            <a:off x="458877" y="2667602"/>
            <a:ext cx="1139647" cy="343849"/>
          </a:xfrm>
          <a:custGeom>
            <a:avLst/>
            <a:gdLst/>
            <a:ahLst/>
            <a:cxnLst/>
            <a:rect r="r" b="b" t="t" l="l"/>
            <a:pathLst>
              <a:path h="343849" w="1139647">
                <a:moveTo>
                  <a:pt x="1139646" y="0"/>
                </a:moveTo>
                <a:lnTo>
                  <a:pt x="0" y="0"/>
                </a:lnTo>
                <a:lnTo>
                  <a:pt x="0" y="343849"/>
                </a:lnTo>
                <a:lnTo>
                  <a:pt x="1139646" y="343849"/>
                </a:lnTo>
                <a:lnTo>
                  <a:pt x="1139646" y="0"/>
                </a:lnTo>
                <a:close/>
              </a:path>
            </a:pathLst>
          </a:custGeom>
          <a:blipFill>
            <a:blip r:embed="rId9">
              <a:extLst>
                <a:ext uri="{96DAC541-7B7A-43D3-8B79-37D633B846F1}">
                  <asvg:svgBlip xmlns:asvg="http://schemas.microsoft.com/office/drawing/2016/SVG/main" r:embed="rId10"/>
                </a:ext>
              </a:extLst>
            </a:blip>
            <a:stretch>
              <a:fillRect l="0" t="0" r="-104552" b="0"/>
            </a:stretch>
          </a:blipFill>
        </p:spPr>
      </p:sp>
      <p:sp>
        <p:nvSpPr>
          <p:cNvPr name="Freeform 8" id="8"/>
          <p:cNvSpPr/>
          <p:nvPr/>
        </p:nvSpPr>
        <p:spPr>
          <a:xfrm flipH="false" flipV="false" rot="0">
            <a:off x="3699977" y="514269"/>
            <a:ext cx="8635308" cy="1403238"/>
          </a:xfrm>
          <a:custGeom>
            <a:avLst/>
            <a:gdLst/>
            <a:ahLst/>
            <a:cxnLst/>
            <a:rect r="r" b="b" t="t" l="l"/>
            <a:pathLst>
              <a:path h="1403238" w="8635308">
                <a:moveTo>
                  <a:pt x="0" y="0"/>
                </a:moveTo>
                <a:lnTo>
                  <a:pt x="8635308" y="0"/>
                </a:lnTo>
                <a:lnTo>
                  <a:pt x="8635308" y="1403237"/>
                </a:lnTo>
                <a:lnTo>
                  <a:pt x="0" y="1403237"/>
                </a:lnTo>
                <a:lnTo>
                  <a:pt x="0" y="0"/>
                </a:lnTo>
                <a:close/>
              </a:path>
            </a:pathLst>
          </a:custGeom>
          <a:blipFill>
            <a:blip r:embed="rId2">
              <a:alphaModFix amt="82000"/>
            </a:blip>
            <a:stretch>
              <a:fillRect l="0" t="0" r="0" b="0"/>
            </a:stretch>
          </a:blipFill>
        </p:spPr>
      </p:sp>
      <p:pic>
        <p:nvPicPr>
          <p:cNvPr name="Picture 9" id="9">
            <a:hlinkClick action="ppaction://media"/>
          </p:cNvPr>
          <p:cNvPicPr>
            <a:picLocks noChangeAspect="true"/>
          </p:cNvPicPr>
          <p:nvPr>
            <a:videoFile r:link="rId12"/>
            <p:extLst>
              <p:ext uri="{DAA4B4D4-6D71-4841-9C94-3DE7FCFB9230}">
                <p14:media xmlns:p14="http://schemas.microsoft.com/office/powerpoint/2010/main" r:embed="rId13"/>
              </p:ext>
            </p:extLst>
          </p:nvPr>
        </p:nvPicPr>
        <p:blipFill>
          <a:blip r:embed="rId11"/>
          <a:srcRect l="0" t="0" r="0" b="0"/>
          <a:stretch>
            <a:fillRect/>
          </a:stretch>
        </p:blipFill>
        <p:spPr>
          <a:xfrm flipH="false" flipV="false" rot="0">
            <a:off x="4931047" y="1028700"/>
            <a:ext cx="12654301" cy="8229600"/>
          </a:xfrm>
          <a:prstGeom prst="rect">
            <a:avLst/>
          </a:prstGeom>
        </p:spPr>
      </p:pic>
      <p:sp>
        <p:nvSpPr>
          <p:cNvPr name="TextBox 10" id="10"/>
          <p:cNvSpPr txBox="true"/>
          <p:nvPr/>
        </p:nvSpPr>
        <p:spPr>
          <a:xfrm rot="0">
            <a:off x="563849" y="1480787"/>
            <a:ext cx="5315084" cy="1091565"/>
          </a:xfrm>
          <a:prstGeom prst="rect">
            <a:avLst/>
          </a:prstGeom>
        </p:spPr>
        <p:txBody>
          <a:bodyPr anchor="t" rtlCol="false" tIns="0" lIns="0" bIns="0" rIns="0">
            <a:spAutoFit/>
          </a:bodyPr>
          <a:lstStyle/>
          <a:p>
            <a:pPr algn="l">
              <a:lnSpc>
                <a:spcPts val="7830"/>
              </a:lnSpc>
            </a:pPr>
            <a:r>
              <a:rPr lang="en-US" sz="9000" spc="-297" b="true">
                <a:solidFill>
                  <a:srgbClr val="2855BF"/>
                </a:solidFill>
                <a:latin typeface="Open Sauce Bold"/>
                <a:ea typeface="Open Sauce Bold"/>
                <a:cs typeface="Open Sauce Bold"/>
                <a:sym typeface="Open Sauce Bold"/>
              </a:rPr>
              <a:t>Output</a:t>
            </a:r>
          </a:p>
        </p:txBody>
      </p:sp>
      <p:sp>
        <p:nvSpPr>
          <p:cNvPr name="Freeform 11" id="11"/>
          <p:cNvSpPr/>
          <p:nvPr/>
        </p:nvSpPr>
        <p:spPr>
          <a:xfrm flipH="true" flipV="false" rot="0">
            <a:off x="-762612" y="-589294"/>
            <a:ext cx="14042134" cy="1228687"/>
          </a:xfrm>
          <a:custGeom>
            <a:avLst/>
            <a:gdLst/>
            <a:ahLst/>
            <a:cxnLst/>
            <a:rect r="r" b="b" t="t" l="l"/>
            <a:pathLst>
              <a:path h="1228687" w="14042134">
                <a:moveTo>
                  <a:pt x="14042133" y="0"/>
                </a:moveTo>
                <a:lnTo>
                  <a:pt x="0" y="0"/>
                </a:lnTo>
                <a:lnTo>
                  <a:pt x="0" y="1228687"/>
                </a:lnTo>
                <a:lnTo>
                  <a:pt x="14042133" y="1228687"/>
                </a:lnTo>
                <a:lnTo>
                  <a:pt x="14042133"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678149" y="3163851"/>
            <a:ext cx="3193777" cy="441325"/>
          </a:xfrm>
          <a:prstGeom prst="rect">
            <a:avLst/>
          </a:prstGeom>
        </p:spPr>
        <p:txBody>
          <a:bodyPr anchor="t" rtlCol="false" tIns="0" lIns="0" bIns="0" rIns="0">
            <a:spAutoFit/>
          </a:bodyPr>
          <a:lstStyle/>
          <a:p>
            <a:pPr algn="l">
              <a:lnSpc>
                <a:spcPts val="3499"/>
              </a:lnSpc>
            </a:pPr>
            <a:r>
              <a:rPr lang="en-US" sz="2499" u="sng">
                <a:solidFill>
                  <a:srgbClr val="2855BF"/>
                </a:solidFill>
                <a:latin typeface="Poppins"/>
                <a:ea typeface="Poppins"/>
                <a:cs typeface="Poppins"/>
                <a:sym typeface="Poppins"/>
                <a:hlinkClick r:id="rId16" tooltip="http://10.73.14.192:8501"/>
              </a:rPr>
              <a:t>Prediksa Dahsboard</a:t>
            </a:r>
          </a:p>
        </p:txBody>
      </p:sp>
    </p:spTree>
  </p:cSld>
  <p:clrMapOvr>
    <a:masterClrMapping/>
  </p:clrMapOvr>
  <p:transition spd="fast">
    <p:fade/>
  </p:transition>
  <p:timing>
    <p:tnLst>
      <p:par>
        <p:cTn dur="indefinite" restart="never" nodeType="tmRoot">
          <p:childTnLst>
            <p:video>
              <p:cMediaNode vol="100000">
                <p:cTn fill="hold" display="false">
                  <p:stCondLst>
                    <p:cond delay="indefinite"/>
                  </p:stCondLst>
                </p:cTn>
                <p:tgtEl>
                  <p:spTgt spid="9"/>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8633" y="9756235"/>
            <a:ext cx="19825265" cy="1734711"/>
          </a:xfrm>
          <a:custGeom>
            <a:avLst/>
            <a:gdLst/>
            <a:ahLst/>
            <a:cxnLst/>
            <a:rect r="r" b="b" t="t" l="l"/>
            <a:pathLst>
              <a:path h="1734711" w="19825265">
                <a:moveTo>
                  <a:pt x="0" y="0"/>
                </a:moveTo>
                <a:lnTo>
                  <a:pt x="19825266" y="0"/>
                </a:lnTo>
                <a:lnTo>
                  <a:pt x="19825266" y="1734711"/>
                </a:lnTo>
                <a:lnTo>
                  <a:pt x="0" y="17347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878947" y="-654235"/>
            <a:ext cx="14645475" cy="11595469"/>
            <a:chOff x="0" y="0"/>
            <a:chExt cx="1366813" cy="1082166"/>
          </a:xfrm>
        </p:grpSpPr>
        <p:sp>
          <p:nvSpPr>
            <p:cNvPr name="Freeform 4" id="4"/>
            <p:cNvSpPr/>
            <p:nvPr/>
          </p:nvSpPr>
          <p:spPr>
            <a:xfrm flipH="false" flipV="false" rot="0">
              <a:off x="0" y="0"/>
              <a:ext cx="1366813" cy="1082166"/>
            </a:xfrm>
            <a:custGeom>
              <a:avLst/>
              <a:gdLst/>
              <a:ahLst/>
              <a:cxnLst/>
              <a:rect r="r" b="b" t="t" l="l"/>
              <a:pathLst>
                <a:path h="1082166" w="1366813">
                  <a:moveTo>
                    <a:pt x="203200" y="0"/>
                  </a:moveTo>
                  <a:lnTo>
                    <a:pt x="1366813" y="0"/>
                  </a:lnTo>
                  <a:lnTo>
                    <a:pt x="1163613" y="1082166"/>
                  </a:lnTo>
                  <a:lnTo>
                    <a:pt x="0" y="1082166"/>
                  </a:lnTo>
                  <a:lnTo>
                    <a:pt x="203200" y="0"/>
                  </a:lnTo>
                  <a:close/>
                </a:path>
              </a:pathLst>
            </a:custGeom>
            <a:solidFill>
              <a:srgbClr val="2855BF"/>
            </a:solidFill>
          </p:spPr>
        </p:sp>
        <p:sp>
          <p:nvSpPr>
            <p:cNvPr name="TextBox 5" id="5"/>
            <p:cNvSpPr txBox="true"/>
            <p:nvPr/>
          </p:nvSpPr>
          <p:spPr>
            <a:xfrm>
              <a:off x="101600" y="-47625"/>
              <a:ext cx="1163613" cy="1129791"/>
            </a:xfrm>
            <a:prstGeom prst="rect">
              <a:avLst/>
            </a:prstGeom>
          </p:spPr>
          <p:txBody>
            <a:bodyPr anchor="ctr" rtlCol="false" tIns="50800" lIns="50800" bIns="50800" rIns="50800"/>
            <a:lstStyle/>
            <a:p>
              <a:pPr algn="ctr">
                <a:lnSpc>
                  <a:spcPts val="3303"/>
                </a:lnSpc>
              </a:pPr>
            </a:p>
          </p:txBody>
        </p:sp>
      </p:grpSp>
      <p:sp>
        <p:nvSpPr>
          <p:cNvPr name="TextBox 6" id="6"/>
          <p:cNvSpPr txBox="true"/>
          <p:nvPr/>
        </p:nvSpPr>
        <p:spPr>
          <a:xfrm rot="0">
            <a:off x="736281" y="3310917"/>
            <a:ext cx="7596275" cy="910209"/>
          </a:xfrm>
          <a:prstGeom prst="rect">
            <a:avLst/>
          </a:prstGeom>
        </p:spPr>
        <p:txBody>
          <a:bodyPr anchor="t" rtlCol="false" tIns="0" lIns="0" bIns="0" rIns="0">
            <a:spAutoFit/>
          </a:bodyPr>
          <a:lstStyle/>
          <a:p>
            <a:pPr algn="l">
              <a:lnSpc>
                <a:spcPts val="6516"/>
              </a:lnSpc>
            </a:pPr>
            <a:r>
              <a:rPr lang="en-US" sz="7489" spc="-247" b="true">
                <a:solidFill>
                  <a:srgbClr val="2855BF"/>
                </a:solidFill>
                <a:latin typeface="Open Sauce Bold"/>
                <a:ea typeface="Open Sauce Bold"/>
                <a:cs typeface="Open Sauce Bold"/>
                <a:sym typeface="Open Sauce Bold"/>
              </a:rPr>
              <a:t>Limitation</a:t>
            </a:r>
          </a:p>
        </p:txBody>
      </p:sp>
      <p:sp>
        <p:nvSpPr>
          <p:cNvPr name="Freeform 7" id="7"/>
          <p:cNvSpPr/>
          <p:nvPr/>
        </p:nvSpPr>
        <p:spPr>
          <a:xfrm flipH="false" flipV="false" rot="0">
            <a:off x="10127591" y="3906006"/>
            <a:ext cx="953564" cy="896031"/>
          </a:xfrm>
          <a:custGeom>
            <a:avLst/>
            <a:gdLst/>
            <a:ahLst/>
            <a:cxnLst/>
            <a:rect r="r" b="b" t="t" l="l"/>
            <a:pathLst>
              <a:path h="896031" w="953564">
                <a:moveTo>
                  <a:pt x="0" y="0"/>
                </a:moveTo>
                <a:lnTo>
                  <a:pt x="953564" y="0"/>
                </a:lnTo>
                <a:lnTo>
                  <a:pt x="953564" y="896031"/>
                </a:lnTo>
                <a:lnTo>
                  <a:pt x="0" y="896031"/>
                </a:lnTo>
                <a:lnTo>
                  <a:pt x="0" y="0"/>
                </a:lnTo>
                <a:close/>
              </a:path>
            </a:pathLst>
          </a:custGeom>
          <a:blipFill>
            <a:blip r:embed="rId4">
              <a:extLst>
                <a:ext uri="{96DAC541-7B7A-43D3-8B79-37D633B846F1}">
                  <asvg:svgBlip xmlns:asvg="http://schemas.microsoft.com/office/drawing/2016/SVG/main" r:embed="rId5"/>
                </a:ext>
              </a:extLst>
            </a:blip>
            <a:stretch>
              <a:fillRect l="-190806" t="-116698" r="-38684" b="-409457"/>
            </a:stretch>
          </a:blipFill>
        </p:spPr>
      </p:sp>
      <p:sp>
        <p:nvSpPr>
          <p:cNvPr name="Freeform 8" id="8"/>
          <p:cNvSpPr/>
          <p:nvPr/>
        </p:nvSpPr>
        <p:spPr>
          <a:xfrm flipH="false" flipV="false" rot="0">
            <a:off x="10341869" y="4087182"/>
            <a:ext cx="525008" cy="533680"/>
          </a:xfrm>
          <a:custGeom>
            <a:avLst/>
            <a:gdLst/>
            <a:ahLst/>
            <a:cxnLst/>
            <a:rect r="r" b="b" t="t" l="l"/>
            <a:pathLst>
              <a:path h="533680" w="525008">
                <a:moveTo>
                  <a:pt x="0" y="0"/>
                </a:moveTo>
                <a:lnTo>
                  <a:pt x="525008" y="0"/>
                </a:lnTo>
                <a:lnTo>
                  <a:pt x="525008" y="533680"/>
                </a:lnTo>
                <a:lnTo>
                  <a:pt x="0" y="533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127591" y="5445438"/>
            <a:ext cx="953564" cy="896031"/>
          </a:xfrm>
          <a:custGeom>
            <a:avLst/>
            <a:gdLst/>
            <a:ahLst/>
            <a:cxnLst/>
            <a:rect r="r" b="b" t="t" l="l"/>
            <a:pathLst>
              <a:path h="896031" w="953564">
                <a:moveTo>
                  <a:pt x="0" y="0"/>
                </a:moveTo>
                <a:lnTo>
                  <a:pt x="953564" y="0"/>
                </a:lnTo>
                <a:lnTo>
                  <a:pt x="953564" y="896030"/>
                </a:lnTo>
                <a:lnTo>
                  <a:pt x="0" y="896030"/>
                </a:lnTo>
                <a:lnTo>
                  <a:pt x="0" y="0"/>
                </a:lnTo>
                <a:close/>
              </a:path>
            </a:pathLst>
          </a:custGeom>
          <a:blipFill>
            <a:blip r:embed="rId4">
              <a:extLst>
                <a:ext uri="{96DAC541-7B7A-43D3-8B79-37D633B846F1}">
                  <asvg:svgBlip xmlns:asvg="http://schemas.microsoft.com/office/drawing/2016/SVG/main" r:embed="rId5"/>
                </a:ext>
              </a:extLst>
            </a:blip>
            <a:stretch>
              <a:fillRect l="-190806" t="-116698" r="-38684" b="-409457"/>
            </a:stretch>
          </a:blipFill>
        </p:spPr>
      </p:sp>
      <p:sp>
        <p:nvSpPr>
          <p:cNvPr name="Freeform 10" id="10"/>
          <p:cNvSpPr/>
          <p:nvPr/>
        </p:nvSpPr>
        <p:spPr>
          <a:xfrm flipH="false" flipV="false" rot="0">
            <a:off x="10341869" y="5496339"/>
            <a:ext cx="525008" cy="533680"/>
          </a:xfrm>
          <a:custGeom>
            <a:avLst/>
            <a:gdLst/>
            <a:ahLst/>
            <a:cxnLst/>
            <a:rect r="r" b="b" t="t" l="l"/>
            <a:pathLst>
              <a:path h="533680" w="525008">
                <a:moveTo>
                  <a:pt x="0" y="0"/>
                </a:moveTo>
                <a:lnTo>
                  <a:pt x="525008" y="0"/>
                </a:lnTo>
                <a:lnTo>
                  <a:pt x="525008" y="533680"/>
                </a:lnTo>
                <a:lnTo>
                  <a:pt x="0" y="533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127591" y="6830765"/>
            <a:ext cx="953564" cy="896031"/>
          </a:xfrm>
          <a:custGeom>
            <a:avLst/>
            <a:gdLst/>
            <a:ahLst/>
            <a:cxnLst/>
            <a:rect r="r" b="b" t="t" l="l"/>
            <a:pathLst>
              <a:path h="896031" w="953564">
                <a:moveTo>
                  <a:pt x="0" y="0"/>
                </a:moveTo>
                <a:lnTo>
                  <a:pt x="953564" y="0"/>
                </a:lnTo>
                <a:lnTo>
                  <a:pt x="953564" y="896031"/>
                </a:lnTo>
                <a:lnTo>
                  <a:pt x="0" y="896031"/>
                </a:lnTo>
                <a:lnTo>
                  <a:pt x="0" y="0"/>
                </a:lnTo>
                <a:close/>
              </a:path>
            </a:pathLst>
          </a:custGeom>
          <a:blipFill>
            <a:blip r:embed="rId4">
              <a:extLst>
                <a:ext uri="{96DAC541-7B7A-43D3-8B79-37D633B846F1}">
                  <asvg:svgBlip xmlns:asvg="http://schemas.microsoft.com/office/drawing/2016/SVG/main" r:embed="rId5"/>
                </a:ext>
              </a:extLst>
            </a:blip>
            <a:stretch>
              <a:fillRect l="-190806" t="-116698" r="-38684" b="-409457"/>
            </a:stretch>
          </a:blipFill>
        </p:spPr>
      </p:sp>
      <p:sp>
        <p:nvSpPr>
          <p:cNvPr name="Freeform 12" id="12"/>
          <p:cNvSpPr/>
          <p:nvPr/>
        </p:nvSpPr>
        <p:spPr>
          <a:xfrm flipH="false" flipV="false" rot="0">
            <a:off x="10341869" y="6781979"/>
            <a:ext cx="525008" cy="533680"/>
          </a:xfrm>
          <a:custGeom>
            <a:avLst/>
            <a:gdLst/>
            <a:ahLst/>
            <a:cxnLst/>
            <a:rect r="r" b="b" t="t" l="l"/>
            <a:pathLst>
              <a:path h="533680" w="525008">
                <a:moveTo>
                  <a:pt x="0" y="0"/>
                </a:moveTo>
                <a:lnTo>
                  <a:pt x="525008" y="0"/>
                </a:lnTo>
                <a:lnTo>
                  <a:pt x="525008" y="533680"/>
                </a:lnTo>
                <a:lnTo>
                  <a:pt x="0" y="533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458538" y="4757087"/>
            <a:ext cx="6046944" cy="307602"/>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Data limited to Kaggle (heart disease dataset).</a:t>
            </a:r>
          </a:p>
        </p:txBody>
      </p:sp>
      <p:sp>
        <p:nvSpPr>
          <p:cNvPr name="Freeform 14" id="14"/>
          <p:cNvSpPr/>
          <p:nvPr/>
        </p:nvSpPr>
        <p:spPr>
          <a:xfrm flipH="false" flipV="false" rot="0">
            <a:off x="788320" y="4676015"/>
            <a:ext cx="469745" cy="469745"/>
          </a:xfrm>
          <a:custGeom>
            <a:avLst/>
            <a:gdLst/>
            <a:ahLst/>
            <a:cxnLst/>
            <a:rect r="r" b="b" t="t" l="l"/>
            <a:pathLst>
              <a:path h="469745" w="469745">
                <a:moveTo>
                  <a:pt x="0" y="0"/>
                </a:moveTo>
                <a:lnTo>
                  <a:pt x="469745" y="0"/>
                </a:lnTo>
                <a:lnTo>
                  <a:pt x="469745" y="469745"/>
                </a:lnTo>
                <a:lnTo>
                  <a:pt x="0" y="4697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788320" y="5564509"/>
            <a:ext cx="469745" cy="469745"/>
          </a:xfrm>
          <a:custGeom>
            <a:avLst/>
            <a:gdLst/>
            <a:ahLst/>
            <a:cxnLst/>
            <a:rect r="r" b="b" t="t" l="l"/>
            <a:pathLst>
              <a:path h="469745" w="469745">
                <a:moveTo>
                  <a:pt x="0" y="0"/>
                </a:moveTo>
                <a:lnTo>
                  <a:pt x="469745" y="0"/>
                </a:lnTo>
                <a:lnTo>
                  <a:pt x="469745" y="469745"/>
                </a:lnTo>
                <a:lnTo>
                  <a:pt x="0" y="4697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788320" y="6514237"/>
            <a:ext cx="469745" cy="469745"/>
          </a:xfrm>
          <a:custGeom>
            <a:avLst/>
            <a:gdLst/>
            <a:ahLst/>
            <a:cxnLst/>
            <a:rect r="r" b="b" t="t" l="l"/>
            <a:pathLst>
              <a:path h="469745" w="469745">
                <a:moveTo>
                  <a:pt x="0" y="0"/>
                </a:moveTo>
                <a:lnTo>
                  <a:pt x="469745" y="0"/>
                </a:lnTo>
                <a:lnTo>
                  <a:pt x="469745" y="469745"/>
                </a:lnTo>
                <a:lnTo>
                  <a:pt x="0" y="4697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788320" y="7403082"/>
            <a:ext cx="469745" cy="469745"/>
          </a:xfrm>
          <a:custGeom>
            <a:avLst/>
            <a:gdLst/>
            <a:ahLst/>
            <a:cxnLst/>
            <a:rect r="r" b="b" t="t" l="l"/>
            <a:pathLst>
              <a:path h="469745" w="469745">
                <a:moveTo>
                  <a:pt x="0" y="0"/>
                </a:moveTo>
                <a:lnTo>
                  <a:pt x="469745" y="0"/>
                </a:lnTo>
                <a:lnTo>
                  <a:pt x="469745" y="469745"/>
                </a:lnTo>
                <a:lnTo>
                  <a:pt x="0" y="4697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788320" y="8234843"/>
            <a:ext cx="469745" cy="469745"/>
          </a:xfrm>
          <a:custGeom>
            <a:avLst/>
            <a:gdLst/>
            <a:ahLst/>
            <a:cxnLst/>
            <a:rect r="r" b="b" t="t" l="l"/>
            <a:pathLst>
              <a:path h="469745" w="469745">
                <a:moveTo>
                  <a:pt x="0" y="0"/>
                </a:moveTo>
                <a:lnTo>
                  <a:pt x="469745" y="0"/>
                </a:lnTo>
                <a:lnTo>
                  <a:pt x="469745" y="469746"/>
                </a:lnTo>
                <a:lnTo>
                  <a:pt x="0" y="4697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458538" y="5491812"/>
            <a:ext cx="5779857" cy="615204"/>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Observed features focus only on standard medical data.</a:t>
            </a:r>
          </a:p>
        </p:txBody>
      </p:sp>
      <p:sp>
        <p:nvSpPr>
          <p:cNvPr name="TextBox 20" id="20"/>
          <p:cNvSpPr txBox="true"/>
          <p:nvPr/>
        </p:nvSpPr>
        <p:spPr>
          <a:xfrm rot="0">
            <a:off x="1458538" y="6441540"/>
            <a:ext cx="5779857" cy="615139"/>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Geographic scope limited to 4 cities </a:t>
            </a:r>
          </a:p>
          <a:p>
            <a:pPr algn="just">
              <a:lnSpc>
                <a:spcPts val="2475"/>
              </a:lnSpc>
            </a:pPr>
            <a:r>
              <a:rPr lang="en-US" sz="2063">
                <a:solidFill>
                  <a:srgbClr val="03045A"/>
                </a:solidFill>
                <a:latin typeface="Open Sauce"/>
                <a:ea typeface="Open Sauce"/>
                <a:cs typeface="Open Sauce"/>
                <a:sym typeface="Open Sauce"/>
              </a:rPr>
              <a:t>(Cleveland, Hungaria, Swiss, Long Beach V)</a:t>
            </a:r>
          </a:p>
        </p:txBody>
      </p:sp>
      <p:sp>
        <p:nvSpPr>
          <p:cNvPr name="TextBox 21" id="21"/>
          <p:cNvSpPr txBox="true"/>
          <p:nvPr/>
        </p:nvSpPr>
        <p:spPr>
          <a:xfrm rot="0">
            <a:off x="1458538" y="7479259"/>
            <a:ext cx="5779857" cy="307602"/>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Observation period is outdated (1988).</a:t>
            </a:r>
          </a:p>
        </p:txBody>
      </p:sp>
      <p:sp>
        <p:nvSpPr>
          <p:cNvPr name="TextBox 22" id="22"/>
          <p:cNvSpPr txBox="true"/>
          <p:nvPr/>
        </p:nvSpPr>
        <p:spPr>
          <a:xfrm rot="0">
            <a:off x="1458538" y="8315931"/>
            <a:ext cx="6046944" cy="307602"/>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Data users focused only on insurance industry.</a:t>
            </a:r>
          </a:p>
        </p:txBody>
      </p:sp>
      <p:sp>
        <p:nvSpPr>
          <p:cNvPr name="TextBox 23" id="23"/>
          <p:cNvSpPr txBox="true"/>
          <p:nvPr/>
        </p:nvSpPr>
        <p:spPr>
          <a:xfrm rot="0">
            <a:off x="10341869" y="2605272"/>
            <a:ext cx="7596275" cy="910209"/>
          </a:xfrm>
          <a:prstGeom prst="rect">
            <a:avLst/>
          </a:prstGeom>
        </p:spPr>
        <p:txBody>
          <a:bodyPr anchor="t" rtlCol="false" tIns="0" lIns="0" bIns="0" rIns="0">
            <a:spAutoFit/>
          </a:bodyPr>
          <a:lstStyle/>
          <a:p>
            <a:pPr algn="l">
              <a:lnSpc>
                <a:spcPts val="6516"/>
              </a:lnSpc>
            </a:pPr>
            <a:r>
              <a:rPr lang="en-US" sz="7489" spc="-247" b="true">
                <a:solidFill>
                  <a:srgbClr val="FCFCFB"/>
                </a:solidFill>
                <a:latin typeface="Open Sauce Bold"/>
                <a:ea typeface="Open Sauce Bold"/>
                <a:cs typeface="Open Sauce Bold"/>
                <a:sym typeface="Open Sauce Bold"/>
              </a:rPr>
              <a:t>Key Next Steps</a:t>
            </a:r>
          </a:p>
        </p:txBody>
      </p:sp>
      <p:sp>
        <p:nvSpPr>
          <p:cNvPr name="TextBox 24" id="24"/>
          <p:cNvSpPr txBox="true"/>
          <p:nvPr/>
        </p:nvSpPr>
        <p:spPr>
          <a:xfrm rot="0">
            <a:off x="11281180" y="4057956"/>
            <a:ext cx="5978120" cy="1150112"/>
          </a:xfrm>
          <a:prstGeom prst="rect">
            <a:avLst/>
          </a:prstGeom>
        </p:spPr>
        <p:txBody>
          <a:bodyPr anchor="t" rtlCol="false" tIns="0" lIns="0" bIns="0" rIns="0">
            <a:spAutoFit/>
          </a:bodyPr>
          <a:lstStyle/>
          <a:p>
            <a:pPr algn="l">
              <a:lnSpc>
                <a:spcPts val="2266"/>
              </a:lnSpc>
            </a:pPr>
            <a:r>
              <a:rPr lang="en-US" sz="2060">
                <a:solidFill>
                  <a:srgbClr val="FFFFFF"/>
                </a:solidFill>
                <a:latin typeface="Open Sauce"/>
                <a:ea typeface="Open Sauce"/>
                <a:cs typeface="Open Sauce"/>
                <a:sym typeface="Open Sauce"/>
              </a:rPr>
              <a:t>Expanding data sources by using additional datasets from more diverse sources such as WHO, CDC, local hospitals, or other medical platforms.</a:t>
            </a:r>
          </a:p>
        </p:txBody>
      </p:sp>
      <p:sp>
        <p:nvSpPr>
          <p:cNvPr name="TextBox 25" id="25"/>
          <p:cNvSpPr txBox="true"/>
          <p:nvPr/>
        </p:nvSpPr>
        <p:spPr>
          <a:xfrm rot="0">
            <a:off x="11281180" y="6805924"/>
            <a:ext cx="6112441" cy="578612"/>
          </a:xfrm>
          <a:prstGeom prst="rect">
            <a:avLst/>
          </a:prstGeom>
        </p:spPr>
        <p:txBody>
          <a:bodyPr anchor="t" rtlCol="false" tIns="0" lIns="0" bIns="0" rIns="0">
            <a:spAutoFit/>
          </a:bodyPr>
          <a:lstStyle/>
          <a:p>
            <a:pPr algn="l">
              <a:lnSpc>
                <a:spcPts val="2266"/>
              </a:lnSpc>
            </a:pPr>
            <a:r>
              <a:rPr lang="en-US" sz="2060">
                <a:solidFill>
                  <a:srgbClr val="FFFFFF"/>
                </a:solidFill>
                <a:latin typeface="Open Sauce"/>
                <a:ea typeface="Open Sauce"/>
                <a:cs typeface="Open Sauce"/>
                <a:sym typeface="Open Sauce"/>
              </a:rPr>
              <a:t>Expand coverage to more diverse regions/populations.</a:t>
            </a:r>
          </a:p>
        </p:txBody>
      </p:sp>
      <p:sp>
        <p:nvSpPr>
          <p:cNvPr name="Freeform 26" id="26"/>
          <p:cNvSpPr/>
          <p:nvPr/>
        </p:nvSpPr>
        <p:spPr>
          <a:xfrm flipH="false" flipV="false" rot="0">
            <a:off x="10341869" y="7662861"/>
            <a:ext cx="525008" cy="533680"/>
          </a:xfrm>
          <a:custGeom>
            <a:avLst/>
            <a:gdLst/>
            <a:ahLst/>
            <a:cxnLst/>
            <a:rect r="r" b="b" t="t" l="l"/>
            <a:pathLst>
              <a:path h="533680" w="525008">
                <a:moveTo>
                  <a:pt x="0" y="0"/>
                </a:moveTo>
                <a:lnTo>
                  <a:pt x="525008" y="0"/>
                </a:lnTo>
                <a:lnTo>
                  <a:pt x="525008" y="533680"/>
                </a:lnTo>
                <a:lnTo>
                  <a:pt x="0" y="533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1281180" y="5464488"/>
            <a:ext cx="5978120" cy="1150112"/>
          </a:xfrm>
          <a:prstGeom prst="rect">
            <a:avLst/>
          </a:prstGeom>
        </p:spPr>
        <p:txBody>
          <a:bodyPr anchor="t" rtlCol="false" tIns="0" lIns="0" bIns="0" rIns="0">
            <a:spAutoFit/>
          </a:bodyPr>
          <a:lstStyle/>
          <a:p>
            <a:pPr algn="l">
              <a:lnSpc>
                <a:spcPts val="2266"/>
              </a:lnSpc>
            </a:pPr>
            <a:r>
              <a:rPr lang="en-US" sz="2060">
                <a:solidFill>
                  <a:srgbClr val="FFFFFF"/>
                </a:solidFill>
                <a:latin typeface="Open Sauce"/>
                <a:ea typeface="Open Sauce"/>
                <a:cs typeface="Open Sauce"/>
                <a:sym typeface="Open Sauce"/>
              </a:rPr>
              <a:t>Enhance feature diversity by incorporating lifestyle factors, socio-economic indicators, and family medical history to build a more comprehensive prediction model.</a:t>
            </a:r>
          </a:p>
        </p:txBody>
      </p:sp>
      <p:sp>
        <p:nvSpPr>
          <p:cNvPr name="TextBox 28" id="28"/>
          <p:cNvSpPr txBox="true"/>
          <p:nvPr/>
        </p:nvSpPr>
        <p:spPr>
          <a:xfrm rot="0">
            <a:off x="11281180" y="7649920"/>
            <a:ext cx="5762425" cy="578612"/>
          </a:xfrm>
          <a:prstGeom prst="rect">
            <a:avLst/>
          </a:prstGeom>
        </p:spPr>
        <p:txBody>
          <a:bodyPr anchor="t" rtlCol="false" tIns="0" lIns="0" bIns="0" rIns="0">
            <a:spAutoFit/>
          </a:bodyPr>
          <a:lstStyle/>
          <a:p>
            <a:pPr algn="l">
              <a:lnSpc>
                <a:spcPts val="2266"/>
              </a:lnSpc>
            </a:pPr>
            <a:r>
              <a:rPr lang="en-US" sz="2060">
                <a:solidFill>
                  <a:srgbClr val="FFFFFF"/>
                </a:solidFill>
                <a:latin typeface="Open Sauce"/>
                <a:ea typeface="Open Sauce"/>
                <a:cs typeface="Open Sauce"/>
                <a:sym typeface="Open Sauce"/>
              </a:rPr>
              <a:t>Using more recent data to reflect current heart disease conditions and trends.</a:t>
            </a:r>
          </a:p>
        </p:txBody>
      </p:sp>
      <p:sp>
        <p:nvSpPr>
          <p:cNvPr name="Freeform 29" id="29"/>
          <p:cNvSpPr/>
          <p:nvPr/>
        </p:nvSpPr>
        <p:spPr>
          <a:xfrm flipH="false" flipV="false" rot="0">
            <a:off x="10341869" y="8520391"/>
            <a:ext cx="525008" cy="533680"/>
          </a:xfrm>
          <a:custGeom>
            <a:avLst/>
            <a:gdLst/>
            <a:ahLst/>
            <a:cxnLst/>
            <a:rect r="r" b="b" t="t" l="l"/>
            <a:pathLst>
              <a:path h="533680" w="525008">
                <a:moveTo>
                  <a:pt x="0" y="0"/>
                </a:moveTo>
                <a:lnTo>
                  <a:pt x="525008" y="0"/>
                </a:lnTo>
                <a:lnTo>
                  <a:pt x="525008" y="533680"/>
                </a:lnTo>
                <a:lnTo>
                  <a:pt x="0" y="533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0" id="30"/>
          <p:cNvSpPr txBox="true"/>
          <p:nvPr/>
        </p:nvSpPr>
        <p:spPr>
          <a:xfrm rot="0">
            <a:off x="11281180" y="8569728"/>
            <a:ext cx="5600950" cy="864362"/>
          </a:xfrm>
          <a:prstGeom prst="rect">
            <a:avLst/>
          </a:prstGeom>
        </p:spPr>
        <p:txBody>
          <a:bodyPr anchor="t" rtlCol="false" tIns="0" lIns="0" bIns="0" rIns="0">
            <a:spAutoFit/>
          </a:bodyPr>
          <a:lstStyle/>
          <a:p>
            <a:pPr algn="l">
              <a:lnSpc>
                <a:spcPts val="2266"/>
              </a:lnSpc>
            </a:pPr>
            <a:r>
              <a:rPr lang="en-US" sz="2060">
                <a:solidFill>
                  <a:srgbClr val="FFFFFF"/>
                </a:solidFill>
                <a:latin typeface="Open Sauce"/>
                <a:ea typeface="Open Sauce"/>
                <a:cs typeface="Open Sauce"/>
                <a:sym typeface="Open Sauce"/>
              </a:rPr>
              <a:t>Expanding cross-sector use and adapting the model to detect other common diseases for broader medical use.</a:t>
            </a:r>
          </a:p>
        </p:txBody>
      </p:sp>
      <p:grpSp>
        <p:nvGrpSpPr>
          <p:cNvPr name="Group 31" id="31"/>
          <p:cNvGrpSpPr/>
          <p:nvPr/>
        </p:nvGrpSpPr>
        <p:grpSpPr>
          <a:xfrm rot="0">
            <a:off x="13744382" y="605568"/>
            <a:ext cx="3810714" cy="1175610"/>
            <a:chOff x="0" y="0"/>
            <a:chExt cx="5080951" cy="1567480"/>
          </a:xfrm>
        </p:grpSpPr>
        <p:sp>
          <p:nvSpPr>
            <p:cNvPr name="TextBox 32" id="32"/>
            <p:cNvSpPr txBox="true"/>
            <p:nvPr/>
          </p:nvSpPr>
          <p:spPr>
            <a:xfrm rot="0">
              <a:off x="0" y="209112"/>
              <a:ext cx="3513472" cy="777982"/>
            </a:xfrm>
            <a:prstGeom prst="rect">
              <a:avLst/>
            </a:prstGeom>
          </p:spPr>
          <p:txBody>
            <a:bodyPr anchor="t" rtlCol="false" tIns="0" lIns="0" bIns="0" rIns="0">
              <a:spAutoFit/>
            </a:bodyPr>
            <a:lstStyle/>
            <a:p>
              <a:pPr algn="r">
                <a:lnSpc>
                  <a:spcPts val="4973"/>
                </a:lnSpc>
              </a:pPr>
              <a:r>
                <a:rPr lang="en-US" b="true" sz="3552" spc="-117">
                  <a:solidFill>
                    <a:srgbClr val="FFFFFF"/>
                  </a:solidFill>
                  <a:latin typeface="Open Sauce Heavy"/>
                  <a:ea typeface="Open Sauce Heavy"/>
                  <a:cs typeface="Open Sauce Heavy"/>
                  <a:sym typeface="Open Sauce Heavy"/>
                </a:rPr>
                <a:t>Prediksa</a:t>
              </a:r>
            </a:p>
          </p:txBody>
        </p:sp>
        <p:sp>
          <p:nvSpPr>
            <p:cNvPr name="TextBox 33" id="33"/>
            <p:cNvSpPr txBox="true"/>
            <p:nvPr/>
          </p:nvSpPr>
          <p:spPr>
            <a:xfrm rot="0">
              <a:off x="1335717" y="910310"/>
              <a:ext cx="2177754" cy="472258"/>
            </a:xfrm>
            <a:prstGeom prst="rect">
              <a:avLst/>
            </a:prstGeom>
          </p:spPr>
          <p:txBody>
            <a:bodyPr anchor="t" rtlCol="false" tIns="0" lIns="0" bIns="0" rIns="0">
              <a:spAutoFit/>
            </a:bodyPr>
            <a:lstStyle/>
            <a:p>
              <a:pPr algn="r">
                <a:lnSpc>
                  <a:spcPts val="3082"/>
                </a:lnSpc>
              </a:pPr>
              <a:r>
                <a:rPr lang="en-US" sz="2202" spc="61">
                  <a:solidFill>
                    <a:srgbClr val="FFFFFF"/>
                  </a:solidFill>
                  <a:latin typeface="Open Sauce"/>
                  <a:ea typeface="Open Sauce"/>
                  <a:cs typeface="Open Sauce"/>
                  <a:sym typeface="Open Sauce"/>
                </a:rPr>
                <a:t>Company</a:t>
              </a:r>
            </a:p>
          </p:txBody>
        </p:sp>
        <p:sp>
          <p:nvSpPr>
            <p:cNvPr name="Freeform 34" id="34"/>
            <p:cNvSpPr/>
            <p:nvPr/>
          </p:nvSpPr>
          <p:spPr>
            <a:xfrm flipH="false" flipV="false" rot="0">
              <a:off x="3513472" y="0"/>
              <a:ext cx="1567480" cy="1567480"/>
            </a:xfrm>
            <a:custGeom>
              <a:avLst/>
              <a:gdLst/>
              <a:ahLst/>
              <a:cxnLst/>
              <a:rect r="r" b="b" t="t" l="l"/>
              <a:pathLst>
                <a:path h="1567480" w="1567480">
                  <a:moveTo>
                    <a:pt x="0" y="0"/>
                  </a:moveTo>
                  <a:lnTo>
                    <a:pt x="1567479" y="0"/>
                  </a:lnTo>
                  <a:lnTo>
                    <a:pt x="1567479" y="1567480"/>
                  </a:lnTo>
                  <a:lnTo>
                    <a:pt x="0" y="1567480"/>
                  </a:lnTo>
                  <a:lnTo>
                    <a:pt x="0" y="0"/>
                  </a:lnTo>
                  <a:close/>
                </a:path>
              </a:pathLst>
            </a:custGeom>
            <a:blipFill>
              <a:blip r:embed="rId10"/>
              <a:stretch>
                <a:fillRect l="0" t="0" r="0" b="0"/>
              </a:stretch>
            </a:blipFill>
          </p:spPr>
        </p:sp>
      </p:grpSp>
      <p:grpSp>
        <p:nvGrpSpPr>
          <p:cNvPr name="Group 35" id="35"/>
          <p:cNvGrpSpPr/>
          <p:nvPr/>
        </p:nvGrpSpPr>
        <p:grpSpPr>
          <a:xfrm rot="0">
            <a:off x="-3047727" y="-4881713"/>
            <a:ext cx="11380283" cy="7258385"/>
            <a:chOff x="0" y="0"/>
            <a:chExt cx="1009097" cy="643606"/>
          </a:xfrm>
        </p:grpSpPr>
        <p:sp>
          <p:nvSpPr>
            <p:cNvPr name="Freeform 36" id="36"/>
            <p:cNvSpPr/>
            <p:nvPr/>
          </p:nvSpPr>
          <p:spPr>
            <a:xfrm flipH="false" flipV="false" rot="0">
              <a:off x="9611" y="0"/>
              <a:ext cx="989875" cy="643606"/>
            </a:xfrm>
            <a:custGeom>
              <a:avLst/>
              <a:gdLst/>
              <a:ahLst/>
              <a:cxnLst/>
              <a:rect r="r" b="b" t="t" l="l"/>
              <a:pathLst>
                <a:path h="643606" w="989875">
                  <a:moveTo>
                    <a:pt x="974787" y="360917"/>
                  </a:moveTo>
                  <a:lnTo>
                    <a:pt x="820985" y="604491"/>
                  </a:lnTo>
                  <a:cubicBezTo>
                    <a:pt x="805609" y="628840"/>
                    <a:pt x="778823" y="643606"/>
                    <a:pt x="750026" y="643606"/>
                  </a:cubicBezTo>
                  <a:lnTo>
                    <a:pt x="239849" y="643606"/>
                  </a:lnTo>
                  <a:cubicBezTo>
                    <a:pt x="211052" y="643606"/>
                    <a:pt x="184266" y="628840"/>
                    <a:pt x="168890" y="604491"/>
                  </a:cubicBezTo>
                  <a:lnTo>
                    <a:pt x="15088" y="360917"/>
                  </a:lnTo>
                  <a:cubicBezTo>
                    <a:pt x="0" y="337023"/>
                    <a:pt x="0" y="306582"/>
                    <a:pt x="15088" y="282688"/>
                  </a:cubicBezTo>
                  <a:lnTo>
                    <a:pt x="168890" y="39115"/>
                  </a:lnTo>
                  <a:cubicBezTo>
                    <a:pt x="184266" y="14765"/>
                    <a:pt x="211052" y="0"/>
                    <a:pt x="239849" y="0"/>
                  </a:cubicBezTo>
                  <a:lnTo>
                    <a:pt x="750026" y="0"/>
                  </a:lnTo>
                  <a:cubicBezTo>
                    <a:pt x="778823" y="0"/>
                    <a:pt x="805609" y="14765"/>
                    <a:pt x="820985" y="39115"/>
                  </a:cubicBezTo>
                  <a:lnTo>
                    <a:pt x="974787" y="282688"/>
                  </a:lnTo>
                  <a:cubicBezTo>
                    <a:pt x="989875" y="306582"/>
                    <a:pt x="989875" y="337023"/>
                    <a:pt x="974787" y="360917"/>
                  </a:cubicBezTo>
                  <a:close/>
                </a:path>
              </a:pathLst>
            </a:custGeom>
            <a:blipFill>
              <a:blip r:embed="rId11"/>
              <a:stretch>
                <a:fillRect l="-9570" t="-5121" r="-10024" b="-16608"/>
              </a:stretch>
            </a:blipFill>
          </p:spPr>
        </p:sp>
      </p:grpSp>
      <p:sp>
        <p:nvSpPr>
          <p:cNvPr name="Freeform 37" id="37"/>
          <p:cNvSpPr/>
          <p:nvPr/>
        </p:nvSpPr>
        <p:spPr>
          <a:xfrm flipH="true" flipV="false" rot="0">
            <a:off x="6935658" y="2032823"/>
            <a:ext cx="1139647" cy="343849"/>
          </a:xfrm>
          <a:custGeom>
            <a:avLst/>
            <a:gdLst/>
            <a:ahLst/>
            <a:cxnLst/>
            <a:rect r="r" b="b" t="t" l="l"/>
            <a:pathLst>
              <a:path h="343849" w="1139647">
                <a:moveTo>
                  <a:pt x="1139647" y="0"/>
                </a:moveTo>
                <a:lnTo>
                  <a:pt x="0" y="0"/>
                </a:lnTo>
                <a:lnTo>
                  <a:pt x="0" y="343849"/>
                </a:lnTo>
                <a:lnTo>
                  <a:pt x="1139647" y="343849"/>
                </a:lnTo>
                <a:lnTo>
                  <a:pt x="1139647" y="0"/>
                </a:lnTo>
                <a:close/>
              </a:path>
            </a:pathLst>
          </a:custGeom>
          <a:blipFill>
            <a:blip r:embed="rId12">
              <a:extLst>
                <a:ext uri="{96DAC541-7B7A-43D3-8B79-37D633B846F1}">
                  <asvg:svgBlip xmlns:asvg="http://schemas.microsoft.com/office/drawing/2016/SVG/main" r:embed="rId13"/>
                </a:ext>
              </a:extLst>
            </a:blip>
            <a:stretch>
              <a:fillRect l="0" t="0" r="-104552"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16553" y="-13755"/>
            <a:ext cx="9450288" cy="8121341"/>
            <a:chOff x="0" y="0"/>
            <a:chExt cx="812800" cy="698500"/>
          </a:xfrm>
        </p:grpSpPr>
        <p:sp>
          <p:nvSpPr>
            <p:cNvPr name="Freeform 3" id="3"/>
            <p:cNvSpPr/>
            <p:nvPr/>
          </p:nvSpPr>
          <p:spPr>
            <a:xfrm flipH="true" flipV="false" rot="0">
              <a:off x="10697" y="0"/>
              <a:ext cx="791406" cy="698500"/>
            </a:xfrm>
            <a:custGeom>
              <a:avLst/>
              <a:gdLst/>
              <a:ahLst/>
              <a:cxnLst/>
              <a:rect r="r" b="b" t="t" l="l"/>
              <a:pathLst>
                <a:path h="698500" w="791406">
                  <a:moveTo>
                    <a:pt x="17318" y="397401"/>
                  </a:moveTo>
                  <a:lnTo>
                    <a:pt x="164488" y="650349"/>
                  </a:lnTo>
                  <a:cubicBezTo>
                    <a:pt x="181833" y="680161"/>
                    <a:pt x="213721" y="698500"/>
                    <a:pt x="248210" y="698500"/>
                  </a:cubicBezTo>
                  <a:lnTo>
                    <a:pt x="543196" y="698500"/>
                  </a:lnTo>
                  <a:cubicBezTo>
                    <a:pt x="577685" y="698500"/>
                    <a:pt x="609573" y="680161"/>
                    <a:pt x="626918" y="650349"/>
                  </a:cubicBezTo>
                  <a:lnTo>
                    <a:pt x="774088" y="397401"/>
                  </a:lnTo>
                  <a:cubicBezTo>
                    <a:pt x="791406" y="367636"/>
                    <a:pt x="791406" y="330864"/>
                    <a:pt x="774088" y="301099"/>
                  </a:cubicBezTo>
                  <a:lnTo>
                    <a:pt x="626918" y="48151"/>
                  </a:lnTo>
                  <a:cubicBezTo>
                    <a:pt x="609573" y="18340"/>
                    <a:pt x="577685" y="0"/>
                    <a:pt x="543196" y="0"/>
                  </a:cubicBezTo>
                  <a:lnTo>
                    <a:pt x="248210" y="0"/>
                  </a:lnTo>
                  <a:cubicBezTo>
                    <a:pt x="213721" y="0"/>
                    <a:pt x="181833" y="18340"/>
                    <a:pt x="164488" y="48151"/>
                  </a:cubicBezTo>
                  <a:lnTo>
                    <a:pt x="17318" y="301099"/>
                  </a:lnTo>
                  <a:cubicBezTo>
                    <a:pt x="0" y="330864"/>
                    <a:pt x="0" y="367636"/>
                    <a:pt x="17318" y="397401"/>
                  </a:cubicBezTo>
                  <a:close/>
                </a:path>
              </a:pathLst>
            </a:custGeom>
            <a:blipFill>
              <a:blip r:embed="rId2"/>
              <a:stretch>
                <a:fillRect l="-1919" t="-59332" r="-1919" b="-15212"/>
              </a:stretch>
            </a:blipFill>
          </p:spPr>
        </p:sp>
      </p:grpSp>
      <p:sp>
        <p:nvSpPr>
          <p:cNvPr name="Freeform 4" id="4"/>
          <p:cNvSpPr/>
          <p:nvPr/>
        </p:nvSpPr>
        <p:spPr>
          <a:xfrm flipH="true" flipV="false" rot="0">
            <a:off x="9373672" y="8975858"/>
            <a:ext cx="11202433" cy="1649928"/>
          </a:xfrm>
          <a:custGeom>
            <a:avLst/>
            <a:gdLst/>
            <a:ahLst/>
            <a:cxnLst/>
            <a:rect r="r" b="b" t="t" l="l"/>
            <a:pathLst>
              <a:path h="1649928" w="11202433">
                <a:moveTo>
                  <a:pt x="11202433" y="0"/>
                </a:moveTo>
                <a:lnTo>
                  <a:pt x="0" y="0"/>
                </a:lnTo>
                <a:lnTo>
                  <a:pt x="0" y="1649928"/>
                </a:lnTo>
                <a:lnTo>
                  <a:pt x="11202433" y="1649928"/>
                </a:lnTo>
                <a:lnTo>
                  <a:pt x="11202433" y="0"/>
                </a:lnTo>
                <a:close/>
              </a:path>
            </a:pathLst>
          </a:custGeom>
          <a:blipFill>
            <a:blip r:embed="rId3">
              <a:extLst>
                <a:ext uri="{96DAC541-7B7A-43D3-8B79-37D633B846F1}">
                  <asvg:svgBlip xmlns:asvg="http://schemas.microsoft.com/office/drawing/2016/SVG/main" r:embed="rId4"/>
                </a:ext>
              </a:extLst>
            </a:blip>
            <a:stretch>
              <a:fillRect l="0" t="0" r="-32389" b="0"/>
            </a:stretch>
          </a:blipFill>
        </p:spPr>
      </p:sp>
      <p:sp>
        <p:nvSpPr>
          <p:cNvPr name="Freeform 5" id="5"/>
          <p:cNvSpPr/>
          <p:nvPr/>
        </p:nvSpPr>
        <p:spPr>
          <a:xfrm flipH="true" flipV="false" rot="0">
            <a:off x="5554395" y="8928233"/>
            <a:ext cx="4380391" cy="2064230"/>
          </a:xfrm>
          <a:custGeom>
            <a:avLst/>
            <a:gdLst/>
            <a:ahLst/>
            <a:cxnLst/>
            <a:rect r="r" b="b" t="t" l="l"/>
            <a:pathLst>
              <a:path h="2064230" w="4380391">
                <a:moveTo>
                  <a:pt x="4380391" y="0"/>
                </a:moveTo>
                <a:lnTo>
                  <a:pt x="0" y="0"/>
                </a:lnTo>
                <a:lnTo>
                  <a:pt x="0" y="2064230"/>
                </a:lnTo>
                <a:lnTo>
                  <a:pt x="4380391" y="2064230"/>
                </a:lnTo>
                <a:lnTo>
                  <a:pt x="4380391" y="0"/>
                </a:lnTo>
                <a:close/>
              </a:path>
            </a:pathLst>
          </a:custGeom>
          <a:blipFill>
            <a:blip r:embed="rId5">
              <a:extLst>
                <a:ext uri="{96DAC541-7B7A-43D3-8B79-37D633B846F1}">
                  <asvg:svgBlip xmlns:asvg="http://schemas.microsoft.com/office/drawing/2016/SVG/main" r:embed="rId6"/>
                </a:ext>
              </a:extLst>
            </a:blip>
            <a:stretch>
              <a:fillRect l="-323589" t="0" r="0" b="0"/>
            </a:stretch>
          </a:blipFill>
        </p:spPr>
      </p:sp>
      <p:sp>
        <p:nvSpPr>
          <p:cNvPr name="Freeform 6" id="6"/>
          <p:cNvSpPr/>
          <p:nvPr/>
        </p:nvSpPr>
        <p:spPr>
          <a:xfrm flipH="true" flipV="false" rot="0">
            <a:off x="-1806520" y="8134721"/>
            <a:ext cx="8340254" cy="3930289"/>
          </a:xfrm>
          <a:custGeom>
            <a:avLst/>
            <a:gdLst/>
            <a:ahLst/>
            <a:cxnLst/>
            <a:rect r="r" b="b" t="t" l="l"/>
            <a:pathLst>
              <a:path h="3930289" w="8340254">
                <a:moveTo>
                  <a:pt x="8340254" y="0"/>
                </a:moveTo>
                <a:lnTo>
                  <a:pt x="0" y="0"/>
                </a:lnTo>
                <a:lnTo>
                  <a:pt x="0" y="3930290"/>
                </a:lnTo>
                <a:lnTo>
                  <a:pt x="8340254" y="3930290"/>
                </a:lnTo>
                <a:lnTo>
                  <a:pt x="8340254" y="0"/>
                </a:lnTo>
                <a:close/>
              </a:path>
            </a:pathLst>
          </a:custGeom>
          <a:blipFill>
            <a:blip r:embed="rId5">
              <a:extLst>
                <a:ext uri="{96DAC541-7B7A-43D3-8B79-37D633B846F1}">
                  <asvg:svgBlip xmlns:asvg="http://schemas.microsoft.com/office/drawing/2016/SVG/main" r:embed="rId6"/>
                </a:ext>
              </a:extLst>
            </a:blip>
            <a:stretch>
              <a:fillRect l="-323589" t="0" r="0" b="0"/>
            </a:stretch>
          </a:blipFill>
        </p:spPr>
      </p:sp>
      <p:sp>
        <p:nvSpPr>
          <p:cNvPr name="Freeform 7" id="7"/>
          <p:cNvSpPr/>
          <p:nvPr/>
        </p:nvSpPr>
        <p:spPr>
          <a:xfrm flipH="true" flipV="false" rot="0">
            <a:off x="16069053" y="2638837"/>
            <a:ext cx="1139647" cy="343849"/>
          </a:xfrm>
          <a:custGeom>
            <a:avLst/>
            <a:gdLst/>
            <a:ahLst/>
            <a:cxnLst/>
            <a:rect r="r" b="b" t="t" l="l"/>
            <a:pathLst>
              <a:path h="343849" w="1139647">
                <a:moveTo>
                  <a:pt x="1139646" y="0"/>
                </a:moveTo>
                <a:lnTo>
                  <a:pt x="0" y="0"/>
                </a:lnTo>
                <a:lnTo>
                  <a:pt x="0" y="343848"/>
                </a:lnTo>
                <a:lnTo>
                  <a:pt x="1139646" y="343848"/>
                </a:lnTo>
                <a:lnTo>
                  <a:pt x="1139646" y="0"/>
                </a:lnTo>
                <a:close/>
              </a:path>
            </a:pathLst>
          </a:custGeom>
          <a:blipFill>
            <a:blip r:embed="rId7">
              <a:extLst>
                <a:ext uri="{96DAC541-7B7A-43D3-8B79-37D633B846F1}">
                  <asvg:svgBlip xmlns:asvg="http://schemas.microsoft.com/office/drawing/2016/SVG/main" r:embed="rId8"/>
                </a:ext>
              </a:extLst>
            </a:blip>
            <a:stretch>
              <a:fillRect l="0" t="0" r="-104552" b="0"/>
            </a:stretch>
          </a:blipFill>
        </p:spPr>
      </p:sp>
      <p:sp>
        <p:nvSpPr>
          <p:cNvPr name="TextBox 8" id="8"/>
          <p:cNvSpPr txBox="true"/>
          <p:nvPr/>
        </p:nvSpPr>
        <p:spPr>
          <a:xfrm rot="0">
            <a:off x="6843900" y="1283268"/>
            <a:ext cx="5779462" cy="910209"/>
          </a:xfrm>
          <a:prstGeom prst="rect">
            <a:avLst/>
          </a:prstGeom>
        </p:spPr>
        <p:txBody>
          <a:bodyPr anchor="t" rtlCol="false" tIns="0" lIns="0" bIns="0" rIns="0">
            <a:spAutoFit/>
          </a:bodyPr>
          <a:lstStyle/>
          <a:p>
            <a:pPr algn="l">
              <a:lnSpc>
                <a:spcPts val="6516"/>
              </a:lnSpc>
            </a:pPr>
            <a:r>
              <a:rPr lang="en-US" sz="7489" spc="-247" b="true">
                <a:solidFill>
                  <a:srgbClr val="03045A"/>
                </a:solidFill>
                <a:latin typeface="Open Sauce Bold"/>
                <a:ea typeface="Open Sauce Bold"/>
                <a:cs typeface="Open Sauce Bold"/>
                <a:sym typeface="Open Sauce Bold"/>
              </a:rPr>
              <a:t>Conclusion</a:t>
            </a:r>
          </a:p>
        </p:txBody>
      </p:sp>
      <p:grpSp>
        <p:nvGrpSpPr>
          <p:cNvPr name="Group 9" id="9"/>
          <p:cNvGrpSpPr/>
          <p:nvPr/>
        </p:nvGrpSpPr>
        <p:grpSpPr>
          <a:xfrm rot="0">
            <a:off x="6691500" y="3716110"/>
            <a:ext cx="5032104" cy="4078384"/>
            <a:chOff x="0" y="0"/>
            <a:chExt cx="6709471" cy="5437845"/>
          </a:xfrm>
        </p:grpSpPr>
        <p:sp>
          <p:nvSpPr>
            <p:cNvPr name="Freeform 10" id="10"/>
            <p:cNvSpPr/>
            <p:nvPr/>
          </p:nvSpPr>
          <p:spPr>
            <a:xfrm flipH="false" flipV="false" rot="0">
              <a:off x="408740" y="4480397"/>
              <a:ext cx="5891991" cy="957448"/>
            </a:xfrm>
            <a:custGeom>
              <a:avLst/>
              <a:gdLst/>
              <a:ahLst/>
              <a:cxnLst/>
              <a:rect r="r" b="b" t="t" l="l"/>
              <a:pathLst>
                <a:path h="957448" w="5891991">
                  <a:moveTo>
                    <a:pt x="0" y="0"/>
                  </a:moveTo>
                  <a:lnTo>
                    <a:pt x="5891991" y="0"/>
                  </a:lnTo>
                  <a:lnTo>
                    <a:pt x="5891991" y="957448"/>
                  </a:lnTo>
                  <a:lnTo>
                    <a:pt x="0" y="957448"/>
                  </a:lnTo>
                  <a:lnTo>
                    <a:pt x="0" y="0"/>
                  </a:lnTo>
                  <a:close/>
                </a:path>
              </a:pathLst>
            </a:custGeom>
            <a:blipFill>
              <a:blip r:embed="rId9">
                <a:alphaModFix amt="71000"/>
              </a:blip>
              <a:stretch>
                <a:fillRect l="0" t="0" r="0" b="0"/>
              </a:stretch>
            </a:blipFill>
          </p:spPr>
        </p:sp>
        <p:grpSp>
          <p:nvGrpSpPr>
            <p:cNvPr name="Group 11" id="11"/>
            <p:cNvGrpSpPr/>
            <p:nvPr/>
          </p:nvGrpSpPr>
          <p:grpSpPr>
            <a:xfrm rot="0">
              <a:off x="0" y="0"/>
              <a:ext cx="6709471" cy="4543702"/>
              <a:chOff x="0" y="0"/>
              <a:chExt cx="329565" cy="223184"/>
            </a:xfrm>
          </p:grpSpPr>
          <p:sp>
            <p:nvSpPr>
              <p:cNvPr name="Freeform 12" id="12"/>
              <p:cNvSpPr/>
              <p:nvPr/>
            </p:nvSpPr>
            <p:spPr>
              <a:xfrm flipH="false" flipV="false" rot="0">
                <a:off x="0" y="0"/>
                <a:ext cx="329565" cy="223184"/>
              </a:xfrm>
              <a:custGeom>
                <a:avLst/>
                <a:gdLst/>
                <a:ahLst/>
                <a:cxnLst/>
                <a:rect r="r" b="b" t="t" l="l"/>
                <a:pathLst>
                  <a:path h="223184" w="329565">
                    <a:moveTo>
                      <a:pt x="49232" y="0"/>
                    </a:moveTo>
                    <a:lnTo>
                      <a:pt x="280333" y="0"/>
                    </a:lnTo>
                    <a:cubicBezTo>
                      <a:pt x="307523" y="0"/>
                      <a:pt x="329565" y="22042"/>
                      <a:pt x="329565" y="49232"/>
                    </a:cubicBezTo>
                    <a:lnTo>
                      <a:pt x="329565" y="173952"/>
                    </a:lnTo>
                    <a:cubicBezTo>
                      <a:pt x="329565" y="201142"/>
                      <a:pt x="307523" y="223184"/>
                      <a:pt x="280333" y="223184"/>
                    </a:cubicBezTo>
                    <a:lnTo>
                      <a:pt x="49232" y="223184"/>
                    </a:lnTo>
                    <a:cubicBezTo>
                      <a:pt x="22042" y="223184"/>
                      <a:pt x="0" y="201142"/>
                      <a:pt x="0" y="173952"/>
                    </a:cubicBezTo>
                    <a:lnTo>
                      <a:pt x="0" y="49232"/>
                    </a:lnTo>
                    <a:cubicBezTo>
                      <a:pt x="0" y="22042"/>
                      <a:pt x="22042" y="0"/>
                      <a:pt x="49232" y="0"/>
                    </a:cubicBezTo>
                    <a:close/>
                  </a:path>
                </a:pathLst>
              </a:custGeom>
              <a:solidFill>
                <a:srgbClr val="2855BF"/>
              </a:solidFill>
            </p:spPr>
          </p:sp>
          <p:sp>
            <p:nvSpPr>
              <p:cNvPr name="TextBox 13" id="13"/>
              <p:cNvSpPr txBox="true"/>
              <p:nvPr/>
            </p:nvSpPr>
            <p:spPr>
              <a:xfrm>
                <a:off x="0" y="-47625"/>
                <a:ext cx="329565" cy="270809"/>
              </a:xfrm>
              <a:prstGeom prst="rect">
                <a:avLst/>
              </a:prstGeom>
            </p:spPr>
            <p:txBody>
              <a:bodyPr anchor="ctr" rtlCol="false" tIns="50800" lIns="50800" bIns="50800" rIns="50800"/>
              <a:lstStyle/>
              <a:p>
                <a:pPr algn="ctr">
                  <a:lnSpc>
                    <a:spcPts val="3303"/>
                  </a:lnSpc>
                </a:pPr>
              </a:p>
            </p:txBody>
          </p:sp>
        </p:grpSp>
        <p:sp>
          <p:nvSpPr>
            <p:cNvPr name="TextBox 14" id="14"/>
            <p:cNvSpPr txBox="true"/>
            <p:nvPr/>
          </p:nvSpPr>
          <p:spPr>
            <a:xfrm rot="0">
              <a:off x="433922" y="810097"/>
              <a:ext cx="5240844" cy="2844631"/>
            </a:xfrm>
            <a:prstGeom prst="rect">
              <a:avLst/>
            </a:prstGeom>
          </p:spPr>
          <p:txBody>
            <a:bodyPr anchor="t" rtlCol="false" tIns="0" lIns="0" bIns="0" rIns="0">
              <a:spAutoFit/>
            </a:bodyPr>
            <a:lstStyle/>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Enhance risk assessment accuracy efficiently</a:t>
              </a:r>
            </a:p>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Reduce long-term claim costs through  early intervention</a:t>
              </a:r>
            </a:p>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Promote proactive health prevention among clients</a:t>
              </a:r>
            </a:p>
          </p:txBody>
        </p:sp>
      </p:grpSp>
      <p:grpSp>
        <p:nvGrpSpPr>
          <p:cNvPr name="Group 15" id="15"/>
          <p:cNvGrpSpPr/>
          <p:nvPr/>
        </p:nvGrpSpPr>
        <p:grpSpPr>
          <a:xfrm rot="0">
            <a:off x="12389396" y="3716110"/>
            <a:ext cx="4869904" cy="4759464"/>
            <a:chOff x="0" y="0"/>
            <a:chExt cx="6493205" cy="6345953"/>
          </a:xfrm>
        </p:grpSpPr>
        <p:sp>
          <p:nvSpPr>
            <p:cNvPr name="Freeform 16" id="16"/>
            <p:cNvSpPr/>
            <p:nvPr/>
          </p:nvSpPr>
          <p:spPr>
            <a:xfrm flipH="false" flipV="false" rot="0">
              <a:off x="306773" y="5388504"/>
              <a:ext cx="5891991" cy="957448"/>
            </a:xfrm>
            <a:custGeom>
              <a:avLst/>
              <a:gdLst/>
              <a:ahLst/>
              <a:cxnLst/>
              <a:rect r="r" b="b" t="t" l="l"/>
              <a:pathLst>
                <a:path h="957448" w="5891991">
                  <a:moveTo>
                    <a:pt x="0" y="0"/>
                  </a:moveTo>
                  <a:lnTo>
                    <a:pt x="5891990" y="0"/>
                  </a:lnTo>
                  <a:lnTo>
                    <a:pt x="5891990" y="957449"/>
                  </a:lnTo>
                  <a:lnTo>
                    <a:pt x="0" y="957449"/>
                  </a:lnTo>
                  <a:lnTo>
                    <a:pt x="0" y="0"/>
                  </a:lnTo>
                  <a:close/>
                </a:path>
              </a:pathLst>
            </a:custGeom>
            <a:blipFill>
              <a:blip r:embed="rId9">
                <a:alphaModFix amt="71000"/>
              </a:blip>
              <a:stretch>
                <a:fillRect l="0" t="0" r="0" b="0"/>
              </a:stretch>
            </a:blipFill>
          </p:spPr>
        </p:sp>
        <p:grpSp>
          <p:nvGrpSpPr>
            <p:cNvPr name="Group 17" id="17"/>
            <p:cNvGrpSpPr/>
            <p:nvPr/>
          </p:nvGrpSpPr>
          <p:grpSpPr>
            <a:xfrm rot="0">
              <a:off x="0" y="0"/>
              <a:ext cx="6493205" cy="5450687"/>
              <a:chOff x="0" y="0"/>
              <a:chExt cx="318942" cy="267735"/>
            </a:xfrm>
          </p:grpSpPr>
          <p:sp>
            <p:nvSpPr>
              <p:cNvPr name="Freeform 18" id="18"/>
              <p:cNvSpPr/>
              <p:nvPr/>
            </p:nvSpPr>
            <p:spPr>
              <a:xfrm flipH="false" flipV="false" rot="0">
                <a:off x="0" y="0"/>
                <a:ext cx="318942" cy="267735"/>
              </a:xfrm>
              <a:custGeom>
                <a:avLst/>
                <a:gdLst/>
                <a:ahLst/>
                <a:cxnLst/>
                <a:rect r="r" b="b" t="t" l="l"/>
                <a:pathLst>
                  <a:path h="267735" w="318942">
                    <a:moveTo>
                      <a:pt x="50872" y="0"/>
                    </a:moveTo>
                    <a:lnTo>
                      <a:pt x="268070" y="0"/>
                    </a:lnTo>
                    <a:cubicBezTo>
                      <a:pt x="281563" y="0"/>
                      <a:pt x="294502" y="5360"/>
                      <a:pt x="304042" y="14900"/>
                    </a:cubicBezTo>
                    <a:cubicBezTo>
                      <a:pt x="313583" y="24440"/>
                      <a:pt x="318942" y="37380"/>
                      <a:pt x="318942" y="50872"/>
                    </a:cubicBezTo>
                    <a:lnTo>
                      <a:pt x="318942" y="216863"/>
                    </a:lnTo>
                    <a:cubicBezTo>
                      <a:pt x="318942" y="230355"/>
                      <a:pt x="313583" y="243294"/>
                      <a:pt x="304042" y="252834"/>
                    </a:cubicBezTo>
                    <a:cubicBezTo>
                      <a:pt x="294502" y="262375"/>
                      <a:pt x="281563" y="267735"/>
                      <a:pt x="268070" y="267735"/>
                    </a:cubicBezTo>
                    <a:lnTo>
                      <a:pt x="50872" y="267735"/>
                    </a:lnTo>
                    <a:cubicBezTo>
                      <a:pt x="37380" y="267735"/>
                      <a:pt x="24440" y="262375"/>
                      <a:pt x="14900" y="252834"/>
                    </a:cubicBezTo>
                    <a:cubicBezTo>
                      <a:pt x="5360" y="243294"/>
                      <a:pt x="0" y="230355"/>
                      <a:pt x="0" y="216863"/>
                    </a:cubicBezTo>
                    <a:lnTo>
                      <a:pt x="0" y="50872"/>
                    </a:lnTo>
                    <a:cubicBezTo>
                      <a:pt x="0" y="37380"/>
                      <a:pt x="5360" y="24440"/>
                      <a:pt x="14900" y="14900"/>
                    </a:cubicBezTo>
                    <a:cubicBezTo>
                      <a:pt x="24440" y="5360"/>
                      <a:pt x="37380" y="0"/>
                      <a:pt x="50872" y="0"/>
                    </a:cubicBezTo>
                    <a:close/>
                  </a:path>
                </a:pathLst>
              </a:custGeom>
              <a:solidFill>
                <a:srgbClr val="03045A"/>
              </a:solidFill>
            </p:spPr>
          </p:sp>
          <p:sp>
            <p:nvSpPr>
              <p:cNvPr name="TextBox 19" id="19"/>
              <p:cNvSpPr txBox="true"/>
              <p:nvPr/>
            </p:nvSpPr>
            <p:spPr>
              <a:xfrm>
                <a:off x="0" y="-47625"/>
                <a:ext cx="318942" cy="315360"/>
              </a:xfrm>
              <a:prstGeom prst="rect">
                <a:avLst/>
              </a:prstGeom>
            </p:spPr>
            <p:txBody>
              <a:bodyPr anchor="ctr" rtlCol="false" tIns="50800" lIns="50800" bIns="50800" rIns="50800"/>
              <a:lstStyle/>
              <a:p>
                <a:pPr algn="ctr">
                  <a:lnSpc>
                    <a:spcPts val="3303"/>
                  </a:lnSpc>
                </a:pPr>
              </a:p>
            </p:txBody>
          </p:sp>
        </p:grpSp>
        <p:sp>
          <p:nvSpPr>
            <p:cNvPr name="TextBox 20" id="20"/>
            <p:cNvSpPr txBox="true"/>
            <p:nvPr/>
          </p:nvSpPr>
          <p:spPr>
            <a:xfrm rot="0">
              <a:off x="827232" y="684013"/>
              <a:ext cx="4838741" cy="695637"/>
            </a:xfrm>
            <a:prstGeom prst="rect">
              <a:avLst/>
            </a:prstGeom>
          </p:spPr>
          <p:txBody>
            <a:bodyPr anchor="t" rtlCol="false" tIns="0" lIns="0" bIns="0" rIns="0">
              <a:spAutoFit/>
            </a:bodyPr>
            <a:lstStyle/>
            <a:p>
              <a:pPr algn="ctr">
                <a:lnSpc>
                  <a:spcPts val="3759"/>
                </a:lnSpc>
              </a:pPr>
              <a:r>
                <a:rPr lang="en-US" sz="3759" b="true">
                  <a:solidFill>
                    <a:srgbClr val="FFFFFF"/>
                  </a:solidFill>
                  <a:latin typeface="Open Sauce Bold"/>
                  <a:ea typeface="Open Sauce Bold"/>
                  <a:cs typeface="Open Sauce Bold"/>
                  <a:sym typeface="Open Sauce Bold"/>
                </a:rPr>
                <a:t>Future Plans</a:t>
              </a:r>
            </a:p>
          </p:txBody>
        </p:sp>
        <p:sp>
          <p:nvSpPr>
            <p:cNvPr name="TextBox 21" id="21"/>
            <p:cNvSpPr txBox="true"/>
            <p:nvPr/>
          </p:nvSpPr>
          <p:spPr>
            <a:xfrm rot="0">
              <a:off x="626181" y="1758477"/>
              <a:ext cx="5240844" cy="3251007"/>
            </a:xfrm>
            <a:prstGeom prst="rect">
              <a:avLst/>
            </a:prstGeom>
          </p:spPr>
          <p:txBody>
            <a:bodyPr anchor="t" rtlCol="false" tIns="0" lIns="0" bIns="0" rIns="0">
              <a:spAutoFit/>
            </a:bodyPr>
            <a:lstStyle/>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Validate the model with external dataset</a:t>
              </a:r>
            </a:p>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Improve model interpretability</a:t>
              </a:r>
            </a:p>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Develop an interactive dashboard</a:t>
              </a:r>
            </a:p>
            <a:p>
              <a:pPr algn="just" marL="444755" indent="-222377" lvl="1">
                <a:lnSpc>
                  <a:spcPts val="2472"/>
                </a:lnSpc>
                <a:buFont typeface="Arial"/>
                <a:buChar char="•"/>
              </a:pPr>
              <a:r>
                <a:rPr lang="en-US" sz="2060">
                  <a:solidFill>
                    <a:srgbClr val="FFFFFF"/>
                  </a:solidFill>
                  <a:latin typeface="Open Sauce"/>
                  <a:ea typeface="Open Sauce"/>
                  <a:cs typeface="Open Sauce"/>
                  <a:sym typeface="Open Sauce"/>
                </a:rPr>
                <a:t>Build stategic partnerships with insurers </a:t>
              </a:r>
            </a:p>
          </p:txBody>
        </p:sp>
      </p:grpSp>
      <p:sp>
        <p:nvSpPr>
          <p:cNvPr name="TextBox 22" id="22"/>
          <p:cNvSpPr txBox="true"/>
          <p:nvPr/>
        </p:nvSpPr>
        <p:spPr>
          <a:xfrm rot="0">
            <a:off x="6925466" y="2529407"/>
            <a:ext cx="6507075" cy="615204"/>
          </a:xfrm>
          <a:prstGeom prst="rect">
            <a:avLst/>
          </a:prstGeom>
        </p:spPr>
        <p:txBody>
          <a:bodyPr anchor="t" rtlCol="false" tIns="0" lIns="0" bIns="0" rIns="0">
            <a:spAutoFit/>
          </a:bodyPr>
          <a:lstStyle/>
          <a:p>
            <a:pPr algn="just">
              <a:lnSpc>
                <a:spcPts val="2475"/>
              </a:lnSpc>
            </a:pPr>
            <a:r>
              <a:rPr lang="en-US" sz="2063">
                <a:solidFill>
                  <a:srgbClr val="03045A"/>
                </a:solidFill>
                <a:latin typeface="Open Sauce"/>
                <a:ea typeface="Open Sauce"/>
                <a:cs typeface="Open Sauce"/>
                <a:sym typeface="Open Sauce"/>
              </a:rPr>
              <a:t>Our machine learning-based heart disease calssification solution helps insurance companies:</a:t>
            </a:r>
          </a:p>
        </p:txBody>
      </p:sp>
      <p:grpSp>
        <p:nvGrpSpPr>
          <p:cNvPr name="Group 23" id="23"/>
          <p:cNvGrpSpPr/>
          <p:nvPr/>
        </p:nvGrpSpPr>
        <p:grpSpPr>
          <a:xfrm rot="0">
            <a:off x="13948609" y="440895"/>
            <a:ext cx="3810714" cy="1175610"/>
            <a:chOff x="0" y="0"/>
            <a:chExt cx="5080951" cy="1567480"/>
          </a:xfrm>
        </p:grpSpPr>
        <p:sp>
          <p:nvSpPr>
            <p:cNvPr name="TextBox 24" id="24"/>
            <p:cNvSpPr txBox="true"/>
            <p:nvPr/>
          </p:nvSpPr>
          <p:spPr>
            <a:xfrm rot="0">
              <a:off x="0" y="209112"/>
              <a:ext cx="3513472" cy="784604"/>
            </a:xfrm>
            <a:prstGeom prst="rect">
              <a:avLst/>
            </a:prstGeom>
          </p:spPr>
          <p:txBody>
            <a:bodyPr anchor="t" rtlCol="false" tIns="0" lIns="0" bIns="0" rIns="0">
              <a:spAutoFit/>
            </a:bodyPr>
            <a:lstStyle/>
            <a:p>
              <a:pPr algn="r">
                <a:lnSpc>
                  <a:spcPts val="4973"/>
                </a:lnSpc>
              </a:pPr>
              <a:r>
                <a:rPr lang="en-US" b="true" sz="3552" spc="-117">
                  <a:solidFill>
                    <a:srgbClr val="03045A"/>
                  </a:solidFill>
                  <a:latin typeface="Open Sauce Heavy"/>
                  <a:ea typeface="Open Sauce Heavy"/>
                  <a:cs typeface="Open Sauce Heavy"/>
                  <a:sym typeface="Open Sauce Heavy"/>
                </a:rPr>
                <a:t>Prediksa</a:t>
              </a:r>
            </a:p>
          </p:txBody>
        </p:sp>
        <p:sp>
          <p:nvSpPr>
            <p:cNvPr name="TextBox 25" id="25"/>
            <p:cNvSpPr txBox="true"/>
            <p:nvPr/>
          </p:nvSpPr>
          <p:spPr>
            <a:xfrm rot="0">
              <a:off x="1335717" y="910310"/>
              <a:ext cx="2177754" cy="474745"/>
            </a:xfrm>
            <a:prstGeom prst="rect">
              <a:avLst/>
            </a:prstGeom>
          </p:spPr>
          <p:txBody>
            <a:bodyPr anchor="t" rtlCol="false" tIns="0" lIns="0" bIns="0" rIns="0">
              <a:spAutoFit/>
            </a:bodyPr>
            <a:lstStyle/>
            <a:p>
              <a:pPr algn="r">
                <a:lnSpc>
                  <a:spcPts val="3082"/>
                </a:lnSpc>
              </a:pPr>
              <a:r>
                <a:rPr lang="en-US" sz="2202" spc="61">
                  <a:solidFill>
                    <a:srgbClr val="03045A"/>
                  </a:solidFill>
                  <a:latin typeface="Open Sauce"/>
                  <a:ea typeface="Open Sauce"/>
                  <a:cs typeface="Open Sauce"/>
                  <a:sym typeface="Open Sauce"/>
                </a:rPr>
                <a:t>Company</a:t>
              </a:r>
            </a:p>
          </p:txBody>
        </p:sp>
        <p:sp>
          <p:nvSpPr>
            <p:cNvPr name="Freeform 26" id="26"/>
            <p:cNvSpPr/>
            <p:nvPr/>
          </p:nvSpPr>
          <p:spPr>
            <a:xfrm flipH="false" flipV="false" rot="0">
              <a:off x="3513472" y="0"/>
              <a:ext cx="1567480" cy="1567480"/>
            </a:xfrm>
            <a:custGeom>
              <a:avLst/>
              <a:gdLst/>
              <a:ahLst/>
              <a:cxnLst/>
              <a:rect r="r" b="b" t="t" l="l"/>
              <a:pathLst>
                <a:path h="1567480" w="1567480">
                  <a:moveTo>
                    <a:pt x="0" y="0"/>
                  </a:moveTo>
                  <a:lnTo>
                    <a:pt x="1567479" y="0"/>
                  </a:lnTo>
                  <a:lnTo>
                    <a:pt x="1567479" y="1567480"/>
                  </a:lnTo>
                  <a:lnTo>
                    <a:pt x="0" y="1567480"/>
                  </a:lnTo>
                  <a:lnTo>
                    <a:pt x="0" y="0"/>
                  </a:lnTo>
                  <a:close/>
                </a:path>
              </a:pathLst>
            </a:custGeom>
            <a:blipFill>
              <a:blip r:embed="rId10"/>
              <a:stretch>
                <a:fillRect l="0" t="0" r="0" b="0"/>
              </a:stretch>
            </a:blipFill>
          </p:spPr>
        </p:sp>
      </p:grpSp>
      <p:grpSp>
        <p:nvGrpSpPr>
          <p:cNvPr name="Group 27" id="27"/>
          <p:cNvGrpSpPr/>
          <p:nvPr/>
        </p:nvGrpSpPr>
        <p:grpSpPr>
          <a:xfrm rot="0">
            <a:off x="5500849" y="8975858"/>
            <a:ext cx="7286302" cy="2248017"/>
            <a:chOff x="0" y="0"/>
            <a:chExt cx="1975844" cy="609600"/>
          </a:xfrm>
        </p:grpSpPr>
        <p:sp>
          <p:nvSpPr>
            <p:cNvPr name="Freeform 28" id="28"/>
            <p:cNvSpPr/>
            <p:nvPr/>
          </p:nvSpPr>
          <p:spPr>
            <a:xfrm flipH="false" flipV="false" rot="0">
              <a:off x="0" y="0"/>
              <a:ext cx="1975844" cy="609600"/>
            </a:xfrm>
            <a:custGeom>
              <a:avLst/>
              <a:gdLst/>
              <a:ahLst/>
              <a:cxnLst/>
              <a:rect r="r" b="b" t="t" l="l"/>
              <a:pathLst>
                <a:path h="609600" w="1975844">
                  <a:moveTo>
                    <a:pt x="203200" y="0"/>
                  </a:moveTo>
                  <a:lnTo>
                    <a:pt x="1975844" y="0"/>
                  </a:lnTo>
                  <a:lnTo>
                    <a:pt x="1772644" y="609600"/>
                  </a:lnTo>
                  <a:lnTo>
                    <a:pt x="0" y="609600"/>
                  </a:lnTo>
                  <a:lnTo>
                    <a:pt x="203200" y="0"/>
                  </a:lnTo>
                  <a:close/>
                </a:path>
              </a:pathLst>
            </a:custGeom>
            <a:solidFill>
              <a:srgbClr val="2855BF"/>
            </a:solidFill>
          </p:spPr>
        </p:sp>
        <p:sp>
          <p:nvSpPr>
            <p:cNvPr name="TextBox 29" id="29"/>
            <p:cNvSpPr txBox="true"/>
            <p:nvPr/>
          </p:nvSpPr>
          <p:spPr>
            <a:xfrm>
              <a:off x="101600" y="-47625"/>
              <a:ext cx="1772644" cy="657225"/>
            </a:xfrm>
            <a:prstGeom prst="rect">
              <a:avLst/>
            </a:prstGeom>
          </p:spPr>
          <p:txBody>
            <a:bodyPr anchor="ctr" rtlCol="false" tIns="50800" lIns="50800" bIns="50800" rIns="50800"/>
            <a:lstStyle/>
            <a:p>
              <a:pPr algn="ctr">
                <a:lnSpc>
                  <a:spcPts val="3303"/>
                </a:lnSpc>
              </a:pPr>
            </a:p>
          </p:txBody>
        </p:sp>
      </p:grpSp>
      <p:sp>
        <p:nvSpPr>
          <p:cNvPr name="TextBox 30" id="30"/>
          <p:cNvSpPr txBox="true"/>
          <p:nvPr/>
        </p:nvSpPr>
        <p:spPr>
          <a:xfrm rot="0">
            <a:off x="6668945" y="8915591"/>
            <a:ext cx="4950110" cy="1193800"/>
          </a:xfrm>
          <a:prstGeom prst="rect">
            <a:avLst/>
          </a:prstGeom>
        </p:spPr>
        <p:txBody>
          <a:bodyPr anchor="t" rtlCol="false" tIns="0" lIns="0" bIns="0" rIns="0">
            <a:spAutoFit/>
          </a:bodyPr>
          <a:lstStyle/>
          <a:p>
            <a:pPr algn="ctr">
              <a:lnSpc>
                <a:spcPts val="9799"/>
              </a:lnSpc>
            </a:pPr>
            <a:r>
              <a:rPr lang="en-US" sz="6999" spc="-230">
                <a:solidFill>
                  <a:srgbClr val="FFFFFF"/>
                </a:solidFill>
                <a:latin typeface="Open Sauce"/>
                <a:ea typeface="Open Sauce"/>
                <a:cs typeface="Open Sauce"/>
                <a:sym typeface="Open Sauce"/>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DAGpYWOLFac</dc:identifier>
  <dcterms:modified xsi:type="dcterms:W3CDTF">2011-08-01T06:04:30Z</dcterms:modified>
  <cp:revision>1</cp:revision>
  <dc:title>Blue Modern Company Profile Presentation</dc:title>
</cp:coreProperties>
</file>